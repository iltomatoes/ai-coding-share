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19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F81F7"/>
                </a:solidFill>
                <a:latin typeface="微软雅黑"/>
              </a:defRPr>
            </a:pPr>
            <a:r>
              <a:t>Java 开发中的 AI 协作编程实践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3060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B949E"/>
                </a:solidFill>
                <a:latin typeface="微软雅黑"/>
              </a:defRPr>
            </a:pPr>
            <a:r>
              <a:t>从真实项目说起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504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  <a:latin typeface="微软雅黑"/>
              </a:defRPr>
            </a:pPr>
            <a:r>
              <a:t>演讲人 / 2026年4月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0" y="6120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内部交流分享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关于这次分享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1620000"/>
            <a:ext cx="108972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2000" b="0">
                <a:solidFill>
                  <a:srgbClr val="E6EDF3"/>
                </a:solidFill>
                <a:latin typeface="微软雅黑"/>
              </a:defRPr>
            </a:pPr>
            <a:r>
              <a:t>🏗  三个真实 Java 项目的 AI 协作编程经历</a:t>
            </a:r>
          </a:p>
          <a:p>
            <a:pPr algn="l">
              <a:spcAft>
                <a:spcPts val="1600"/>
              </a:spcAft>
              <a:defRPr sz="2000" b="0">
                <a:solidFill>
                  <a:srgbClr val="E6EDF3"/>
                </a:solidFill>
                <a:latin typeface="微软雅黑"/>
              </a:defRPr>
            </a:pPr>
            <a:r>
              <a:t>🎢  有成功的喜悦，也有翻车的教训</a:t>
            </a:r>
          </a:p>
          <a:p>
            <a:pPr algn="l">
              <a:spcAft>
                <a:spcPts val="1600"/>
              </a:spcAft>
              <a:defRPr sz="2000" b="0">
                <a:solidFill>
                  <a:srgbClr val="E6EDF3"/>
                </a:solidFill>
                <a:latin typeface="微软雅黑"/>
              </a:defRPr>
            </a:pPr>
            <a:r>
              <a:t>🎯  目标：听完之后，你能带走一些可以马上用的东西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5580000"/>
            <a:ext cx="1089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3B341"/>
                </a:solidFill>
                <a:latin typeface="微软雅黑"/>
              </a:defRPr>
            </a:pPr>
            <a:r>
              <a:t>预计 90 分钟 | 鼓励随时提问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0" y="2160000"/>
            <a:ext cx="86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F81F7"/>
                </a:solidFill>
                <a:latin typeface="微软雅黑"/>
              </a:defRPr>
            </a:pPr>
            <a:r>
              <a:t>Part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0" y="2700000"/>
            <a:ext cx="86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6EDF3"/>
                </a:solidFill>
                <a:latin typeface="微软雅黑"/>
              </a:defRPr>
            </a:pPr>
            <a:r>
              <a:t>从真实项目说起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0" y="3780000"/>
            <a:ext cx="86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949E"/>
                </a:solidFill>
                <a:latin typeface="微软雅黑"/>
              </a:defRPr>
            </a:pPr>
            <a:r>
              <a:t>两个案例，两种结局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aip-server 项目概览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260000"/>
            <a:ext cx="4320000" cy="180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6000" y="1332000"/>
            <a:ext cx="41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81F7"/>
                </a:solidFill>
                <a:latin typeface="微软雅黑"/>
              </a:defRPr>
            </a:pPr>
            <a:r>
              <a:t>aip-server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000" y="1620000"/>
            <a:ext cx="4104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9"/>
              </a:spcAft>
              <a:defRPr sz="1400" b="0">
                <a:solidFill>
                  <a:srgbClr val="E6EDF3"/>
                </a:solidFill>
                <a:latin typeface="微软雅黑"/>
              </a:defRPr>
            </a:pPr>
            <a:r>
              <a:t>AI 智能平台后端服务</a:t>
            </a:r>
          </a:p>
          <a:p>
            <a:pPr algn="l">
              <a:spcAft>
                <a:spcPts val="279"/>
              </a:spcAft>
              <a:defRPr sz="1400" b="0">
                <a:solidFill>
                  <a:srgbClr val="E6EDF3"/>
                </a:solidFill>
                <a:latin typeface="微软雅黑"/>
              </a:defRPr>
            </a:pPr>
            <a:r>
              <a:t>企业级智能体管理、知识库、数据分析平台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6000" y="1260000"/>
            <a:ext cx="6289200" cy="126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64000" y="1332000"/>
            <a:ext cx="60731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3B341"/>
                </a:solidFill>
                <a:latin typeface="微软雅黑"/>
              </a:defRPr>
            </a:pPr>
            <a:r>
              <a:t>关键数据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64000" y="1620000"/>
            <a:ext cx="6073199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100 个 Controller | 11 个业务模块 | 2394 次提交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6000" y="2700000"/>
            <a:ext cx="6289200" cy="126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4000" y="2772000"/>
            <a:ext cx="60731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  <a:latin typeface="微软雅黑"/>
              </a:defRPr>
            </a:pPr>
            <a:r>
              <a:t>技术栈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4000" y="3060000"/>
            <a:ext cx="6073199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Spring Boot 2.7.18 + MyBatis Plus 3.4.2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PostgreSQL + Java 17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6000" y="4140000"/>
            <a:ext cx="6289200" cy="126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64000" y="4212000"/>
            <a:ext cx="60731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81F7"/>
                </a:solidFill>
                <a:latin typeface="微软雅黑"/>
              </a:defRPr>
            </a:pPr>
            <a:r>
              <a:t>多数据源 &amp; 微服务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4000" y="4500000"/>
            <a:ext cx="6073199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PostgreSQL + Neo4j + Dremio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Feign 微服务调用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聚焦技能工具模块（logic/tool）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1152000"/>
            <a:ext cx="108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微软雅黑"/>
              </a:defRPr>
            </a:pPr>
            <a:r>
              <a:t>5 个 Controller，约 80 个 API 端点，8 个核心实体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8000" y="1620000"/>
            <a:ext cx="1908000" cy="216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6000" y="1692000"/>
            <a:ext cx="16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F81F7"/>
                </a:solidFill>
                <a:latin typeface="微软雅黑"/>
              </a:defRPr>
            </a:pPr>
            <a:r>
              <a:t>代码库管理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6000" y="1980000"/>
            <a:ext cx="1692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8B949E"/>
                </a:solidFill>
                <a:latin typeface="微软雅黑"/>
              </a:defRPr>
            </a:pPr>
            <a:r>
              <a:t>LtCodeRepoController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5300" y="1620000"/>
            <a:ext cx="1908000" cy="216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03300" y="1692000"/>
            <a:ext cx="16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F81F7"/>
                </a:solidFill>
                <a:latin typeface="微软雅黑"/>
              </a:defRPr>
            </a:pPr>
            <a:r>
              <a:t>MCP 服务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03300" y="1980000"/>
            <a:ext cx="1692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8B949E"/>
                </a:solidFill>
                <a:latin typeface="微软雅黑"/>
              </a:defRPr>
            </a:pPr>
            <a:r>
              <a:t>LtMcpController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42600" y="1620000"/>
            <a:ext cx="1908000" cy="216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0600" y="1692000"/>
            <a:ext cx="16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F81F7"/>
                </a:solidFill>
                <a:latin typeface="微软雅黑"/>
              </a:defRPr>
            </a:pPr>
            <a:r>
              <a:t>扩展插件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0600" y="1980000"/>
            <a:ext cx="1692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8B949E"/>
                </a:solidFill>
                <a:latin typeface="微软雅黑"/>
              </a:defRPr>
            </a:pPr>
            <a:r>
              <a:t>LtExtensionPluginController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89900" y="1620000"/>
            <a:ext cx="1908000" cy="216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7900" y="1692000"/>
            <a:ext cx="16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F81F7"/>
                </a:solidFill>
                <a:latin typeface="微软雅黑"/>
              </a:defRPr>
            </a:pPr>
            <a:r>
              <a:t>OpenAPI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7900" y="1980000"/>
            <a:ext cx="1692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8B949E"/>
                </a:solidFill>
                <a:latin typeface="微软雅黑"/>
              </a:defRPr>
            </a:pPr>
            <a:r>
              <a:t>LtOpenapiController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37200" y="1620000"/>
            <a:ext cx="1908000" cy="216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45200" y="1692000"/>
            <a:ext cx="16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F81F7"/>
                </a:solidFill>
                <a:latin typeface="微软雅黑"/>
              </a:defRPr>
            </a:pPr>
            <a:r>
              <a:t>工作流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45200" y="1980000"/>
            <a:ext cx="1692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8B949E"/>
                </a:solidFill>
                <a:latin typeface="微软雅黑"/>
              </a:defRPr>
            </a:pPr>
            <a:r>
              <a:t>LtTaskflowController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协作模式 — 人与 AI 的分工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72600" y="1440000"/>
            <a:ext cx="2088000" cy="1080000"/>
          </a:xfrm>
          <a:prstGeom prst="round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72600" y="1475999"/>
            <a:ext cx="208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🧑 人设计原型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92600" y="1440000"/>
            <a:ext cx="2088000" cy="1080000"/>
          </a:xfrm>
          <a:prstGeom prst="round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92600" y="1475999"/>
            <a:ext cx="208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🧑 人设计表结构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12600" y="1440000"/>
            <a:ext cx="2088000" cy="1080000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12600" y="1475999"/>
            <a:ext cx="208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🤖 AI 编码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32600" y="1440000"/>
            <a:ext cx="2088000" cy="1080000"/>
          </a:xfrm>
          <a:prstGeom prst="round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32600" y="1475999"/>
            <a:ext cx="208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🧑 人评审 &amp; 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2600" y="2628000"/>
            <a:ext cx="20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（AI 参与讨论）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360600" y="1872000"/>
            <a:ext cx="432000" cy="21600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5880600" y="1872000"/>
            <a:ext cx="432000" cy="21600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8400599" y="1872000"/>
            <a:ext cx="432000" cy="21600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68000" y="3780000"/>
            <a:ext cx="94572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0"/>
              </a:spcAft>
              <a:defRPr sz="1400" b="0">
                <a:solidFill>
                  <a:srgbClr val="E6EDF3"/>
                </a:solidFill>
                <a:latin typeface="微软雅黑"/>
              </a:defRPr>
            </a:pPr>
            <a:r>
              <a:t>✅ 人负责"定方向"（设计、评审、验收）</a:t>
            </a:r>
          </a:p>
          <a:p>
            <a:pPr algn="l">
              <a:spcAft>
                <a:spcPts val="1120"/>
              </a:spcAft>
              <a:defRPr sz="1400" b="0">
                <a:solidFill>
                  <a:srgbClr val="E6EDF3"/>
                </a:solidFill>
                <a:latin typeface="微软雅黑"/>
              </a:defRPr>
            </a:pPr>
            <a:r>
              <a:t>✅ AI 负责"跑量"（编码实现）</a:t>
            </a:r>
          </a:p>
          <a:p>
            <a:pPr algn="l">
              <a:spcAft>
                <a:spcPts val="1120"/>
              </a:spcAft>
              <a:defRPr sz="1400" b="0">
                <a:solidFill>
                  <a:srgbClr val="E6EDF3"/>
                </a:solidFill>
                <a:latin typeface="微软雅黑"/>
              </a:defRPr>
            </a:pPr>
            <a:r>
              <a:t>✅ 及时评审，小步验证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关键成果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260000"/>
            <a:ext cx="5040000" cy="144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36800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F81F7"/>
                </a:solidFill>
                <a:latin typeface="微软雅黑"/>
              </a:defRPr>
            </a:pPr>
            <a:r>
              <a:t>5天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908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微软雅黑"/>
              </a:defRPr>
            </a:pPr>
            <a:r>
              <a:t>完成 ~80 个 API 端点（29次提交，3月4-11日）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76000" y="1260000"/>
            <a:ext cx="5040000" cy="144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76000" y="136800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F81F7"/>
                </a:solidFill>
                <a:latin typeface="微软雅黑"/>
              </a:defRPr>
            </a:pPr>
            <a:r>
              <a:t>2-4倍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76000" y="1908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微软雅黑"/>
              </a:defRPr>
            </a:pPr>
            <a:r>
              <a:t>效率提升（对比传统开发估计值）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8000" y="2951999"/>
            <a:ext cx="10897200" cy="72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999" y="3060000"/>
            <a:ext cx="1053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3B341"/>
                </a:solidFill>
                <a:latin typeface="微软雅黑"/>
              </a:defRPr>
            </a:pPr>
            <a:r>
              <a:t>13 次 fix 提交（占 45%）— AI 代码有小错漏，但人在评审中及时捕获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999" y="3960000"/>
            <a:ext cx="105372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0"/>
              </a:spcAft>
              <a:defRPr sz="1400" b="0">
                <a:solidFill>
                  <a:srgbClr val="3FB950"/>
                </a:solidFill>
                <a:latin typeface="微软雅黑"/>
              </a:defRPr>
            </a:pPr>
            <a:r>
              <a:t>✅ 表结构设计清晰，AI 有明确的编码边界</a:t>
            </a:r>
          </a:p>
          <a:p>
            <a:pPr algn="l">
              <a:spcAft>
                <a:spcPts val="1120"/>
              </a:spcAft>
              <a:defRPr sz="1400" b="0">
                <a:solidFill>
                  <a:srgbClr val="3FB950"/>
                </a:solidFill>
                <a:latin typeface="微软雅黑"/>
              </a:defRPr>
            </a:pPr>
            <a:r>
              <a:t>✅ 每次提交后及时 Code Review，问题不过夜</a:t>
            </a:r>
          </a:p>
          <a:p>
            <a:pPr algn="l">
              <a:spcAft>
                <a:spcPts val="1120"/>
              </a:spcAft>
              <a:defRPr sz="1400" b="0">
                <a:solidFill>
                  <a:srgbClr val="3FB950"/>
                </a:solidFill>
                <a:latin typeface="微软雅黑"/>
              </a:defRPr>
            </a:pPr>
            <a:r>
              <a:t>✅ 人工编码约需 15-20 天，AI 协作仅用 5 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620000"/>
            <a:ext cx="10897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F81F7"/>
                </a:solidFill>
                <a:latin typeface="微软雅黑"/>
              </a:defRPr>
            </a:pPr>
            <a:r>
              <a:t>设计到位 + 边界清晰 = AI 效率拉满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28000" y="3060000"/>
            <a:ext cx="87372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  <a:defRPr sz="1800" b="0">
                <a:solidFill>
                  <a:srgbClr val="3FB950"/>
                </a:solidFill>
                <a:latin typeface="微软雅黑"/>
              </a:defRPr>
            </a:pPr>
            <a:r>
              <a:t>✅ 表结构设计清晰 → AI 有明确边界</a:t>
            </a:r>
          </a:p>
          <a:p>
            <a:pPr algn="l">
              <a:spcAft>
                <a:spcPts val="1800"/>
              </a:spcAft>
              <a:defRPr sz="1800" b="0">
                <a:solidFill>
                  <a:srgbClr val="3FB950"/>
                </a:solidFill>
                <a:latin typeface="微软雅黑"/>
              </a:defRPr>
            </a:pPr>
            <a:r>
              <a:t>✅ 及时评审，小步验证</a:t>
            </a:r>
          </a:p>
          <a:p>
            <a:pPr algn="l">
              <a:spcAft>
                <a:spcPts val="1800"/>
              </a:spcAft>
              <a:defRPr sz="1800" b="0">
                <a:solidFill>
                  <a:srgbClr val="3FB950"/>
                </a:solidFill>
                <a:latin typeface="微软雅黑"/>
              </a:defRPr>
            </a:pPr>
            <a:r>
              <a:t>✅ 人把控方向，AI 堆砌工作量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案例二：A2A 适配器（一场代价惨痛的返工）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260000"/>
            <a:ext cx="5448600" cy="288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6000" y="1332000"/>
            <a:ext cx="52326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81F7"/>
                </a:solidFill>
                <a:latin typeface="微软雅黑"/>
              </a:defRPr>
            </a:pPr>
            <a:r>
              <a:t>背景信息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000" y="1620000"/>
            <a:ext cx="5232600" cy="24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9"/>
              </a:spcAft>
              <a:defRPr sz="1400" b="0">
                <a:solidFill>
                  <a:srgbClr val="E6EDF3"/>
                </a:solidFill>
                <a:latin typeface="微软雅黑"/>
              </a:defRPr>
            </a:pPr>
            <a:r>
              <a:t>需求：开发 A2A（Agent-to-Agent）协议适配器</a:t>
            </a:r>
          </a:p>
          <a:p>
            <a:pPr algn="l">
              <a:spcAft>
                <a:spcPts val="279"/>
              </a:spcAft>
              <a:defRPr sz="1400" b="0">
                <a:solidFill>
                  <a:srgbClr val="E6EDF3"/>
                </a:solidFill>
                <a:latin typeface="微软雅黑"/>
              </a:defRPr>
            </a:pPr>
            <a:r>
              <a:t>所在项目：aip-gateway 的 a2a-wrapper 插件</a:t>
            </a:r>
          </a:p>
          <a:p>
            <a:pPr algn="l">
              <a:spcAft>
                <a:spcPts val="279"/>
              </a:spcAft>
              <a:defRPr sz="1400" b="0">
                <a:solidFill>
                  <a:srgbClr val="E6EDF3"/>
                </a:solidFill>
                <a:latin typeface="微软雅黑"/>
              </a:defRPr>
            </a:pPr>
            <a:r>
              <a:t>背景：相对陌生的领域，没有深入调研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41460" y="1260000"/>
            <a:ext cx="4903740" cy="288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49460" y="1332000"/>
            <a:ext cx="468774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5149"/>
                </a:solidFill>
                <a:latin typeface="微软雅黑"/>
              </a:defRPr>
            </a:pPr>
            <a:r>
              <a:t>⚠️  协作方式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9460" y="1620000"/>
            <a:ext cx="4687740" cy="24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9"/>
              </a:spcAft>
              <a:defRPr sz="1400" b="0">
                <a:solidFill>
                  <a:srgbClr val="F85149"/>
                </a:solidFill>
                <a:latin typeface="微软雅黑"/>
              </a:defRPr>
            </a:pPr>
            <a:r>
              <a:t>让 AI 根据协议文档直接编码</a:t>
            </a:r>
          </a:p>
          <a:p>
            <a:pPr algn="l">
              <a:spcAft>
                <a:spcPts val="279"/>
              </a:spcAft>
              <a:defRPr sz="1400" b="0">
                <a:solidFill>
                  <a:srgbClr val="F85149"/>
                </a:solidFill>
                <a:latin typeface="微软雅黑"/>
              </a:defRPr>
            </a:pPr>
          </a:p>
          <a:p>
            <a:pPr algn="l">
              <a:spcAft>
                <a:spcPts val="279"/>
              </a:spcAft>
              <a:defRPr sz="1400" b="0">
                <a:solidFill>
                  <a:srgbClr val="F85149"/>
                </a:solidFill>
                <a:latin typeface="微软雅黑"/>
              </a:defRPr>
            </a:pPr>
            <a:r>
              <a:t>⚠️ 关键问题：</a:t>
            </a:r>
          </a:p>
          <a:p>
            <a:pPr algn="l">
              <a:spcAft>
                <a:spcPts val="279"/>
              </a:spcAft>
              <a:defRPr sz="1400" b="0">
                <a:solidFill>
                  <a:srgbClr val="F85149"/>
                </a:solidFill>
                <a:latin typeface="微软雅黑"/>
              </a:defRPr>
            </a:pPr>
            <a:r>
              <a:t>自己对 A2A 不了解，</a:t>
            </a:r>
          </a:p>
          <a:p>
            <a:pPr algn="l">
              <a:spcAft>
                <a:spcPts val="279"/>
              </a:spcAft>
              <a:defRPr sz="1400" b="0">
                <a:solidFill>
                  <a:srgbClr val="F85149"/>
                </a:solidFill>
                <a:latin typeface="微软雅黑"/>
              </a:defRPr>
            </a:pPr>
            <a:r>
              <a:t>无法判断 AI 输出是否正确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发生了什么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152000"/>
            <a:ext cx="5040000" cy="720000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188000"/>
            <a:ext cx="50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🟢 第1天：让 AI 根据 A2A 协议文档直接编码</a:t>
            </a:r>
          </a:p>
        </p:txBody>
      </p:sp>
      <p:sp>
        <p:nvSpPr>
          <p:cNvPr id="5" name="Down Arrow 4"/>
          <p:cNvSpPr/>
          <p:nvPr/>
        </p:nvSpPr>
        <p:spPr>
          <a:xfrm>
            <a:off x="3060000" y="1872000"/>
            <a:ext cx="216000" cy="216000"/>
          </a:xfrm>
          <a:prstGeom prst="down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8000" y="2088000"/>
            <a:ext cx="5040000" cy="720000"/>
          </a:xfrm>
          <a:prstGeom prst="round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2124000"/>
            <a:ext cx="50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🔴 第1-2周：AI "高效"产出大量代码（46次提交，16天）</a:t>
            </a:r>
          </a:p>
        </p:txBody>
      </p:sp>
      <p:sp>
        <p:nvSpPr>
          <p:cNvPr id="8" name="Down Arrow 7"/>
          <p:cNvSpPr/>
          <p:nvPr/>
        </p:nvSpPr>
        <p:spPr>
          <a:xfrm>
            <a:off x="3060000" y="2808000"/>
            <a:ext cx="216000" cy="216000"/>
          </a:xfrm>
          <a:prstGeom prst="down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8000" y="3024000"/>
            <a:ext cx="5040000" cy="720000"/>
          </a:xfrm>
          <a:prstGeom prst="round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000" y="3060000"/>
            <a:ext cx="50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🔴 关键问题：自己无法判断 AI 输出是否符合协议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060000" y="3744000"/>
            <a:ext cx="216000" cy="216000"/>
          </a:xfrm>
          <a:prstGeom prst="down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8000" y="3960000"/>
            <a:ext cx="5040000" cy="720000"/>
          </a:xfrm>
          <a:prstGeom prst="round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000" y="3996000"/>
            <a:ext cx="50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🔴 深入调研：发现有官方 Java SDK（a2aproject/a2a-java）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060000" y="4680000"/>
            <a:ext cx="216000" cy="216000"/>
          </a:xfrm>
          <a:prstGeom prst="down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8000" y="4896000"/>
            <a:ext cx="5040000" cy="720000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000" y="4932000"/>
            <a:ext cx="50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🟢 推倒重来：用 SDK 3天搞定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8000" y="1620000"/>
            <a:ext cx="5317200" cy="234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8000" y="1800000"/>
            <a:ext cx="531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85149"/>
                </a:solidFill>
                <a:latin typeface="微软雅黑"/>
              </a:defRPr>
            </a:pPr>
            <a:r>
              <a:t>141,026 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8000" y="2448000"/>
            <a:ext cx="531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B949E"/>
                </a:solidFill>
                <a:latin typeface="微软雅黑"/>
              </a:defRPr>
            </a:pPr>
            <a: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8000" y="2700000"/>
            <a:ext cx="531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FB950"/>
                </a:solidFill>
                <a:latin typeface="微软雅黑"/>
              </a:defRPr>
            </a:pPr>
            <a:r>
              <a:t>1,786 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8000" y="3420000"/>
            <a:ext cx="531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3B341"/>
                </a:solidFill>
                <a:latin typeface="微软雅黑"/>
              </a:defRPr>
            </a:pPr>
            <a:r>
              <a:t>代码量缩减 98.7%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翻车现场（一）— AI 造了个轮子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260000"/>
            <a:ext cx="5121684" cy="234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6000" y="1332000"/>
            <a:ext cx="49056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5149"/>
                </a:solidFill>
                <a:latin typeface="微软雅黑"/>
              </a:defRPr>
            </a:pPr>
            <a:r>
              <a:t>❌ 自研方案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000" y="1620000"/>
            <a:ext cx="4905684" cy="19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从零开始编码，全程自信输出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16 天，46 次提交，141,026 行代码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看似完整，实则走弯路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23516" y="1260000"/>
            <a:ext cx="5121684" cy="234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1516" y="1332000"/>
            <a:ext cx="49056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  <a:latin typeface="微软雅黑"/>
              </a:defRPr>
            </a:pPr>
            <a:r>
              <a:t>✅ 官方 SDK 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1516" y="1620000"/>
            <a:ext cx="4905684" cy="19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发现 a2aproject/a2a-java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3 天完成，仅 1,786 行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稳定性、兼容性有保障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8000" y="3960000"/>
            <a:ext cx="10897200" cy="90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999" y="4068000"/>
            <a:ext cx="10537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3B341"/>
                </a:solidFill>
                <a:latin typeface="微软雅黑"/>
              </a:defRPr>
            </a:pPr>
            <a:r>
              <a:t>⚠️ AI 不会主动告诉你"有更好的方案"，方向是你定的，AI 不负责纠偏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翻车现场（二）— 三个小案例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260000"/>
            <a:ext cx="3440400" cy="432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6000" y="1332000"/>
            <a:ext cx="3224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5149"/>
                </a:solidFill>
                <a:latin typeface="微软雅黑"/>
              </a:defRPr>
            </a:pPr>
            <a:r>
              <a:t>SQL 版本号错误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000" y="1620000"/>
            <a:ext cx="3224400" cy="38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生成了 V2.2.14 而非 V2.2.13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没有先查现有版本文件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数据库迁移执行失败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复盘：修改前先检查现有版本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6400" y="1260000"/>
            <a:ext cx="3440400" cy="432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4400" y="1332000"/>
            <a:ext cx="3224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5149"/>
                </a:solidFill>
                <a:latin typeface="微软雅黑"/>
              </a:defRPr>
            </a:pPr>
            <a:r>
              <a:t>修改已冻结脚本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4400" y="1620000"/>
            <a:ext cx="3224400" cy="38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修改了已冻结的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V2.2.13__init.sql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已部署环境文件摘要不一致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复盘：Flyway 已冻结脚本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严禁修改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4800" y="1260000"/>
            <a:ext cx="3440400" cy="432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2800" y="1332000"/>
            <a:ext cx="3224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5149"/>
                </a:solidFill>
                <a:latin typeface="微软雅黑"/>
              </a:defRPr>
            </a:pPr>
            <a:r>
              <a:t>权限过滤偏差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2800" y="1620000"/>
            <a:ext cx="3224400" cy="38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把应交给前端的逻辑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保留在后端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后端多了不必要的权限检查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复盘：用户级权限判断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交给前端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620000"/>
            <a:ext cx="10897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85149"/>
                </a:solidFill>
                <a:latin typeface="微软雅黑"/>
              </a:defRPr>
            </a:pPr>
            <a:r>
              <a:t>方向错了，效率越高代价越大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96599" y="3060000"/>
            <a:ext cx="1980000" cy="720000"/>
          </a:xfrm>
          <a:prstGeom prst="round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96599" y="3096000"/>
            <a:ext cx="19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对领域不了解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6599" y="3060000"/>
            <a:ext cx="1980000" cy="720000"/>
          </a:xfrm>
          <a:prstGeom prst="round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6599" y="3096000"/>
            <a:ext cx="19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没有先建立认知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6600" y="3060000"/>
            <a:ext cx="1980000" cy="720000"/>
          </a:xfrm>
          <a:prstGeom prst="round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76600" y="3096000"/>
            <a:ext cx="19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盲目信任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16600" y="3060000"/>
            <a:ext cx="1980000" cy="720000"/>
          </a:xfrm>
          <a:prstGeom prst="round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16600" y="3096000"/>
            <a:ext cx="19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AI 高效跑偏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576599" y="3311999"/>
            <a:ext cx="360000" cy="21600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5916600" y="3311999"/>
            <a:ext cx="360000" cy="21600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8256600" y="3311999"/>
            <a:ext cx="360000" cy="21600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000" y="2628000"/>
            <a:ext cx="108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  <a:latin typeface="微软雅黑"/>
              </a:defRPr>
            </a:pPr>
            <a:r>
              <a:t>根因分析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两个案例，两种结局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260000"/>
            <a:ext cx="5268600" cy="324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6000" y="1332000"/>
            <a:ext cx="50526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  <a:latin typeface="微软雅黑"/>
              </a:defRPr>
            </a:pPr>
            <a:r>
              <a:t>✅ aip-server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000" y="1620000"/>
            <a:ext cx="5052600" cy="2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9"/>
              </a:spcAft>
              <a:defRPr sz="1400" b="0">
                <a:solidFill>
                  <a:srgbClr val="E6EDF3"/>
                </a:solidFill>
                <a:latin typeface="微软雅黑"/>
              </a:defRPr>
            </a:pPr>
            <a:r>
              <a:t>设计清晰 + 边界明确</a:t>
            </a:r>
          </a:p>
          <a:p>
            <a:pPr algn="l">
              <a:spcAft>
                <a:spcPts val="279"/>
              </a:spcAft>
              <a:defRPr sz="1400" b="0">
                <a:solidFill>
                  <a:srgbClr val="E6EDF3"/>
                </a:solidFill>
                <a:latin typeface="微软雅黑"/>
              </a:defRPr>
            </a:pPr>
            <a:r>
              <a:t>人定方向，AI 跑量</a:t>
            </a:r>
          </a:p>
          <a:p>
            <a:pPr algn="l">
              <a:spcAft>
                <a:spcPts val="279"/>
              </a:spcAft>
              <a:defRPr sz="1400" b="0">
                <a:solidFill>
                  <a:srgbClr val="E6EDF3"/>
                </a:solidFill>
                <a:latin typeface="微软雅黑"/>
              </a:defRPr>
            </a:pPr>
            <a:r>
              <a:t>5 天 80 个接口</a:t>
            </a:r>
          </a:p>
          <a:p>
            <a:pPr algn="l">
              <a:spcAft>
                <a:spcPts val="279"/>
              </a:spcAft>
              <a:defRPr sz="1400" b="0">
                <a:solidFill>
                  <a:srgbClr val="E6EDF3"/>
                </a:solidFill>
                <a:latin typeface="微软雅黑"/>
              </a:defRPr>
            </a:pPr>
            <a:r>
              <a:t>质量可靠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6600" y="1260000"/>
            <a:ext cx="5268600" cy="324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4600" y="1332000"/>
            <a:ext cx="50526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5149"/>
                </a:solidFill>
                <a:latin typeface="微软雅黑"/>
              </a:defRPr>
            </a:pPr>
            <a:r>
              <a:t>❌ A2A 适配器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4600" y="1620000"/>
            <a:ext cx="5052600" cy="2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9"/>
              </a:spcAft>
              <a:defRPr sz="1400" b="0">
                <a:solidFill>
                  <a:srgbClr val="E6EDF3"/>
                </a:solidFill>
                <a:latin typeface="微软雅黑"/>
              </a:defRPr>
            </a:pPr>
            <a:r>
              <a:t>方向不明 + 盲目信任</a:t>
            </a:r>
          </a:p>
          <a:p>
            <a:pPr algn="l">
              <a:spcAft>
                <a:spcPts val="279"/>
              </a:spcAft>
              <a:defRPr sz="1400" b="0">
                <a:solidFill>
                  <a:srgbClr val="E6EDF3"/>
                </a:solidFill>
                <a:latin typeface="微软雅黑"/>
              </a:defRPr>
            </a:pPr>
            <a:r>
              <a:t>没有调研就动手</a:t>
            </a:r>
          </a:p>
          <a:p>
            <a:pPr algn="l">
              <a:spcAft>
                <a:spcPts val="279"/>
              </a:spcAft>
              <a:defRPr sz="1400" b="0">
                <a:solidFill>
                  <a:srgbClr val="E6EDF3"/>
                </a:solidFill>
                <a:latin typeface="微软雅黑"/>
              </a:defRPr>
            </a:pPr>
            <a:r>
              <a:t>17 天返工，98.7% 代码废弃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4932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F81F7"/>
                </a:solidFill>
                <a:latin typeface="微软雅黑"/>
              </a:defRPr>
            </a:pPr>
            <a:r>
              <a:t>什么时候该信任 AI？如何系统地让 AI 编程越来越高效？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0" y="2160000"/>
            <a:ext cx="86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F81F7"/>
                </a:solidFill>
                <a:latin typeface="微软雅黑"/>
              </a:defRPr>
            </a:pPr>
            <a: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0" y="2700000"/>
            <a:ext cx="86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6EDF3"/>
                </a:solidFill>
                <a:latin typeface="微软雅黑"/>
              </a:defRPr>
            </a:pPr>
            <a:r>
              <a:t>反思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0" y="3780000"/>
            <a:ext cx="86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949E"/>
                </a:solidFill>
                <a:latin typeface="微软雅黑"/>
              </a:defRPr>
            </a:pPr>
            <a:r>
              <a:t>从案例到洞察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从案例中看到了什么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0000" y="1260000"/>
            <a:ext cx="9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FB950"/>
                </a:solidFill>
                <a:latin typeface="微软雅黑"/>
              </a:defRPr>
            </a:pPr>
            <a:r>
              <a:t>aip-server 成功：人给了清晰的设计和边界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0000" y="1584000"/>
            <a:ext cx="9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85149"/>
                </a:solidFill>
                <a:latin typeface="微软雅黑"/>
              </a:defRPr>
            </a:pPr>
            <a:r>
              <a:t>A2A 失败：人没有给方向，AI 高效跑偏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592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F81F7"/>
                </a:solidFill>
                <a:latin typeface="微软雅黑"/>
              </a:defRPr>
            </a:pPr>
            <a:r>
              <a:t>AI 的效率是确定的，不确定的是人的引导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3960000"/>
            <a:ext cx="9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  <a:latin typeface="微软雅黑"/>
              </a:defRPr>
            </a:pPr>
            <a:r>
              <a:t>同一个 AI，同一个开发者，结果天壤之别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AI 的潜力与边界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007999"/>
            <a:ext cx="5040000" cy="306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6000" y="1080000"/>
            <a:ext cx="48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  <a:latin typeface="微软雅黑"/>
              </a:defRPr>
            </a:pPr>
            <a:r>
              <a:t>潜力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000" y="1368000"/>
            <a:ext cx="4824000" cy="26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9"/>
              </a:spcAft>
              <a:defRPr sz="1400" b="0">
                <a:solidFill>
                  <a:srgbClr val="E6EDF3"/>
                </a:solidFill>
                <a:latin typeface="微软雅黑"/>
              </a:defRPr>
            </a:pPr>
            <a:r>
              <a:t>编码效率提升 2-4 倍</a:t>
            </a:r>
          </a:p>
          <a:p>
            <a:pPr algn="l">
              <a:spcAft>
                <a:spcPts val="279"/>
              </a:spcAft>
              <a:defRPr sz="1400" b="0">
                <a:solidFill>
                  <a:srgbClr val="E6EDF3"/>
                </a:solidFill>
                <a:latin typeface="微软雅黑"/>
              </a:defRPr>
            </a:pPr>
            <a:r>
              <a:t>擅长重复性工作、模式化代码</a:t>
            </a:r>
          </a:p>
          <a:p>
            <a:pPr algn="l">
              <a:spcAft>
                <a:spcPts val="279"/>
              </a:spcAft>
              <a:defRPr sz="1400" b="0">
                <a:solidFill>
                  <a:srgbClr val="E6EDF3"/>
                </a:solidFill>
                <a:latin typeface="微软雅黑"/>
              </a:defRPr>
            </a:pPr>
            <a:r>
              <a:t>趋势明确，只会越来越强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3999" y="1007999"/>
            <a:ext cx="5040000" cy="306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52000" y="1080000"/>
            <a:ext cx="48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3B341"/>
                </a:solidFill>
                <a:latin typeface="微软雅黑"/>
              </a:defRPr>
            </a:pPr>
            <a:r>
              <a:t>边界 ⚠️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2000" y="1368000"/>
            <a:ext cx="4824000" cy="26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9"/>
              </a:spcAft>
              <a:defRPr sz="1400" b="0">
                <a:solidFill>
                  <a:srgbClr val="E6EDF3"/>
                </a:solidFill>
                <a:latin typeface="微软雅黑"/>
              </a:defRPr>
            </a:pPr>
            <a:r>
              <a:t>不了解领域背景时容易跑偏</a:t>
            </a:r>
          </a:p>
          <a:p>
            <a:pPr algn="l">
              <a:spcAft>
                <a:spcPts val="279"/>
              </a:spcAft>
              <a:defRPr sz="1400" b="0">
                <a:solidFill>
                  <a:srgbClr val="E6EDF3"/>
                </a:solidFill>
                <a:latin typeface="微软雅黑"/>
              </a:defRPr>
            </a:pPr>
            <a:r>
              <a:t>缺乏全局视角，可能"局部最优、全局灾难"</a:t>
            </a:r>
          </a:p>
          <a:p>
            <a:pPr algn="l">
              <a:spcAft>
                <a:spcPts val="279"/>
              </a:spcAft>
              <a:defRPr sz="1400" b="0">
                <a:solidFill>
                  <a:srgbClr val="E6EDF3"/>
                </a:solidFill>
                <a:latin typeface="微软雅黑"/>
              </a:defRPr>
            </a:pPr>
            <a:r>
              <a:t>不会主动质疑你的设计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468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F81F7"/>
                </a:solidFill>
                <a:latin typeface="微软雅黑"/>
              </a:defRPr>
            </a:pPr>
            <a:r>
              <a:t>AI 是最强执行者，但不是合格的架构师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核心洞察：把最擅长的事交给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115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微软雅黑"/>
              </a:defRPr>
            </a:pPr>
            <a:r>
              <a:t>❌ 常见想法：先把不擅长的交给 AI，自己做好擅长的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151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FB950"/>
                </a:solidFill>
                <a:latin typeface="微软雅黑"/>
              </a:defRPr>
            </a:pPr>
            <a:r>
              <a:t>✅ 实际经验：先把最擅长的事交给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599" y="2088000"/>
            <a:ext cx="3420000" cy="162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599" y="2160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81F7"/>
                </a:solidFill>
                <a:latin typeface="微软雅黑"/>
              </a:defRPr>
            </a:pPr>
            <a: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99" y="2448000"/>
            <a:ext cx="3204000" cy="11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擅长 = 你能准确验收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→ 质量有保障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6600" y="2088000"/>
            <a:ext cx="3420000" cy="162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4600" y="2160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81F7"/>
                </a:solidFill>
                <a:latin typeface="微软雅黑"/>
              </a:defRPr>
            </a:pPr>
            <a: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600" y="2448000"/>
            <a:ext cx="3204000" cy="11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这些工作对个人无成长价值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属于纯工作量堆叠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86600" y="2088000"/>
            <a:ext cx="3420000" cy="162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4600" y="2160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81F7"/>
                </a:solidFill>
                <a:latin typeface="微软雅黑"/>
              </a:defRPr>
            </a:pPr>
            <a: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4600" y="2448000"/>
            <a:ext cx="3204000" cy="11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释放时间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→ 投入到研究、设计、架构等创造性工作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468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微软雅黑"/>
              </a:defRPr>
            </a:pPr>
            <a:r>
              <a:t>aip-server 案例：表结构是我擅长的 → AI 编码我能准确评审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角色转变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1152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949E"/>
                </a:solidFill>
                <a:latin typeface="微软雅黑"/>
              </a:defRPr>
            </a:pPr>
            <a:r>
              <a:t>过去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20000" y="1440000"/>
            <a:ext cx="1980000" cy="5760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20000" y="1475999"/>
            <a:ext cx="198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949E"/>
                </a:solidFill>
                <a:latin typeface="微软雅黑"/>
              </a:defRPr>
            </a:pPr>
            <a:r>
              <a:t>设计 ✍️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636000" y="1620000"/>
            <a:ext cx="288000" cy="18000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96000" y="1440000"/>
            <a:ext cx="1980000" cy="5760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96000" y="1475999"/>
            <a:ext cx="198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949E"/>
                </a:solidFill>
                <a:latin typeface="微软雅黑"/>
              </a:defRPr>
            </a:pPr>
            <a:r>
              <a:t>编码 💻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12000" y="1620000"/>
            <a:ext cx="288000" cy="18000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72000" y="1440000"/>
            <a:ext cx="1980000" cy="5760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2000" y="1475999"/>
            <a:ext cx="198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949E"/>
                </a:solidFill>
                <a:latin typeface="微软雅黑"/>
              </a:defRPr>
            </a:pPr>
            <a:r>
              <a:t>测试 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6000" y="1548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微软雅黑"/>
              </a:defRPr>
            </a:pPr>
            <a:r>
              <a:t>全自己做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2772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F81F7"/>
                </a:solidFill>
                <a:latin typeface="微软雅黑"/>
              </a:defRPr>
            </a:pPr>
            <a:r>
              <a:t>现在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20000" y="3060000"/>
            <a:ext cx="1980000" cy="5760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0000" y="3096000"/>
            <a:ext cx="198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EDF3"/>
                </a:solidFill>
                <a:latin typeface="微软雅黑"/>
              </a:defRPr>
            </a:pPr>
            <a:r>
              <a:t>设计 ✍️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636000" y="3240000"/>
            <a:ext cx="288000" cy="180000"/>
          </a:xfrm>
          <a:prstGeom prst="rightArrow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96000" y="3060000"/>
            <a:ext cx="1980000" cy="576000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96000" y="3096000"/>
            <a:ext cx="198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AI 编码 🤖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12000" y="3240000"/>
            <a:ext cx="288000" cy="180000"/>
          </a:xfrm>
          <a:prstGeom prst="rightArrow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72000" y="3060000"/>
            <a:ext cx="1980000" cy="5760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2000" y="3096000"/>
            <a:ext cx="198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EDF3"/>
                </a:solidFill>
                <a:latin typeface="微软雅黑"/>
              </a:defRPr>
            </a:pPr>
            <a:r>
              <a:t>评审测试 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6000" y="3168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FB950"/>
                </a:solidFill>
                <a:latin typeface="微软雅黑"/>
              </a:defRPr>
            </a:pPr>
            <a:r>
              <a:t>AI 分担编码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" y="504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F81F7"/>
                </a:solidFill>
                <a:latin typeface="微软雅黑"/>
              </a:defRPr>
            </a:pPr>
            <a:r>
              <a:t>从"写代码的人"变成"设计系统的人"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5149"/>
                </a:solidFill>
                <a:latin typeface="微软雅黑"/>
              </a:defRPr>
            </a:pPr>
            <a:r>
              <a:t>⚠️ 陷阱：AI 会"PUA"你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86599" y="1080000"/>
            <a:ext cx="3420000" cy="126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4599" y="1152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5149"/>
                </a:solidFill>
                <a:latin typeface="微软雅黑"/>
              </a:defRPr>
            </a:pPr>
            <a:r>
              <a:t>特征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4599" y="1440000"/>
            <a:ext cx="3204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永远自信满满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即使方向错误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6600" y="1080000"/>
            <a:ext cx="3420000" cy="126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94600" y="1152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5149"/>
                </a:solidFill>
                <a:latin typeface="微软雅黑"/>
              </a:defRPr>
            </a:pPr>
            <a:r>
              <a:t>特征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4600" y="1440000"/>
            <a:ext cx="3204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语气笃定、逻辑自洽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很容易被"说服"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86600" y="1080000"/>
            <a:ext cx="3420000" cy="126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4600" y="1152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5149"/>
                </a:solidFill>
                <a:latin typeface="微软雅黑"/>
              </a:defRPr>
            </a:pPr>
            <a:r>
              <a:t>特征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4600" y="1440000"/>
            <a:ext cx="3204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不会犹豫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不会说"我不确定"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80000"/>
            <a:ext cx="10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微软雅黑"/>
              </a:defRPr>
            </a:pPr>
            <a:r>
              <a:t>案例回扣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168000"/>
            <a:ext cx="10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微软雅黑"/>
              </a:defRPr>
            </a:pPr>
            <a:r>
              <a:t>A2A：AI 全程自信地造了一个轮子，46 次提交，没有任何犹豫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000" y="3528000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微软雅黑"/>
              </a:defRPr>
            </a:pPr>
            <a:r>
              <a:t>权限过滤：AI 删除逻辑时的理由"完全合理"，但缺失了业务上下文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关键问题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56599" y="1152000"/>
            <a:ext cx="6480000" cy="432000"/>
          </a:xfrm>
          <a:prstGeom prst="round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56599" y="118800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把擅长的事交给 AI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88599" y="1602000"/>
            <a:ext cx="216000" cy="251999"/>
          </a:xfrm>
          <a:prstGeom prst="downArrow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56599" y="1872000"/>
            <a:ext cx="6480000" cy="4320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56599" y="190800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EDF3"/>
                </a:solidFill>
                <a:latin typeface="微软雅黑"/>
              </a:defRPr>
            </a:pPr>
            <a:r>
              <a:t>但 AI 会 PUA 你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88599" y="2322000"/>
            <a:ext cx="216000" cy="251999"/>
          </a:xfrm>
          <a:prstGeom prst="downArrow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56599" y="2592000"/>
            <a:ext cx="6480000" cy="4320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6599" y="262800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EDF3"/>
                </a:solidFill>
                <a:latin typeface="微软雅黑"/>
              </a:defRPr>
            </a:pPr>
            <a:r>
              <a:t>靠个人判断力够吗？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88599" y="3042000"/>
            <a:ext cx="216000" cy="251999"/>
          </a:xfrm>
          <a:prstGeom prst="downArrow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56599" y="3311999"/>
            <a:ext cx="6480000" cy="4320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6599" y="3347999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EDF3"/>
                </a:solidFill>
                <a:latin typeface="微软雅黑"/>
              </a:defRPr>
            </a:pPr>
            <a:r>
              <a:t>单靠经验 → 不可持续、不可复制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88599" y="3761999"/>
            <a:ext cx="216000" cy="251999"/>
          </a:xfrm>
          <a:prstGeom prst="downArrow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56599" y="4031999"/>
            <a:ext cx="6480000" cy="4320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56599" y="4067999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EDF3"/>
                </a:solidFill>
                <a:latin typeface="微软雅黑"/>
              </a:defRPr>
            </a:pPr>
            <a:r>
              <a:t>团队协作？项目复杂了怎么办？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558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F81F7"/>
                </a:solidFill>
                <a:latin typeface="微软雅黑"/>
              </a:defRPr>
            </a:pPr>
            <a:r>
              <a:t>我们需要一套系统化的方法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0" y="2160000"/>
            <a:ext cx="86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F81F7"/>
                </a:solidFill>
                <a:latin typeface="微软雅黑"/>
              </a:defRPr>
            </a:pPr>
            <a: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0" y="2700000"/>
            <a:ext cx="86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6EDF3"/>
                </a:solidFill>
                <a:latin typeface="微软雅黑"/>
              </a:defRPr>
            </a:pPr>
            <a:r>
              <a:t>系统化提升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0" y="3780000"/>
            <a:ext cx="86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949E"/>
                </a:solidFill>
                <a:latin typeface="微软雅黑"/>
              </a:defRPr>
            </a:pPr>
            <a:r>
              <a:t>SDD 与 Harness 实践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什么是 SDD？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080000"/>
            <a:ext cx="10897200" cy="72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999" y="1152000"/>
            <a:ext cx="10537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F81F7"/>
                </a:solidFill>
                <a:latin typeface="微软雅黑"/>
              </a:defRPr>
            </a:pPr>
            <a:r>
              <a:t>SDD = Specification-Driven Development（规范驱动开发）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980000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微软雅黑"/>
              </a:defRPr>
            </a:pPr>
            <a:r>
              <a:t>对比理解：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000" y="2340000"/>
            <a:ext cx="5220000" cy="57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23760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微软雅黑"/>
              </a:defRPr>
            </a:pPr>
            <a:r>
              <a:t>传统开发：规范是文档，人看文档写代码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8000" y="2340000"/>
            <a:ext cx="5220000" cy="57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2000" y="23760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微软雅黑"/>
              </a:defRPr>
            </a:pPr>
            <a:r>
              <a:t>AI 编程：规范是"AI 的行为边界"，直接决定输出质量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3240000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微软雅黑"/>
              </a:defRPr>
            </a:pPr>
            <a:r>
              <a:t>一个类比：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8000" y="3600000"/>
            <a:ext cx="3311999" cy="90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000" y="3671999"/>
            <a:ext cx="302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5149"/>
                </a:solidFill>
                <a:latin typeface="微软雅黑"/>
              </a:defRPr>
            </a:pPr>
            <a:r>
              <a:t>没有规范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924000"/>
            <a:ext cx="30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微软雅黑"/>
              </a:defRPr>
            </a:pPr>
            <a:r>
              <a:t>= 新员工自由发挥（不可控）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6000" y="3600000"/>
            <a:ext cx="3311999" cy="90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0000" y="3671999"/>
            <a:ext cx="302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B950"/>
                </a:solidFill>
                <a:latin typeface="微软雅黑"/>
              </a:defRPr>
            </a:pPr>
            <a:r>
              <a:t>有规范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0000" y="3924000"/>
            <a:ext cx="30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微软雅黑"/>
              </a:defRPr>
            </a:pPr>
            <a:r>
              <a:t>= 新员工按章办事（可预期）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4000" y="3600000"/>
            <a:ext cx="3420000" cy="90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8000" y="3671999"/>
            <a:ext cx="3131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81F7"/>
                </a:solidFill>
                <a:latin typeface="微软雅黑"/>
              </a:defRPr>
            </a:pPr>
            <a:r>
              <a:t>AI 就是那个"超级新员工"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8000" y="3924000"/>
            <a:ext cx="3131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微软雅黑"/>
              </a:defRPr>
            </a:pPr>
            <a:r>
              <a:t>能力极强，但需要明确的行为边界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SDD 三层体现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080000"/>
            <a:ext cx="10357200" cy="1296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6000" y="1152000"/>
            <a:ext cx="10141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81F7"/>
                </a:solidFill>
                <a:latin typeface="微软雅黑"/>
              </a:defRPr>
            </a:pPr>
            <a:r>
              <a:t>项目级规范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000" y="1440000"/>
            <a:ext cx="101412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CLAUDE.md + rules/ = 员工手册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所有会话共享，每次自动加载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定义项目架构、编码约束、常用命令等核心规范</a:t>
            </a:r>
          </a:p>
        </p:txBody>
      </p:sp>
      <p:sp>
        <p:nvSpPr>
          <p:cNvPr id="6" name="Down Arrow 5"/>
          <p:cNvSpPr/>
          <p:nvPr/>
        </p:nvSpPr>
        <p:spPr>
          <a:xfrm>
            <a:off x="5988599" y="2376000"/>
            <a:ext cx="216000" cy="216000"/>
          </a:xfrm>
          <a:prstGeom prst="downArrow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8000" y="2628000"/>
            <a:ext cx="10357200" cy="1296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6000" y="2700000"/>
            <a:ext cx="10141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B950"/>
                </a:solidFill>
                <a:latin typeface="微软雅黑"/>
              </a:defRPr>
            </a:pPr>
            <a:r>
              <a:t>任务级规范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2988000"/>
            <a:ext cx="101412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Plan、PRD = 任务说明书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特定功能的约束，一次性使用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针对某个功能点定义详细的需求和实现约束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88599" y="3924000"/>
            <a:ext cx="216000" cy="216000"/>
          </a:xfrm>
          <a:prstGeom prst="downArrow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8000" y="4176000"/>
            <a:ext cx="10357200" cy="1296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4248000"/>
            <a:ext cx="10141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3B341"/>
                </a:solidFill>
                <a:latin typeface="微软雅黑"/>
              </a:defRPr>
            </a:pPr>
            <a:r>
              <a:t>会话级引导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000" y="4536000"/>
            <a:ext cx="101412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对话中的约束和纠正 = 日常工作指导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实时交互中补充的临时约束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即时修正 AI 行为，逐步沉淀为项目级规范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65200" y="1655999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2F81F7"/>
                </a:solidFill>
                <a:latin typeface="微软雅黑"/>
              </a:defRPr>
            </a:pPr>
            <a:r>
              <a:t>持久化 / 全局生效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65200" y="3204000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3FB950"/>
                </a:solidFill>
                <a:latin typeface="微软雅黑"/>
              </a:defRPr>
            </a:pPr>
            <a:r>
              <a:t>临时 / 任务范围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65200" y="4752000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E3B341"/>
                </a:solidFill>
                <a:latin typeface="微软雅黑"/>
              </a:defRPr>
            </a:pPr>
            <a:r>
              <a:t>即时 / 实时生效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案例项目：aip-portal 智能体门户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1007999"/>
            <a:ext cx="108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微软雅黑"/>
              </a:defRPr>
            </a:pPr>
            <a:r>
              <a:t>企业级 Agent 管理平台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7999" y="1368000"/>
            <a:ext cx="10177200" cy="503999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000" y="1422000"/>
            <a:ext cx="981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Spring Boot 2.7.18 + MyBatis Plus + PostgreSQL + Java 17  |  Maven 多模块 + Feign + 多数据源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2599" y="2088000"/>
            <a:ext cx="1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2F81F7"/>
                </a:solidFill>
                <a:latin typeface="微软雅黑"/>
              </a:defRPr>
            </a:pPr>
            <a:r>
              <a:t>259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599" y="2628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微软雅黑"/>
              </a:defRPr>
            </a:pPr>
            <a:r>
              <a:t>提交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74600" y="2088000"/>
            <a:ext cx="1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2F81F7"/>
                </a:solidFill>
                <a:latin typeface="微软雅黑"/>
              </a:defRPr>
            </a:pPr>
            <a:r>
              <a:t>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74600" y="2628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微软雅黑"/>
              </a:defRPr>
            </a:pPr>
            <a:r>
              <a:t>天活跃开发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06600" y="2088000"/>
            <a:ext cx="1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2F81F7"/>
                </a:solidFill>
                <a:latin typeface="微软雅黑"/>
              </a:defRPr>
            </a:pPr>
            <a:r>
              <a:t>281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06600" y="2628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微软雅黑"/>
              </a:defRPr>
            </a:pPr>
            <a:r>
              <a:t>Java 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8600" y="2088000"/>
            <a:ext cx="1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2F81F7"/>
                </a:solidFill>
                <a:latin typeface="微软雅黑"/>
              </a:defRPr>
            </a:pPr>
            <a:r>
              <a:t>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8600" y="2628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微软雅黑"/>
              </a:defRPr>
            </a:pPr>
            <a:r>
              <a:t>文档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0600" y="2088000"/>
            <a:ext cx="1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2F81F7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70600" y="2628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微软雅黑"/>
              </a:defRPr>
            </a:pPr>
            <a:r>
              <a:t>人协作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8000" y="3528000"/>
            <a:ext cx="10897200" cy="720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000" y="3671999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  <a:latin typeface="微软雅黑"/>
              </a:defRPr>
            </a:pPr>
            <a:r>
              <a:t>业务模块：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00" y="3960000"/>
            <a:ext cx="1368000" cy="43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000" y="4014000"/>
            <a:ext cx="136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F81F7"/>
                </a:solidFill>
                <a:latin typeface="微软雅黑"/>
              </a:defRPr>
            </a:pPr>
            <a:r>
              <a:t>数字员工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24000" y="3960000"/>
            <a:ext cx="1368000" cy="43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24000" y="4014000"/>
            <a:ext cx="136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F81F7"/>
                </a:solidFill>
                <a:latin typeface="微软雅黑"/>
              </a:defRPr>
            </a:pPr>
            <a:r>
              <a:t>系统管理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00000" y="3960000"/>
            <a:ext cx="1368000" cy="43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00000" y="4014000"/>
            <a:ext cx="136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F81F7"/>
                </a:solidFill>
                <a:latin typeface="微软雅黑"/>
              </a:defRPr>
            </a:pPr>
            <a:r>
              <a:t>运营中心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76000" y="3960000"/>
            <a:ext cx="1368000" cy="43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76000" y="4014000"/>
            <a:ext cx="136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F81F7"/>
                </a:solidFill>
                <a:latin typeface="微软雅黑"/>
              </a:defRPr>
            </a:pPr>
            <a:r>
              <a:t>智能助理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52000" y="3960000"/>
            <a:ext cx="1368000" cy="43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2000" y="4014000"/>
            <a:ext cx="136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F81F7"/>
                </a:solidFill>
                <a:latin typeface="微软雅黑"/>
              </a:defRPr>
            </a:pPr>
            <a:r>
              <a:t>外部集成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8000" y="3960000"/>
            <a:ext cx="1368000" cy="43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28000" y="4014000"/>
            <a:ext cx="136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F81F7"/>
                </a:solidFill>
                <a:latin typeface="微软雅黑"/>
              </a:defRPr>
            </a:pPr>
            <a:r>
              <a:t>公共组件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4000" y="3960000"/>
            <a:ext cx="1368000" cy="43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4000" y="4014000"/>
            <a:ext cx="136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F81F7"/>
                </a:solidFill>
                <a:latin typeface="微软雅黑"/>
              </a:defRPr>
            </a:pPr>
            <a:r>
              <a:t>SQL 版本管理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Rules 的演化：从混乱到精炼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000" y="1980000"/>
            <a:ext cx="1620000" cy="2160000"/>
          </a:xfrm>
          <a:prstGeom prst="rect">
            <a:avLst/>
          </a:prstGeom>
          <a:solidFill>
            <a:srgbClr val="E3B341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000" y="2052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80C12"/>
                </a:solidFill>
                <a:latin typeface="微软雅黑"/>
              </a:defRPr>
            </a:pPr>
            <a:r>
              <a:t>5487 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000" y="2304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80C12"/>
                </a:solidFill>
                <a:latin typeface="微软雅黑"/>
              </a:defRPr>
            </a:pPr>
            <a:r>
              <a:t>Phase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0000" y="1260000"/>
            <a:ext cx="1620000" cy="2880000"/>
          </a:xfrm>
          <a:prstGeom prst="rect">
            <a:avLst/>
          </a:prstGeom>
          <a:solidFill>
            <a:srgbClr val="F85149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0000" y="1332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~6000 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0" y="1584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Phase 2</a:t>
            </a:r>
          </a:p>
        </p:txBody>
      </p:sp>
      <p:sp>
        <p:nvSpPr>
          <p:cNvPr id="9" name="Rectangle 8"/>
          <p:cNvSpPr/>
          <p:nvPr/>
        </p:nvSpPr>
        <p:spPr>
          <a:xfrm>
            <a:off x="5292000" y="1620000"/>
            <a:ext cx="1620000" cy="2520000"/>
          </a:xfrm>
          <a:prstGeom prst="rect">
            <a:avLst/>
          </a:prstGeom>
          <a:solidFill>
            <a:srgbClr val="F85149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92000" y="1692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根因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92000" y="1944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paths: **.java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92000" y="2232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Phase 2.5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44000" y="2700000"/>
            <a:ext cx="1620000" cy="1440000"/>
          </a:xfrm>
          <a:prstGeom prst="rect">
            <a:avLst/>
          </a:prstGeom>
          <a:solidFill>
            <a:srgbClr val="E3B341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4000" y="2772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80C12"/>
                </a:solidFill>
                <a:latin typeface="微软雅黑"/>
              </a:defRPr>
            </a:pPr>
            <a:r>
              <a:t>~3300 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4000" y="3024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80C12"/>
                </a:solidFill>
                <a:latin typeface="微软雅黑"/>
              </a:defRPr>
            </a:pPr>
            <a:r>
              <a:t>Phase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6000" y="3708000"/>
            <a:ext cx="1620000" cy="432000"/>
          </a:xfrm>
          <a:prstGeom prst="rect">
            <a:avLst/>
          </a:prstGeom>
          <a:solidFill>
            <a:srgbClr val="3FB950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6000" y="3744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272 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6000" y="3492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FB950"/>
                </a:solidFill>
                <a:latin typeface="微软雅黑"/>
              </a:defRPr>
            </a:pPr>
            <a:r>
              <a:t>Phase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6000" y="3312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FB950"/>
                </a:solidFill>
                <a:latin typeface="微软雅黑"/>
              </a:defRPr>
            </a:pPr>
            <a:r>
              <a:t>稳定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000" y="4320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3B341"/>
                </a:solidFill>
                <a:latin typeface="微软雅黑"/>
              </a:defRPr>
            </a:pPr>
            <a:r>
              <a:t>能想到的都塞进去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0000" y="4320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85149"/>
                </a:solidFill>
                <a:latin typeface="微软雅黑"/>
              </a:defRPr>
            </a:pPr>
            <a:r>
              <a:t>踩坑就加规则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2000" y="4320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85149"/>
                </a:solidFill>
                <a:latin typeface="微软雅黑"/>
              </a:defRPr>
            </a:pPr>
            <a:r>
              <a:t>发现 paths: **.java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4000" y="4320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3B341"/>
                </a:solidFill>
                <a:latin typeface="微软雅黑"/>
              </a:defRPr>
            </a:pPr>
            <a:r>
              <a:t>开始精简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6000" y="4320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FB950"/>
                </a:solidFill>
                <a:latin typeface="微软雅黑"/>
              </a:defRPr>
            </a:pPr>
            <a:r>
              <a:t>精炼稳定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000" y="4860000"/>
            <a:ext cx="108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FB950"/>
                </a:solidFill>
                <a:latin typeface="微软雅黑"/>
              </a:defRPr>
            </a:pPr>
            <a:r>
              <a:t>从 5487 行到 272 行 — 压缩率 95%，Token 消耗大幅降低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Phase 1-2：混乱与膨胀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080000"/>
            <a:ext cx="5148000" cy="306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6000" y="1152000"/>
            <a:ext cx="49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3B341"/>
                </a:solidFill>
                <a:latin typeface="微软雅黑"/>
              </a:defRPr>
            </a:pPr>
            <a:r>
              <a:t>Phase 1：把能想到的都塞进去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000" y="1440000"/>
            <a:ext cx="4932000" cy="26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5487 行，20 个文件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把能想到的规范全部塞进 rules/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命名、架构、异常处理、日志……全部堆在一起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X  Token 消耗巨大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X  关键规则被淹没在海量文本中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X  AI 无法区分重要和不重要的规则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6000" y="1080000"/>
            <a:ext cx="5148000" cy="306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4000" y="1152000"/>
            <a:ext cx="49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5149"/>
                </a:solidFill>
                <a:latin typeface="微软雅黑"/>
              </a:defRPr>
            </a:pPr>
            <a:r>
              <a:t>Phase 2：踩坑就加规则，越加越多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4000" y="1440000"/>
            <a:ext cx="4932000" cy="26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~6000+ 行，24 个文件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每次 AI 犯错，就加一条规则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规则数量持续膨胀，彼此矛盾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X  Token 爆炸，单次会话消耗飙升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X  AI 经常忽略关键规则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X  规则越多，AI 遵循率越低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68000" y="4392000"/>
            <a:ext cx="9457200" cy="720000"/>
          </a:xfrm>
          <a:prstGeom prst="roundRect">
            <a:avLst/>
          </a:prstGeom>
          <a:solidFill>
            <a:srgbClr val="2D1212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48000" y="4500000"/>
            <a:ext cx="9097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5149"/>
                </a:solidFill>
                <a:latin typeface="微软雅黑"/>
              </a:defRPr>
            </a:pPr>
            <a:r>
              <a:t>恶性循环 — 犯错 -&gt; 加规则 -&gt; 再犯错 -&gt; 再加规则 -&gt; ……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Phase 3-4：清理与精炼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080000"/>
            <a:ext cx="5148000" cy="306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6000" y="1152000"/>
            <a:ext cx="49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3B341"/>
                </a:solidFill>
                <a:latin typeface="微软雅黑"/>
              </a:defRPr>
            </a:pPr>
            <a:r>
              <a:t>Phase 3：大刀阔斧删减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000" y="1440000"/>
            <a:ext cx="4932000" cy="26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删掉 2714 行（近 50%）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关键认知：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  规范不是越多越好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  rules/ 是 token 预算管理，不是 wiki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  详细文档移到 docs/ 目录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只保留 AI 每次会话必须知道的约束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6000" y="1080000"/>
            <a:ext cx="5148000" cy="306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4000" y="1152000"/>
            <a:ext cx="49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微软雅黑"/>
              </a:defRPr>
            </a:pPr>
            <a:r>
              <a:t>Phase 4：精炼至稳定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4000" y="1440000"/>
            <a:ext cx="4932000" cy="26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最终 272 行（压缩率 95%）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核心策略：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  rules/ 只放 AI 必须知道的约束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  CODE-STYLE.md 做索引，不堆细节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  详细规范放 docs/code-style/ 按需引用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质量稳定，Token 可控</a:t>
            </a:r>
          </a:p>
        </p:txBody>
      </p:sp>
      <p:sp>
        <p:nvSpPr>
          <p:cNvPr id="9" name="Rectangle 8"/>
          <p:cNvSpPr/>
          <p:nvPr/>
        </p:nvSpPr>
        <p:spPr>
          <a:xfrm>
            <a:off x="1728000" y="4608000"/>
            <a:ext cx="8737200" cy="14400"/>
          </a:xfrm>
          <a:prstGeom prst="rect">
            <a:avLst/>
          </a:prstGeom>
          <a:solidFill>
            <a:srgbClr val="2F8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28000" y="4518000"/>
            <a:ext cx="216000" cy="216000"/>
          </a:xfrm>
          <a:prstGeom prst="round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68000" y="4788000"/>
            <a:ext cx="93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F81F7"/>
                </a:solidFill>
                <a:latin typeface="微软雅黑"/>
              </a:defRPr>
            </a:pPr>
            <a:r>
              <a:t>04-01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7999" y="4968000"/>
            <a:ext cx="165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微软雅黑"/>
              </a:defRPr>
            </a:pPr>
            <a:r>
              <a:t>精简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48000" y="4518000"/>
            <a:ext cx="216000" cy="216000"/>
          </a:xfrm>
          <a:prstGeom prst="round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8000" y="4788000"/>
            <a:ext cx="93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F81F7"/>
                </a:solidFill>
                <a:latin typeface="微软雅黑"/>
              </a:defRPr>
            </a:pPr>
            <a:r>
              <a:t>04-02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8000" y="4968000"/>
            <a:ext cx="165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微软雅黑"/>
              </a:defRPr>
            </a:pPr>
            <a:r>
              <a:t>整理分类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28000" y="4518000"/>
            <a:ext cx="216000" cy="216000"/>
          </a:xfrm>
          <a:prstGeom prst="round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8000" y="4788000"/>
            <a:ext cx="93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F81F7"/>
                </a:solidFill>
                <a:latin typeface="微软雅黑"/>
              </a:defRPr>
            </a:pPr>
            <a:r>
              <a:t>04-09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8000" y="4968000"/>
            <a:ext cx="165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微软雅黑"/>
              </a:defRPr>
            </a:pPr>
            <a:r>
              <a:t>规范移至 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000" y="532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FB950"/>
                </a:solidFill>
                <a:latin typeface="微软雅黑"/>
              </a:defRPr>
            </a:pPr>
            <a:r>
              <a:t>仅 9 天完成从混乱到精炼的完整重构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Rules 最终形态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080000"/>
            <a:ext cx="5148000" cy="198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6000" y="1152000"/>
            <a:ext cx="49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5149"/>
                </a:solidFill>
                <a:latin typeface="微软雅黑"/>
              </a:defRPr>
            </a:pPr>
            <a:r>
              <a:t>Before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000" y="1440000"/>
            <a:ext cx="4932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5487 行，20 个文件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所有规范堆在一个目录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每次全部加载，Token 消耗巨大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关键约束被海量文本淹没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6000" y="1080000"/>
            <a:ext cx="5148000" cy="198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4000" y="1152000"/>
            <a:ext cx="49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微软雅黑"/>
              </a:defRPr>
            </a:pPr>
            <a:r>
              <a:t>After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4000" y="1548000"/>
            <a:ext cx="4932000" cy="1440000"/>
          </a:xfrm>
          <a:prstGeom prst="roundRect">
            <a:avLst/>
          </a:prstGeom>
          <a:solidFill>
            <a:srgbClr val="080C1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2000" y="1620000"/>
            <a:ext cx="4716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7EE787"/>
                </a:solidFill>
                <a:latin typeface="Courier New"/>
              </a:defRPr>
            </a:pPr>
            <a:r>
              <a:t>.claude/rules/ (核心约束，自动加载)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7EE787"/>
                </a:solidFill>
                <a:latin typeface="Courier New"/>
              </a:defRPr>
            </a:pPr>
            <a:r>
              <a:t>  |-- ARCHITECTURE.md  (124 行)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7EE787"/>
                </a:solidFill>
                <a:latin typeface="Courier New"/>
              </a:defRPr>
            </a:pPr>
            <a:r>
              <a:t>  |-- CODE-STYLE.md    (14 行)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7EE787"/>
                </a:solidFill>
                <a:latin typeface="Courier New"/>
              </a:defRPr>
            </a:pPr>
            <a:r>
              <a:t>  +-- testing.md       (134 行)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7EE787"/>
                </a:solidFill>
                <a:latin typeface="Courier New"/>
              </a:defRPr>
            </a:pPr>
          </a:p>
          <a:p>
            <a:pPr algn="l">
              <a:spcAft>
                <a:spcPts val="0"/>
              </a:spcAft>
              <a:defRPr sz="1000" b="0">
                <a:solidFill>
                  <a:srgbClr val="7EE787"/>
                </a:solidFill>
                <a:latin typeface="Courier New"/>
              </a:defRPr>
            </a:pPr>
            <a:r>
              <a:t>docs/code-style/ (详细规范，按需引用)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7EE787"/>
                </a:solidFill>
                <a:latin typeface="Courier New"/>
              </a:defRPr>
            </a:pPr>
            <a:r>
              <a:t>  |-- 01-naming.md     (130 行)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7EE787"/>
                </a:solidFill>
                <a:latin typeface="Courier New"/>
              </a:defRPr>
            </a:pPr>
            <a:r>
              <a:t>  ...共 8 个文档，838 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8000" y="3311999"/>
            <a:ext cx="10897200" cy="90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999" y="3384000"/>
            <a:ext cx="1053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微软雅黑"/>
              </a:defRPr>
            </a:pPr>
            <a:r>
              <a:t>核心思路：分层管理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000" y="3671999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  <a:latin typeface="微软雅黑"/>
              </a:defRPr>
            </a:pPr>
            <a:r>
              <a:t>rules/ 核心约束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8000" y="3671999"/>
            <a:ext cx="57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微软雅黑"/>
              </a:defRPr>
            </a:pPr>
            <a:r>
              <a:t>272 行，每次自动加载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000" y="3923999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F81F7"/>
                </a:solidFill>
                <a:latin typeface="微软雅黑"/>
              </a:defRPr>
            </a:pPr>
            <a:r>
              <a:t>docs/code-style/ 详细规范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8000" y="3923999"/>
            <a:ext cx="57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微软雅黑"/>
              </a:defRPr>
            </a:pPr>
            <a:r>
              <a:t>838 行，AI 按需查阅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Rules 演化的关键经验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152000"/>
            <a:ext cx="3420000" cy="234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6000" y="1224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F81F7"/>
                </a:solidFill>
                <a:latin typeface="微软雅黑"/>
              </a:defRPr>
            </a:pPr>
            <a:r>
              <a:t> 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000" y="1512000"/>
            <a:ext cx="3204000" cy="19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rules/ 是 token 预算管理，不是 wiki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每一行都要有价值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AI 每次会话都要读取全部 rules/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无用的行 = 浪费 Token = 降低质量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4000" y="1152000"/>
            <a:ext cx="3420000" cy="234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92000" y="1224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FB950"/>
                </a:solidFill>
                <a:latin typeface="微软雅黑"/>
              </a:defRPr>
            </a:pPr>
            <a:r>
              <a:t> 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2000" y="1512000"/>
            <a:ext cx="3204000" cy="19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规范不是越多越好，而是越精炼越好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少即是多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272 行比 5487 行效果好得多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关键约束突出，AI 遵循率更高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0000" y="1152000"/>
            <a:ext cx="3420000" cy="234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8000" y="1224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3B341"/>
                </a:solidFill>
                <a:latin typeface="微软雅黑"/>
              </a:defRPr>
            </a:pPr>
            <a:r>
              <a:t> 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000" y="1512000"/>
            <a:ext cx="3204000" cy="19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每次踩坑都是完善规范的机会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复盘驱动改进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犯错后分析原因，补充到 rules/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形成"踩坑-复盘-规范"的正循环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68000" y="4068000"/>
            <a:ext cx="9457200" cy="14400"/>
          </a:xfrm>
          <a:prstGeom prst="rect">
            <a:avLst/>
          </a:prstGeom>
          <a:solidFill>
            <a:srgbClr val="2F8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68000" y="3978000"/>
            <a:ext cx="216000" cy="216000"/>
          </a:xfrm>
          <a:prstGeom prst="round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7999" y="4248000"/>
            <a:ext cx="93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F81F7"/>
                </a:solidFill>
                <a:latin typeface="微软雅黑"/>
              </a:defRPr>
            </a:pPr>
            <a:r>
              <a:t>04-01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999" y="4428000"/>
            <a:ext cx="129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优化 rules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8000" y="3978000"/>
            <a:ext cx="216000" cy="216000"/>
          </a:xfrm>
          <a:prstGeom prst="round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48000" y="4248000"/>
            <a:ext cx="93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F81F7"/>
                </a:solidFill>
                <a:latin typeface="微软雅黑"/>
              </a:defRPr>
            </a:pPr>
            <a:r>
              <a:t>04-01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68000" y="4428000"/>
            <a:ext cx="129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精简规则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48000" y="3978000"/>
            <a:ext cx="216000" cy="216000"/>
          </a:xfrm>
          <a:prstGeom prst="round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88000" y="4248000"/>
            <a:ext cx="93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F81F7"/>
                </a:solidFill>
                <a:latin typeface="微软雅黑"/>
              </a:defRPr>
            </a:pPr>
            <a:r>
              <a:t>04-02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08000" y="4428000"/>
            <a:ext cx="129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整理分类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88000" y="3978000"/>
            <a:ext cx="216000" cy="216000"/>
          </a:xfrm>
          <a:prstGeom prst="round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000" y="4248000"/>
            <a:ext cx="93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F81F7"/>
                </a:solidFill>
                <a:latin typeface="微软雅黑"/>
              </a:defRPr>
            </a:pPr>
            <a:r>
              <a:t>04-09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8000" y="4428000"/>
            <a:ext cx="129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规范移 docs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000" y="4680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FB950"/>
                </a:solidFill>
                <a:latin typeface="微软雅黑"/>
              </a:defRPr>
            </a:pPr>
            <a:r>
              <a:t>9 天趋于稳定 — 规范驱动 + 复盘迭代 = 高效 rules 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SDD 落地：CLAUDE.md（极简导航）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1152000"/>
            <a:ext cx="51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81F7"/>
                </a:solidFill>
                <a:latin typeface="微软雅黑"/>
              </a:defRPr>
            </a:pPr>
            <a:r>
              <a:t>aip-portal 的 CLAUDE.md 仅 23 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1512000"/>
            <a:ext cx="4932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它是导航页，不是百科全书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0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不在 CLAUDE.md 里堆砌内容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0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只放三件事：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  1. 项目定位（一句话）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  2. 文档索引（指向详细规范）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  3. 常用命令（快速启动）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0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AI 需要时自行查阅详细文档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6000" y="1080000"/>
            <a:ext cx="5148000" cy="2880000"/>
          </a:xfrm>
          <a:prstGeom prst="roundRect">
            <a:avLst/>
          </a:prstGeom>
          <a:solidFill>
            <a:srgbClr val="080C1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4000" y="1152000"/>
            <a:ext cx="4932000" cy="27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7EE787"/>
                </a:solidFill>
                <a:latin typeface="Courier New"/>
              </a:defRPr>
            </a:pPr>
            <a:r>
              <a:t># aip-portal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7EE787"/>
                </a:solidFill>
                <a:latin typeface="Courier New"/>
              </a:defRPr>
            </a:pPr>
          </a:p>
          <a:p>
            <a:pPr algn="l">
              <a:spcAft>
                <a:spcPts val="0"/>
              </a:spcAft>
              <a:defRPr sz="1100" b="0">
                <a:solidFill>
                  <a:srgbClr val="7EE787"/>
                </a:solidFill>
                <a:latin typeface="Courier New"/>
              </a:defRPr>
            </a:pPr>
            <a:r>
              <a:t>## 项目定位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7EE787"/>
                </a:solidFill>
                <a:latin typeface="Courier New"/>
              </a:defRPr>
            </a:pPr>
            <a:r>
              <a:t>企业级 Agent 管理平台（一句话）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7EE787"/>
                </a:solidFill>
                <a:latin typeface="Courier New"/>
              </a:defRPr>
            </a:pPr>
          </a:p>
          <a:p>
            <a:pPr algn="l">
              <a:spcAft>
                <a:spcPts val="0"/>
              </a:spcAft>
              <a:defRPr sz="1100" b="0">
                <a:solidFill>
                  <a:srgbClr val="7EE787"/>
                </a:solidFill>
                <a:latin typeface="Courier New"/>
              </a:defRPr>
            </a:pPr>
            <a:r>
              <a:t>## 文档索引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7EE787"/>
                </a:solidFill>
                <a:latin typeface="Courier New"/>
              </a:defRPr>
            </a:pPr>
            <a:r>
              <a:t>- 架构约束：.claude/rules/ARCHITECTURE.md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7EE787"/>
                </a:solidFill>
                <a:latin typeface="Courier New"/>
              </a:defRPr>
            </a:pPr>
            <a:r>
              <a:t>- 编码规范：.claude/rules/CODE-STYLE.md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7EE787"/>
                </a:solidFill>
                <a:latin typeface="Courier New"/>
              </a:defRPr>
            </a:pPr>
            <a:r>
              <a:t>  （详细规范见 docs/code-style/）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7EE787"/>
                </a:solidFill>
                <a:latin typeface="Courier New"/>
              </a:defRPr>
            </a:pPr>
          </a:p>
          <a:p>
            <a:pPr algn="l">
              <a:spcAft>
                <a:spcPts val="0"/>
              </a:spcAft>
              <a:defRPr sz="1100" b="0">
                <a:solidFill>
                  <a:srgbClr val="7EE787"/>
                </a:solidFill>
                <a:latin typeface="Courier New"/>
              </a:defRPr>
            </a:pPr>
            <a:r>
              <a:t>## 常用命令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7EE787"/>
                </a:solidFill>
                <a:latin typeface="Courier New"/>
              </a:defRPr>
            </a:pPr>
            <a:r>
              <a:t>mvn clean compile -pl bootstrap 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68000" y="4320000"/>
            <a:ext cx="9457200" cy="54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48000" y="4392000"/>
            <a:ext cx="909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6EDF3"/>
                </a:solidFill>
                <a:latin typeface="微软雅黑"/>
              </a:defRPr>
            </a:pPr>
            <a:r>
              <a:t>CLAUDE.md = 导航索引，让 AI 快速定位所需规范，而不是把所有内容都塞进去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SDD 落地：ARCHITECTURE.md（架构约束）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1007999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微软雅黑"/>
              </a:defRPr>
            </a:pPr>
            <a:r>
              <a:t>aip-portal 的 ARCHITECTURE.md（124 行），每次会话自动加载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8000" y="1368000"/>
            <a:ext cx="5148000" cy="1368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6000" y="1440000"/>
            <a:ext cx="49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81F7"/>
                </a:solidFill>
                <a:latin typeface="微软雅黑"/>
              </a:defRPr>
            </a:pPr>
            <a:r>
              <a:t>Maven 模块划分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6000" y="1728000"/>
            <a:ext cx="4932000" cy="93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bootstrap（启动模块）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sql-migration-starter（SQL 版本管理）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清晰的模块边界定义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6000" y="1368000"/>
            <a:ext cx="5148000" cy="1368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4000" y="1440000"/>
            <a:ext cx="49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  <a:latin typeface="微软雅黑"/>
              </a:defRPr>
            </a:pPr>
            <a:r>
              <a:t>SQL 版本管理策略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4000" y="1728000"/>
            <a:ext cx="4932000" cy="93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开发环境：禁用 Flyway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发版阶段：SQL 冻结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生产环境：自动执行迁移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8000" y="3024000"/>
            <a:ext cx="5148000" cy="1368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6000" y="3096000"/>
            <a:ext cx="49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3B341"/>
                </a:solidFill>
                <a:latin typeface="微软雅黑"/>
              </a:defRPr>
            </a:pPr>
            <a:r>
              <a:t>分页查询方案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000" y="3384000"/>
            <a:ext cx="4932000" cy="93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TypedSearchParam 统一查询参数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PageResult 统一返回结构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QueryWrapperUtil 工具类封装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6000" y="3024000"/>
            <a:ext cx="5148000" cy="1368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4000" y="3096000"/>
            <a:ext cx="49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5149"/>
                </a:solidFill>
                <a:latin typeface="微软雅黑"/>
              </a:defRPr>
            </a:pPr>
            <a:r>
              <a:t>RBAC 权限模型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4000" y="3384000"/>
            <a:ext cx="4932000" cy="93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菜单树结构管理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JSON 权限字段存储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细粒度权限控制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68000" y="4860000"/>
            <a:ext cx="9457200" cy="54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48000" y="4932000"/>
            <a:ext cx="909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6EDF3"/>
                </a:solidFill>
                <a:latin typeface="微软雅黑"/>
              </a:defRPr>
            </a:pPr>
            <a:r>
              <a:t>AI 每次会话都知道项目核心架构约定，不再重复犯架构层面的错误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SDD 落地：CODE-STYLE.md（仅 14 行的索引）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1152000"/>
            <a:ext cx="51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81F7"/>
                </a:solidFill>
                <a:latin typeface="微软雅黑"/>
              </a:defRPr>
            </a:pPr>
            <a:r>
              <a:t>设计理念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1440000"/>
            <a:ext cx="4932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不在 rules/ 里放编码细节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0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而是索引到 docs/code-style/ 下的 8 个专题文档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0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AI 只在需要时才加载具体规范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0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这样既保证了 Token 效率，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又不丢失编码规范的完整性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6000" y="1152000"/>
            <a:ext cx="5148000" cy="1007999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4000" y="1224000"/>
            <a:ext cx="49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  <a:latin typeface="微软雅黑"/>
              </a:defRPr>
            </a:pPr>
            <a:r>
              <a:t>核心约束 -&gt; 自动加载（每次会话）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4000" y="1512000"/>
            <a:ext cx="493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CODE-STYLE.md（14 行索引）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AI 每次启动自动读取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000" y="2268000"/>
            <a:ext cx="5148000" cy="1007999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4000" y="2340000"/>
            <a:ext cx="49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F81F7"/>
                </a:solidFill>
                <a:latin typeface="微软雅黑"/>
              </a:defRPr>
            </a:pPr>
            <a:r>
              <a:t>详细规范 -&gt; 按需加载（AI 自行查阅）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4000" y="2628000"/>
            <a:ext cx="493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docs/code-style/ 下的 8 个文档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AI 遇到具体场景时自动查阅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3528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  <a:latin typeface="微软雅黑"/>
              </a:defRPr>
            </a:pPr>
            <a:r>
              <a:t>docs/code-style/ 8 个专题文档：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8000" y="3816000"/>
            <a:ext cx="2520000" cy="36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3851999"/>
            <a:ext cx="237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EE787"/>
                </a:solidFill>
                <a:latin typeface="Courier New"/>
              </a:defRPr>
            </a:pPr>
            <a:r>
              <a:t>01-naming.md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2000" y="3816000"/>
            <a:ext cx="2520000" cy="36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4000" y="3851999"/>
            <a:ext cx="237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EE787"/>
                </a:solidFill>
                <a:latin typeface="Courier New"/>
              </a:defRPr>
            </a:pPr>
            <a:r>
              <a:t>02-exception.md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76000" y="3816000"/>
            <a:ext cx="2520000" cy="36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48000" y="3851999"/>
            <a:ext cx="237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EE787"/>
                </a:solidFill>
                <a:latin typeface="Courier New"/>
              </a:defRPr>
            </a:pPr>
            <a:r>
              <a:t>03-logging.md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0000" y="3816000"/>
            <a:ext cx="2520000" cy="36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12000" y="3851999"/>
            <a:ext cx="237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EE787"/>
                </a:solidFill>
                <a:latin typeface="Courier New"/>
              </a:defRPr>
            </a:pPr>
            <a:r>
              <a:t>04-response.md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8000" y="4284000"/>
            <a:ext cx="2520000" cy="36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000" y="4320000"/>
            <a:ext cx="237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EE787"/>
                </a:solidFill>
                <a:latin typeface="Courier New"/>
              </a:defRPr>
            </a:pPr>
            <a:r>
              <a:t>05-controller.md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12000" y="4284000"/>
            <a:ext cx="2520000" cy="36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4000" y="4320000"/>
            <a:ext cx="237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EE787"/>
                </a:solidFill>
                <a:latin typeface="Courier New"/>
              </a:defRPr>
            </a:pPr>
            <a:r>
              <a:t>06-service.md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76000" y="4284000"/>
            <a:ext cx="2520000" cy="36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48000" y="4320000"/>
            <a:ext cx="237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EE787"/>
                </a:solidFill>
                <a:latin typeface="Courier New"/>
              </a:defRPr>
            </a:pPr>
            <a:r>
              <a:t>07-mapper.md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40000" y="4284000"/>
            <a:ext cx="2520000" cy="36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12000" y="4320000"/>
            <a:ext cx="237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EE787"/>
                </a:solidFill>
                <a:latin typeface="Courier New"/>
              </a:defRPr>
            </a:pPr>
            <a:r>
              <a:t>08-convention.md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什么是 Harness Engineering？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1007999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F81F7"/>
                </a:solidFill>
                <a:latin typeface="微软雅黑"/>
              </a:defRPr>
            </a:pPr>
            <a:r>
              <a:t>Harness = 为 AI 搭建的"工作脚手架"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8000" y="1620000"/>
            <a:ext cx="5040000" cy="126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6000" y="1692000"/>
            <a:ext cx="48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81F7"/>
                </a:solidFill>
                <a:latin typeface="微软雅黑"/>
              </a:defRPr>
            </a:pPr>
            <a:r>
              <a:t>规范文件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6000" y="1980000"/>
            <a:ext cx="4824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CLAUDE.md — 项目导航与核心约定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rules/ — 核心约束（自动加载）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05200" y="1620000"/>
            <a:ext cx="5040000" cy="126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3200" y="1692000"/>
            <a:ext cx="48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81F7"/>
                </a:solidFill>
                <a:latin typeface="微软雅黑"/>
              </a:defRPr>
            </a:pPr>
            <a:r>
              <a:t>权限配置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3200" y="1980000"/>
            <a:ext cx="4824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settings.json — 控制工具调用权限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settings.local.json — 本地权限管理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8000" y="3060000"/>
            <a:ext cx="5040000" cy="126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6000" y="3131999"/>
            <a:ext cx="48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81F7"/>
                </a:solidFill>
                <a:latin typeface="微软雅黑"/>
              </a:defRPr>
            </a:pPr>
            <a:r>
              <a:t>自定义技能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000" y="3420000"/>
            <a:ext cx="4824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Skills — 可复用的自动化操作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将高频操作封装为快捷命令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05200" y="3060000"/>
            <a:ext cx="5040000" cy="126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3200" y="3131999"/>
            <a:ext cx="48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81F7"/>
                </a:solidFill>
                <a:latin typeface="微软雅黑"/>
              </a:defRPr>
            </a:pPr>
            <a:r>
              <a:t>工作流配置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3200" y="3420000"/>
            <a:ext cx="4824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Plan — 任务规划与拆解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Worktree — 并行开发隔离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6048000"/>
            <a:ext cx="1089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EDF3"/>
                </a:solidFill>
                <a:latin typeface="微软雅黑"/>
              </a:defRPr>
            </a:pPr>
            <a:r>
              <a:t>让 AI 在你的项目里工作得又快又准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Harness 的三大支柱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1007999"/>
            <a:ext cx="1089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F81F7"/>
                </a:solidFill>
                <a:latin typeface="微软雅黑"/>
              </a:defRPr>
            </a:pPr>
            <a:r>
              <a:t>Harness = 让你的项目对 AI 友好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8000" y="1548000"/>
            <a:ext cx="3420000" cy="270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6000" y="1620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81F7"/>
                </a:solidFill>
                <a:latin typeface="微软雅黑"/>
              </a:defRPr>
            </a:pPr>
            <a:r>
              <a:t>上下文工程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6000" y="1908000"/>
            <a:ext cx="3204000" cy="22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给 AI 正确的信息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rules — 核心约束文件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CLAUDE.md — 项目导航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知识库 — 参考资料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2000" y="1548000"/>
            <a:ext cx="3420000" cy="270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0000" y="1620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  <a:latin typeface="微软雅黑"/>
              </a:defRPr>
            </a:pPr>
            <a:r>
              <a:t>架构约束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0" y="1908000"/>
            <a:ext cx="3204000" cy="22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让 AI 在框架内工作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技术栈限制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目录结构约定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编码规范约束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6000" y="1548000"/>
            <a:ext cx="3420000" cy="270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4000" y="1620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3B341"/>
                </a:solidFill>
                <a:latin typeface="微软雅黑"/>
              </a:defRPr>
            </a:pPr>
            <a:r>
              <a:t>熵管理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4000" y="1908000"/>
            <a:ext cx="3204000" cy="22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防止混乱累积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定期清理规则文件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精简过时约束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代码评审反馈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EDF3"/>
                </a:solidFill>
                <a:latin typeface="微软雅黑"/>
              </a:defRPr>
            </a:pPr>
            <a:r>
              <a:t>Harness 搭建：没有系统化的代价（aip-portal 教训）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260000"/>
            <a:ext cx="5040000" cy="115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6000" y="1332000"/>
            <a:ext cx="48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5149"/>
                </a:solidFill>
                <a:latin typeface="微软雅黑"/>
              </a:defRPr>
            </a:pPr>
            <a:r>
              <a:t>AI 每次会话都在"重新认识项目"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000" y="1620000"/>
            <a:ext cx="482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缺少系统化的上下文注入，AI 反复犯同样的错误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每次新会话都要重新解释项目架构和约定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05200" y="1260000"/>
            <a:ext cx="5040000" cy="115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3200" y="1332000"/>
            <a:ext cx="48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5149"/>
                </a:solidFill>
                <a:latin typeface="微软雅黑"/>
              </a:defRPr>
            </a:pPr>
            <a:r>
              <a:t>rules 膨胀到 6000+ 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3200" y="1620000"/>
            <a:ext cx="482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规则越多，AI 反而越"懵"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冗余和矛盾的规则让 AI 无所适从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8000" y="2628000"/>
            <a:ext cx="5040000" cy="115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6000" y="2700000"/>
            <a:ext cx="48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5149"/>
                </a:solidFill>
                <a:latin typeface="微软雅黑"/>
              </a:defRPr>
            </a:pPr>
            <a:r>
              <a:t>犯错 → 加规则 → 再犯错 → 恶性循环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000" y="2988000"/>
            <a:ext cx="482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头痛医头，脚痛医脚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规则不断堆积但没有系统化整理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05200" y="2628000"/>
            <a:ext cx="5040000" cy="115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3200" y="2700000"/>
            <a:ext cx="48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5149"/>
                </a:solidFill>
                <a:latin typeface="微软雅黑"/>
              </a:defRPr>
            </a:pPr>
            <a:r>
              <a:t>权限配置混乱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3200" y="2988000"/>
            <a:ext cx="482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settings.local.json 累积 58 条允许规则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权限过于宽松，存在误操作风险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" y="5940000"/>
            <a:ext cx="1089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5149"/>
                </a:solidFill>
                <a:latin typeface="微软雅黑"/>
              </a:defRPr>
            </a:pPr>
            <a:r>
              <a:t>没有 Harness 的 AI 编程，靠的是个人"手感"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转折：痛定思痛，四个关键动作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152000"/>
            <a:ext cx="2520000" cy="252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6000" y="1224000"/>
            <a:ext cx="23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81F7"/>
                </a:solidFill>
                <a:latin typeface="微软雅黑"/>
              </a:defRPr>
            </a:pPr>
            <a:r>
              <a:t>1. 规范精简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000" y="1512000"/>
            <a:ext cx="2304000" cy="20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6000+ 行 → 272 行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大清理运动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删除冗余和过时规则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保留核心约束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4000" y="1152000"/>
            <a:ext cx="2520000" cy="252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02000" y="1224000"/>
            <a:ext cx="23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  <a:latin typeface="微软雅黑"/>
              </a:defRPr>
            </a:pPr>
            <a:r>
              <a:t>2. 分层架构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2000" y="1512000"/>
            <a:ext cx="2304000" cy="20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rules/ + docs/ 双层结构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rules/ — 核心约束（自动加载）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docs/ — 详细规范（按需引用）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职责清晰，互不干扰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0000" y="1152000"/>
            <a:ext cx="2520000" cy="252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48000" y="1224000"/>
            <a:ext cx="23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3B341"/>
                </a:solidFill>
                <a:latin typeface="微软雅黑"/>
              </a:defRPr>
            </a:pPr>
            <a:r>
              <a:t>3. 复盘机制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48000" y="1512000"/>
            <a:ext cx="2304000" cy="20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每次踩坑完善规范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不只是修 bug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而是完善 Harness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让同类问题不再发生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86000" y="1152000"/>
            <a:ext cx="2520000" cy="252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94000" y="1224000"/>
            <a:ext cx="23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5149"/>
                </a:solidFill>
                <a:latin typeface="微软雅黑"/>
              </a:defRPr>
            </a:pPr>
            <a:r>
              <a:t>4. 权限收敛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4000" y="1512000"/>
            <a:ext cx="2304000" cy="20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只保留必要权限配置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从 58 条精简到必要条目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减少误操作风险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权限最小化原则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" y="5940000"/>
            <a:ext cx="1089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  <a:latin typeface="微软雅黑"/>
              </a:defRPr>
            </a:pPr>
            <a:r>
              <a:t>四个动作相互配合，形成 Harness 建设闭环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知识体系三层架构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16600" y="1152000"/>
            <a:ext cx="5760000" cy="1368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324600" y="1224000"/>
            <a:ext cx="554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81F7"/>
                </a:solidFill>
                <a:latin typeface="微软雅黑"/>
              </a:defRPr>
            </a:pPr>
            <a:r>
              <a:t>全局层  (~/.claude/)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4600" y="1512000"/>
            <a:ext cx="5544000" cy="93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通用规则、个人偏好、MCP 工具配置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所有项目共享，提供跨项目的一致性基础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76599" y="2664000"/>
            <a:ext cx="8640000" cy="1368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84599" y="2736000"/>
            <a:ext cx="84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  <a:latin typeface="微软雅黑"/>
              </a:defRPr>
            </a:pPr>
            <a:r>
              <a:t>项目层  (项目 .claude/)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4599" y="3024000"/>
            <a:ext cx="8424000" cy="93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CLAUDE.md（23行）+ rules/（272行）+ settings.local.json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项目专属约束，随项目版本管理，团队可共享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8000" y="4176000"/>
            <a:ext cx="10897200" cy="1368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6000" y="4248000"/>
            <a:ext cx="10681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3B341"/>
                </a:solidFill>
                <a:latin typeface="微软雅黑"/>
              </a:defRPr>
            </a:pPr>
            <a:r>
              <a:t>会话层  (对话中)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000" y="4536000"/>
            <a:ext cx="10681200" cy="93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临时约束、特定任务指导、即时反馈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一次性使用，不持久化，适合探索性任务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84600" y="1368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← 最轻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45200" y="4284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最重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Harness 成型后的改善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260000"/>
            <a:ext cx="3420000" cy="198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6000" y="1332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  <a:latin typeface="微软雅黑"/>
              </a:defRPr>
            </a:pPr>
            <a:r>
              <a:t>AI 编码准确率稳定提升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000" y="1620000"/>
            <a:ext cx="3204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Harness 为 AI 提供了准确的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项目上下文和技术约束，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显著减少了"幻觉"和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不符合项目规范的代码输出。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260000"/>
            <a:ext cx="3420000" cy="198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0000" y="1332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  <a:latin typeface="微软雅黑"/>
              </a:defRPr>
            </a:pPr>
            <a:r>
              <a:t>重复性错误逐步减少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0" y="1620000"/>
            <a:ext cx="3204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通过复盘机制将教训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沉淀到 rules 中，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同类问题不再重复出现，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形成持续改进的闭环。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6000" y="1260000"/>
            <a:ext cx="3420000" cy="198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4000" y="1332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  <a:latin typeface="微软雅黑"/>
              </a:defRPr>
            </a:pPr>
            <a:r>
              <a:t>新会话快速上手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4000" y="1620000"/>
            <a:ext cx="3204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知识已沉淀在 Harness 中，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新会话无需重新解释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项目背景，即可高效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进入工作状态。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5220000"/>
            <a:ext cx="1089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微软雅黑"/>
              </a:defRPr>
            </a:pPr>
            <a:r>
              <a:t>259 次提交中，rules 相关提交集中在 4 月初仅 9 天；之后趋于稳定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5760000"/>
            <a:ext cx="1089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F81F7"/>
                </a:solidFill>
                <a:latin typeface="微软雅黑"/>
              </a:defRPr>
            </a:pPr>
            <a:r>
              <a:t>Harness 到了稳定期后，维护成本很低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补充案例：aip-gateway（主动系统化）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88599" y="1152000"/>
            <a:ext cx="1980000" cy="540000"/>
          </a:xfrm>
          <a:prstGeom prst="round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8599" y="1188000"/>
            <a:ext cx="19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qoder 编写 PRD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68599" y="1314000"/>
            <a:ext cx="432000" cy="21600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00599" y="1152000"/>
            <a:ext cx="1980000" cy="540000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00599" y="1188000"/>
            <a:ext cx="19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转化为技术 Spec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80600" y="1314000"/>
            <a:ext cx="432000" cy="21600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12600" y="1152000"/>
            <a:ext cx="1980000" cy="540000"/>
          </a:xfrm>
          <a:prstGeom prst="round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2600" y="1188000"/>
            <a:ext cx="19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Claude Code</a:t>
            </a:r>
            <a:br/>
            <a:r>
              <a:t>多轮审阅 (v1→v1.9)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292600" y="1314000"/>
            <a:ext cx="432000" cy="21600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24600" y="1152000"/>
            <a:ext cx="1980000" cy="540000"/>
          </a:xfrm>
          <a:prstGeom prst="round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24600" y="1188000"/>
            <a:ext cx="19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Agent Team 编码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000" y="1980000"/>
            <a:ext cx="5040000" cy="108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6000" y="2052000"/>
            <a:ext cx="48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81F7"/>
                </a:solidFill>
                <a:latin typeface="微软雅黑"/>
              </a:defRPr>
            </a:pPr>
            <a:r>
              <a:t>项目数据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6000" y="2340000"/>
            <a:ext cx="482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AMG 核心模块：59 个 Java 文件，仅 2 天完成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技术栈：Spring WebFlux + R2DBC + Redis Reactive（响应式全链路）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05200" y="1980000"/>
            <a:ext cx="5040000" cy="108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3200" y="2052000"/>
            <a:ext cx="48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  <a:latin typeface="微软雅黑"/>
              </a:defRPr>
            </a:pPr>
            <a:r>
              <a:t>Harness 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3200" y="2340000"/>
            <a:ext cx="482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CLAUDE.md：237 行，含架构说明、A2A 协议决策记录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设计文档：v1→v1.9 共 9 轮迭代审阅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000" y="5760000"/>
            <a:ext cx="1089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FB950"/>
                </a:solidFill>
                <a:latin typeface="微软雅黑"/>
              </a:defRPr>
            </a:pPr>
            <a:r>
              <a:t>没有经历混乱期，从一开始就是系统化的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两种 Harness 建设路径对比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8000" y="1152000"/>
          <a:ext cx="10897200" cy="32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4548600"/>
                <a:gridCol w="4548600"/>
              </a:tblGrid>
              <a:tr h="468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2F8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aip-portal（被动建设）</a:t>
                      </a:r>
                    </a:p>
                  </a:txBody>
                  <a:tcPr>
                    <a:solidFill>
                      <a:srgbClr val="2F8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aip-gateway（主动建设）</a:t>
                      </a:r>
                    </a:p>
                  </a:txBody>
                  <a:tcPr>
                    <a:solidFill>
                      <a:srgbClr val="2F81F7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微软雅黑"/>
                        </a:defRPr>
                      </a:pPr>
                      <a:r>
                        <a:t>建设方式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微软雅黑"/>
                        </a:defRPr>
                      </a:pPr>
                      <a:r>
                        <a:t>先踩坑再补规范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微软雅黑"/>
                        </a:defRPr>
                      </a:pPr>
                      <a:r>
                        <a:t>Day 1 就建规范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微软雅黑"/>
                        </a:defRPr>
                      </a:pPr>
                      <a:r>
                        <a:t>混乱期</a:t>
                      </a:r>
                    </a:p>
                  </a:txBody>
                  <a:tcPr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微软雅黑"/>
                        </a:defRPr>
                      </a:pPr>
                      <a:r>
                        <a:t>经历约 2 个月</a:t>
                      </a:r>
                    </a:p>
                  </a:txBody>
                  <a:tcPr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微软雅黑"/>
                        </a:defRPr>
                      </a:pPr>
                      <a:r>
                        <a:t>基本没有</a:t>
                      </a:r>
                    </a:p>
                  </a:txBody>
                  <a:tcPr>
                    <a:solidFill>
                      <a:srgbClr val="080C12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微软雅黑"/>
                        </a:defRPr>
                      </a:pPr>
                      <a:r>
                        <a:t>rules/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微软雅黑"/>
                        </a:defRPr>
                      </a:pPr>
                      <a:r>
                        <a:t>3 个文件，272 行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微软雅黑"/>
                        </a:defRPr>
                      </a:pPr>
                      <a:r>
                        <a:t>集中在 CLAUDE.md（237 行）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微软雅黑"/>
                        </a:defRPr>
                      </a:pPr>
                      <a:r>
                        <a:t>工作流</a:t>
                      </a:r>
                    </a:p>
                  </a:txBody>
                  <a:tcPr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微软雅黑"/>
                        </a:defRPr>
                      </a:pPr>
                      <a:r>
                        <a:t>worktree 并行，24 个</a:t>
                      </a:r>
                    </a:p>
                  </a:txBody>
                  <a:tcPr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微软雅黑"/>
                        </a:defRPr>
                      </a:pPr>
                      <a:r>
                        <a:t>PRD → Spec → 审阅 → 编码</a:t>
                      </a:r>
                    </a:p>
                  </a:txBody>
                  <a:tcPr>
                    <a:solidFill>
                      <a:srgbClr val="080C12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微软雅黑"/>
                        </a:defRPr>
                      </a:pPr>
                      <a:r>
                        <a:t>提交数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微软雅黑"/>
                        </a:defRPr>
                      </a:pPr>
                      <a:r>
                        <a:t>259 次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微软雅黑"/>
                        </a:defRPr>
                      </a:pPr>
                      <a:r>
                        <a:t>209 次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微软雅黑"/>
                        </a:defRPr>
                      </a:pPr>
                      <a:r>
                        <a:t>Java 文件</a:t>
                      </a:r>
                    </a:p>
                  </a:txBody>
                  <a:tcPr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微软雅黑"/>
                        </a:defRPr>
                      </a:pPr>
                      <a:r>
                        <a:t>281 个</a:t>
                      </a:r>
                    </a:p>
                  </a:txBody>
                  <a:tcPr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微软雅黑"/>
                        </a:defRPr>
                      </a:pPr>
                      <a:r>
                        <a:t>584 个（含 18 个插件）</a:t>
                      </a:r>
                    </a:p>
                  </a:txBody>
                  <a:tcPr>
                    <a:solidFill>
                      <a:srgbClr val="080C1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8000" y="5868000"/>
            <a:ext cx="1089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F81F7"/>
                </a:solidFill>
                <a:latin typeface="微软雅黑"/>
              </a:defRPr>
            </a:pPr>
            <a:r>
              <a:t>有了方法论之后，新项目可以少走很多弯路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0" y="2160000"/>
            <a:ext cx="86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F81F7"/>
                </a:solidFill>
                <a:latin typeface="微软雅黑"/>
              </a:defRPr>
            </a:pPr>
            <a:r>
              <a:t>Part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0" y="2700000"/>
            <a:ext cx="86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6EDF3"/>
                </a:solidFill>
                <a:latin typeface="微软雅黑"/>
              </a:defRPr>
            </a:pPr>
            <a:r>
              <a:t>工具链与实战技巧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0" y="3780000"/>
            <a:ext cx="86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949E"/>
                </a:solidFill>
                <a:latin typeface="微软雅黑"/>
              </a:defRPr>
            </a:pPr>
            <a:r>
              <a:t>可以立即带走的东西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Claude Code — AI 编程的终端工具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P43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8000" y="1152000"/>
            <a:ext cx="5040000" cy="216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6000" y="1224000"/>
            <a:ext cx="48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81F7"/>
                </a:solidFill>
                <a:latin typeface="微软雅黑"/>
              </a:defRPr>
            </a:pPr>
            <a:r>
              <a:t>🖥️ 终端原生体验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6000" y="1512000"/>
            <a:ext cx="4824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直接在终端工作，与项目代码零距离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无需切换窗口，所见即所得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05200" y="1152000"/>
            <a:ext cx="5040000" cy="216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3200" y="1224000"/>
            <a:ext cx="48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81F7"/>
                </a:solidFill>
                <a:latin typeface="微软雅黑"/>
              </a:defRPr>
            </a:pPr>
            <a:r>
              <a:t>🔄 全流程闭环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3200" y="1512000"/>
            <a:ext cx="4824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支持读取、编辑、执行，一站式完成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从需求理解到代码落地全链路覆盖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8000" y="3743999"/>
            <a:ext cx="5040000" cy="216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6000" y="3815999"/>
            <a:ext cx="48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81F7"/>
                </a:solidFill>
                <a:latin typeface="微软雅黑"/>
              </a:defRPr>
            </a:pPr>
            <a:r>
              <a:t>📋 项目上下文理解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000" y="4103999"/>
            <a:ext cx="4824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自动加载 CLAUDE.md 和 rules/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理解项目架构与编码约定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05200" y="3743999"/>
            <a:ext cx="5040000" cy="216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3200" y="3815999"/>
            <a:ext cx="48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81F7"/>
                </a:solidFill>
                <a:latin typeface="微软雅黑"/>
              </a:defRPr>
            </a:pPr>
            <a:r>
              <a:t>🚀 高级协作功能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3200" y="4103999"/>
            <a:ext cx="4824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Plan模式 / Worktree并行开发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Agent Team 多智能体协作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cc-switch — Claude Code 配置切换工具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152000"/>
            <a:ext cx="1089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  <a:latin typeface="微软雅黑"/>
              </a:defRPr>
            </a:pPr>
            <a:r>
              <a:t>快速切换不同的 Claude Code 配置（模型选择、权限设置等）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800000"/>
            <a:ext cx="3240000" cy="288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6000" y="1872000"/>
            <a:ext cx="30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81F7"/>
                </a:solidFill>
                <a:latin typeface="微软雅黑"/>
              </a:defRPr>
            </a:pPr>
            <a:r>
              <a:t>不同项目不同配置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6000" y="2160000"/>
            <a:ext cx="3024000" cy="24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每个项目有自己的 CLAUDE.md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和 rules/ 约束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一键切换，无需手动修改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74800" y="1800000"/>
            <a:ext cx="3240000" cy="288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2800" y="1872000"/>
            <a:ext cx="30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81F7"/>
                </a:solidFill>
                <a:latin typeface="微软雅黑"/>
              </a:defRPr>
            </a:pPr>
            <a:r>
              <a:t>按任务复杂度选模型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2800" y="2160000"/>
            <a:ext cx="3024000" cy="24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复杂任务用强模型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简单任务用快模型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节省 Token，提升效率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01600" y="1800000"/>
            <a:ext cx="3240000" cy="288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09600" y="1872000"/>
            <a:ext cx="30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81F7"/>
                </a:solidFill>
                <a:latin typeface="微软雅黑"/>
              </a:defRPr>
            </a:pPr>
            <a:r>
              <a:t>团队配置共享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9600" y="2160000"/>
            <a:ext cx="3024000" cy="24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统一团队的编码规范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共享权限和工具配置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降低协作摩擦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技巧一：小步快跑，持续验证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P45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88000" y="1260000"/>
            <a:ext cx="1440000" cy="648000"/>
          </a:xfrm>
          <a:prstGeom prst="round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88000" y="1296000"/>
            <a:ext cx="14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设计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564000" y="1475999"/>
            <a:ext cx="432000" cy="216000"/>
          </a:xfrm>
          <a:prstGeom prst="rightArrow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68000" y="1260000"/>
            <a:ext cx="1440000" cy="648000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8000" y="1296000"/>
            <a:ext cx="14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实现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544000" y="1475999"/>
            <a:ext cx="432000" cy="216000"/>
          </a:xfrm>
          <a:prstGeom prst="rightArrow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48000" y="1260000"/>
            <a:ext cx="1440000" cy="648000"/>
          </a:xfrm>
          <a:prstGeom prst="round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48000" y="1296000"/>
            <a:ext cx="14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117"/>
                </a:solidFill>
                <a:latin typeface="微软雅黑"/>
              </a:defRPr>
            </a:pPr>
            <a:r>
              <a:t>测试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8000" y="2015999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F81F7"/>
                </a:solidFill>
                <a:latin typeface="微软雅黑"/>
              </a:defRPr>
            </a:pPr>
            <a:r>
              <a:t>↩ 发现问题 → 回到设计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2520000"/>
            <a:ext cx="108972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0"/>
              </a:spcAft>
              <a:defRPr sz="1400" b="0">
                <a:solidFill>
                  <a:srgbClr val="E6EDF3"/>
                </a:solidFill>
                <a:latin typeface="微软雅黑"/>
              </a:defRPr>
            </a:pPr>
            <a:r>
              <a:t>• AI 生成快 → 错误积累也快 → 一次贪多反而更慢</a:t>
            </a:r>
          </a:p>
          <a:p>
            <a:pPr algn="l">
              <a:spcAft>
                <a:spcPts val="1120"/>
              </a:spcAft>
              <a:defRPr sz="1400" b="0">
                <a:solidFill>
                  <a:srgbClr val="E6EDF3"/>
                </a:solidFill>
                <a:latin typeface="微软雅黑"/>
              </a:defRPr>
            </a:pPr>
            <a:r>
              <a:t>• 每完成一个模块就验证，而不是全部完成后再测</a:t>
            </a:r>
          </a:p>
          <a:p>
            <a:pPr algn="l">
              <a:spcAft>
                <a:spcPts val="1120"/>
              </a:spcAft>
              <a:defRPr sz="1400" b="0">
                <a:solidFill>
                  <a:srgbClr val="E6EDF3"/>
                </a:solidFill>
                <a:latin typeface="微软雅黑"/>
              </a:defRPr>
            </a:pPr>
            <a:r>
              <a:t>• 遇到问题再"磨刀"，不提前过度设计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5580000"/>
            <a:ext cx="108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微软雅黑"/>
              </a:defRPr>
            </a:pPr>
            <a:r>
              <a:t>💡 教训：aip-portal 早期一次做大模块导致批量返工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技巧二：先建立认知，再让 AI 干活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152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F81F7"/>
                </a:solidFill>
                <a:latin typeface="微软雅黑"/>
              </a:defRPr>
            </a:pPr>
            <a:r>
              <a:t>你的认知边界 = AI 效率上限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872000"/>
            <a:ext cx="5040000" cy="270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6000" y="1944000"/>
            <a:ext cx="48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5149"/>
                </a:solidFill>
                <a:latin typeface="微软雅黑"/>
              </a:defRPr>
            </a:pPr>
            <a:r>
              <a:t>❌ 直接让 AI 干（不了解领域）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6000" y="2232000"/>
            <a:ext cx="4824000" cy="22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案例：A2A 协议开发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耗时：16 天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废弃代码：141,026 行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不了解协议，AI 朝着错误方向狂奔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05200" y="1872000"/>
            <a:ext cx="5040000" cy="270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3200" y="1944000"/>
            <a:ext cx="48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  <a:latin typeface="微软雅黑"/>
              </a:defRPr>
            </a:pPr>
            <a:r>
              <a:t>✅ 先调研建立认知（仅 2 小时）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3200" y="2232000"/>
            <a:ext cx="4824000" cy="22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案例：用 SDK 方式实现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耗时：3 天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最终代码：仅 1,786 行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认知清晰后，AI 才能高效执行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5112000"/>
            <a:ext cx="1089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微软雅黑"/>
              </a:defRPr>
            </a:pPr>
            <a:r>
              <a:t>💡 新领域先让 AI 帮你调研、梳理认知框架，再进入编码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技巧三：协作模式选择矩阵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P47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8000" y="1260000"/>
          <a:ext cx="108972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/>
                <a:gridCol w="3600000"/>
                <a:gridCol w="4417200"/>
              </a:tblGrid>
              <a:tr h="72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2F8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推荐模式</a:t>
                      </a:r>
                    </a:p>
                  </a:txBody>
                  <a:tcPr>
                    <a:solidFill>
                      <a:srgbClr val="2F8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2F81F7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微软雅黑"/>
                        </a:defRPr>
                      </a:pPr>
                      <a:r>
                        <a:t>明确的小任务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微软雅黑"/>
                        </a:defRPr>
                      </a:pPr>
                      <a:r>
                        <a:t>直接对话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微软雅黑"/>
                        </a:defRPr>
                      </a:pPr>
                      <a:r>
                        <a:t>给清楚需求，AI 直接做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微软雅黑"/>
                        </a:defRPr>
                      </a:pPr>
                      <a:r>
                        <a:t>复杂功能开发</a:t>
                      </a:r>
                    </a:p>
                  </a:txBody>
                  <a:tcPr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微软雅黑"/>
                        </a:defRPr>
                      </a:pPr>
                      <a:r>
                        <a:t>Plan 模式</a:t>
                      </a:r>
                    </a:p>
                  </a:txBody>
                  <a:tcPr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微软雅黑"/>
                        </a:defRPr>
                      </a:pPr>
                      <a:r>
                        <a:t>先让 AI 规划，确认后执行</a:t>
                      </a:r>
                    </a:p>
                  </a:txBody>
                  <a:tcPr>
                    <a:solidFill>
                      <a:srgbClr val="080C12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微软雅黑"/>
                        </a:defRPr>
                      </a:pPr>
                      <a:r>
                        <a:t>多任务并行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微软雅黑"/>
                        </a:defRPr>
                      </a:pPr>
                      <a:r>
                        <a:t>Worktree + Agent Team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微软雅黑"/>
                        </a:defRPr>
                      </a:pPr>
                      <a:r>
                        <a:t>隔离开发，互不干扰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微软雅黑"/>
                        </a:defRPr>
                      </a:pPr>
                      <a:r>
                        <a:t>新领域探索</a:t>
                      </a:r>
                    </a:p>
                  </a:txBody>
                  <a:tcPr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微软雅黑"/>
                        </a:defRPr>
                      </a:pPr>
                      <a:r>
                        <a:t>调研先行</a:t>
                      </a:r>
                    </a:p>
                  </a:txBody>
                  <a:tcPr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微软雅黑"/>
                        </a:defRPr>
                      </a:pPr>
                      <a:r>
                        <a:t>先让 AI 帮你建认知</a:t>
                      </a:r>
                    </a:p>
                  </a:txBody>
                  <a:tcPr>
                    <a:solidFill>
                      <a:srgbClr val="080C12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微软雅黑"/>
                        </a:defRPr>
                      </a:pPr>
                      <a:r>
                        <a:t>代码评审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微软雅黑"/>
                        </a:defRPr>
                      </a:pPr>
                      <a:r>
                        <a:t>只读模式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微软雅黑"/>
                        </a:defRPr>
                      </a:pPr>
                      <a:r>
                        <a:t>AI 读代码，人做决策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立即可用：新手入门三步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P48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8000" y="1152000"/>
            <a:ext cx="3240000" cy="126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6000" y="1224000"/>
            <a:ext cx="30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F81F7"/>
                </a:solidFill>
                <a:latin typeface="微软雅黑"/>
              </a:defRPr>
            </a:pPr>
            <a:r>
              <a:t>Step 1：从一个小模块开始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6000" y="1512000"/>
            <a:ext cx="3024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选择一个小模块或小项目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用 AI 完成整个开发循环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建立信心和基本协作感觉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8000" y="2592000"/>
            <a:ext cx="3240000" cy="270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6000" y="2664000"/>
            <a:ext cx="30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F81F7"/>
                </a:solidFill>
                <a:latin typeface="微软雅黑"/>
              </a:defRPr>
            </a:pPr>
            <a:r>
              <a:t>Step 2：写好你的第一个 CLAUDE.md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6000" y="3131999"/>
            <a:ext cx="3024000" cy="1620000"/>
          </a:xfrm>
          <a:prstGeom prst="roundRect">
            <a:avLst/>
          </a:prstGeom>
          <a:solidFill>
            <a:srgbClr val="080C1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000" y="3203999"/>
            <a:ext cx="2808000" cy="147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7EE787"/>
                </a:solidFill>
                <a:latin typeface="Courier New"/>
              </a:defRPr>
            </a:pPr>
            <a:r>
              <a:t># 项目导航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7EE787"/>
                </a:solidFill>
                <a:latin typeface="Courier New"/>
              </a:defRPr>
            </a:pPr>
            <a:r>
              <a:t>技术栈：Java 17 + Spring Boot 2.7 + PostgreSQL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7EE787"/>
                </a:solidFill>
                <a:latin typeface="Courier New"/>
              </a:defRPr>
            </a:pPr>
          </a:p>
          <a:p>
            <a:pPr algn="l">
              <a:spcAft>
                <a:spcPts val="0"/>
              </a:spcAft>
              <a:defRPr sz="1000" b="0">
                <a:solidFill>
                  <a:srgbClr val="7EE787"/>
                </a:solidFill>
                <a:latin typeface="Courier New"/>
              </a:defRPr>
            </a:pPr>
            <a:r>
              <a:t># 编码约定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7EE787"/>
                </a:solidFill>
                <a:latin typeface="Courier New"/>
              </a:defRPr>
            </a:pPr>
            <a:r>
              <a:t>统一分页：TypedSearchParam + PageResult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7EE787"/>
                </a:solidFill>
                <a:latin typeface="Courier New"/>
              </a:defRPr>
            </a:pPr>
            <a:r>
              <a:t>API返回：Result&lt;T&gt; 包装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4800" y="1152000"/>
            <a:ext cx="3240000" cy="126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2800" y="1224000"/>
            <a:ext cx="30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F81F7"/>
                </a:solidFill>
                <a:latin typeface="微软雅黑"/>
              </a:defRPr>
            </a:pPr>
            <a:r>
              <a:t>Step 3：养成小步验证习惯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2800" y="1512000"/>
            <a:ext cx="3024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设计 → AI 实现 → 验证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每次只推进一个小目标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发现问题立即修正方向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74800" y="2592000"/>
            <a:ext cx="3240000" cy="270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2800" y="2664000"/>
            <a:ext cx="30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F81F7"/>
                </a:solidFill>
                <a:latin typeface="微软雅黑"/>
              </a:defRPr>
            </a:pPr>
            <a:r>
              <a:t>🎯 核心心态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2800" y="2951999"/>
            <a:ext cx="3024000" cy="22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AI 是你的编程搭档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你负责方向和决策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AI 负责高效执行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不要期望一次完美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持续迭代才是正道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进阶：搭建项目级 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P49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8000" y="1260000"/>
            <a:ext cx="10897200" cy="1368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6000" y="1332000"/>
            <a:ext cx="10681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F81F7"/>
                </a:solidFill>
                <a:latin typeface="微软雅黑"/>
              </a:defRPr>
            </a:pPr>
            <a:r>
              <a:t>1. 搭建 Harness 分层结构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6000" y="1620000"/>
            <a:ext cx="10681200" cy="93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CLAUDE.md（导航，20-30 行） / rules/ARCHITECTURE.md（架构约束） / docs/（详细规范，按需引用）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让 AI 在动手之前就能理解项目全貌和核心约束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8000" y="2808000"/>
            <a:ext cx="10897200" cy="1368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6000" y="2880000"/>
            <a:ext cx="10681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F81F7"/>
                </a:solidFill>
                <a:latin typeface="微软雅黑"/>
              </a:defRPr>
            </a:pPr>
            <a:r>
              <a:t>2. 尝试 Worktree 并行开发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3168000"/>
            <a:ext cx="10681200" cy="93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aip-portal 项目用了 24 个 worktree 并行推进不同功能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多个 Agent 同时工作，互不干扰，完成后合并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8000" y="4356000"/>
            <a:ext cx="10897200" cy="1368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6000" y="4428000"/>
            <a:ext cx="10681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F81F7"/>
                </a:solidFill>
                <a:latin typeface="微软雅黑"/>
              </a:defRPr>
            </a:pPr>
            <a:r>
              <a:t>3. 建立复盘习惯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000" y="4716000"/>
            <a:ext cx="10681200" cy="93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踩坑 → 补规范 → 定期精简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E6EDF3"/>
                </a:solidFill>
                <a:latin typeface="微软雅黑"/>
              </a:defRPr>
            </a:pPr>
            <a:r>
              <a:t>每次遇到 AI 犯错，想想是否可以在 Harness 中预防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给观望者：从一个最小场景开始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P50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8000" y="1260000"/>
            <a:ext cx="3240000" cy="288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6000" y="1332000"/>
            <a:ext cx="30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81F7"/>
                </a:solidFill>
                <a:latin typeface="微软雅黑"/>
              </a:defRPr>
            </a:pPr>
            <a:r>
              <a:t>🧪 场景 1：让 AI 写单元测试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6000" y="1620000"/>
            <a:ext cx="3024000" cy="24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最低风险入门方式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AI 生成测试用例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你审核并运行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不影响任何业务代码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74800" y="1260000"/>
            <a:ext cx="3240000" cy="288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2800" y="1332000"/>
            <a:ext cx="30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81F7"/>
                </a:solidFill>
                <a:latin typeface="微软雅黑"/>
              </a:defRPr>
            </a:pPr>
            <a:r>
              <a:t>🔍 场景 2：让 AI 做代码评审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2800" y="1620000"/>
            <a:ext cx="3024000" cy="24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只读模式，风险为零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AI 帮你发现潜在问题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你做最终决策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学习 AI 的分析思路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1600" y="1260000"/>
            <a:ext cx="3240000" cy="2880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09600" y="1332000"/>
            <a:ext cx="30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81F7"/>
                </a:solidFill>
                <a:latin typeface="微软雅黑"/>
              </a:defRPr>
            </a:pPr>
            <a:r>
              <a:t>⚡ 场景 3：让 AI 写 CRUD 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9600" y="1620000"/>
            <a:ext cx="3024000" cy="24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快速体验效率提升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标准化程度高，AI 擅长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你只需定义接口规范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几分钟完成过去半小时的工作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5040000"/>
            <a:ext cx="1089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  <a:latin typeface="微软雅黑"/>
              </a:defRPr>
            </a:pPr>
            <a:r>
              <a:t>感受到效率提升后，自然会扩大使用范围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/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999" y="1368000"/>
            <a:ext cx="1017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F81F7"/>
                </a:solidFill>
                <a:latin typeface="微软雅黑"/>
              </a:defRPr>
            </a:pPr>
            <a:r>
              <a:t>1. AI 效率确定，不确定的是人的引导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7999" y="2376000"/>
            <a:ext cx="1017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F81F7"/>
                </a:solidFill>
                <a:latin typeface="微软雅黑"/>
              </a:defRPr>
            </a:pPr>
            <a:r>
              <a:t>2. 把最擅长的事交给 AI，释放时间做更有价值的事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7999" y="3383999"/>
            <a:ext cx="1017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F81F7"/>
                </a:solidFill>
                <a:latin typeface="微软雅黑"/>
              </a:defRPr>
            </a:pPr>
            <a:r>
              <a:t>3. 用 SDD + Harness 系统化地驾驭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999" y="4392000"/>
            <a:ext cx="1017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F81F7"/>
                </a:solidFill>
                <a:latin typeface="微软雅黑"/>
              </a:defRPr>
            </a:pPr>
            <a:r>
              <a:t>4. 从"写代码的人"变成"设计系统的人"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80000" y="64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P52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216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F81F7"/>
                </a:solidFill>
                <a:latin typeface="微软雅黑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342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6EDF3"/>
                </a:solidFill>
                <a:latin typeface="微软雅黑"/>
              </a:defRPr>
            </a:pPr>
            <a: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522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  <a:latin typeface="微软雅黑"/>
              </a:defRPr>
            </a:pPr>
            <a:r>
              <a:t>联系方式：[占位符]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