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notesMasterIdLst>
    <p:notesMasterId r:id="rId5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4630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 开发中的 AI 协作编程实践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651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从真实项目说起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演讲人 / 2026年4月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内部交流分享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关于这次分享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🏗️  三个真实 Java 项目的 AI 协作编程经历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🎢  有成功的喜悦，也有翻车的教训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 目标：听完之后，你能带走一些可以马上用的东西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3840480"/>
            <a:ext cx="7863840" cy="502920"/>
          </a:xfrm>
          <a:prstGeom prst="rect">
            <a:avLst>
              <a:gd name="adj" fmla="val 5455"/>
            </a:avLst>
          </a:prstGeom>
          <a:solidFill>
            <a:srgbClr val="2D1A0A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913632"/>
            <a:ext cx="75895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3B3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预计 90 分钟 | 鼓励随时提问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503920" y="4663440"/>
            <a:ext cx="320040" cy="32004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9" name="Text 7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18288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F8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371600" y="24688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从真实项目说起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371600" y="3474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两个案例，两种结局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案例一：aip-server 项目概览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aip-server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智能平台后端服务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企业级智能体管理、知识库、数据分析平台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206240" y="1097280"/>
            <a:ext cx="4480560" cy="868680"/>
          </a:xfrm>
          <a:prstGeom prst="rect">
            <a:avLst>
              <a:gd name="adj" fmla="val 3158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06240" y="1097280"/>
            <a:ext cx="4480560" cy="36576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8" name="Text 6"/>
          <p:cNvSpPr/>
          <p:nvPr/>
        </p:nvSpPr>
        <p:spPr>
          <a:xfrm>
            <a:off x="4315968" y="1207008"/>
            <a:ext cx="4261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项目规模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15968" y="1527048"/>
            <a:ext cx="4261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 个 Controller | 11 个业务模块 | 2394 次提交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06240" y="2103120"/>
            <a:ext cx="4480560" cy="868680"/>
          </a:xfrm>
          <a:prstGeom prst="rect">
            <a:avLst>
              <a:gd name="adj" fmla="val 3158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06240" y="2103120"/>
            <a:ext cx="4480560" cy="36576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12" name="Text 10"/>
          <p:cNvSpPr/>
          <p:nvPr/>
        </p:nvSpPr>
        <p:spPr>
          <a:xfrm>
            <a:off x="4315968" y="2212848"/>
            <a:ext cx="4261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15968" y="2532888"/>
            <a:ext cx="4261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Boot 2.7.18 + MyBatis Plus 3.4.2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PostgreSQL + Java 17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06240" y="3108960"/>
            <a:ext cx="4480560" cy="868680"/>
          </a:xfrm>
          <a:prstGeom prst="rect">
            <a:avLst>
              <a:gd name="adj" fmla="val 3158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06240" y="3108960"/>
            <a:ext cx="4480560" cy="36576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16" name="Text 14"/>
          <p:cNvSpPr/>
          <p:nvPr/>
        </p:nvSpPr>
        <p:spPr>
          <a:xfrm>
            <a:off x="4315968" y="3218688"/>
            <a:ext cx="4261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多数据源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15968" y="3538728"/>
            <a:ext cx="4261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PostgreSQL + Neo4j + Dremio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Feign 微服务调用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503920" y="4663440"/>
            <a:ext cx="320040" cy="32004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聚焦技能工具模块（logic/tool）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个 Controller，约 80 个 API 端点，8 个核心实体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77240" y="1371600"/>
            <a:ext cx="1371600" cy="1645920"/>
          </a:xfrm>
          <a:prstGeom prst="rect">
            <a:avLst>
              <a:gd name="adj" fmla="val 2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71600"/>
            <a:ext cx="1371600" cy="36576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6" name="Text 4"/>
          <p:cNvSpPr/>
          <p:nvPr/>
        </p:nvSpPr>
        <p:spPr>
          <a:xfrm>
            <a:off x="886968" y="1481328"/>
            <a:ext cx="1152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代码库管理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86968" y="1801368"/>
            <a:ext cx="115214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LtCodeRepoController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331720" y="1371600"/>
            <a:ext cx="1371600" cy="1645920"/>
          </a:xfrm>
          <a:prstGeom prst="rect">
            <a:avLst>
              <a:gd name="adj" fmla="val 2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1720" y="1371600"/>
            <a:ext cx="1371600" cy="36576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10" name="Text 8"/>
          <p:cNvSpPr/>
          <p:nvPr/>
        </p:nvSpPr>
        <p:spPr>
          <a:xfrm>
            <a:off x="2441448" y="1481328"/>
            <a:ext cx="1152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服务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41448" y="1801368"/>
            <a:ext cx="115214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LtMcpController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86200" y="1371600"/>
            <a:ext cx="1371600" cy="1645920"/>
          </a:xfrm>
          <a:prstGeom prst="rect">
            <a:avLst>
              <a:gd name="adj" fmla="val 2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86200" y="1371600"/>
            <a:ext cx="1371600" cy="36576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14" name="Text 12"/>
          <p:cNvSpPr/>
          <p:nvPr/>
        </p:nvSpPr>
        <p:spPr>
          <a:xfrm>
            <a:off x="3995928" y="1481328"/>
            <a:ext cx="1152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扩展插件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995928" y="1801368"/>
            <a:ext cx="115214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LtExtensionPluginController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40680" y="1371600"/>
            <a:ext cx="1371600" cy="1645920"/>
          </a:xfrm>
          <a:prstGeom prst="rect">
            <a:avLst>
              <a:gd name="adj" fmla="val 2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40680" y="1371600"/>
            <a:ext cx="1371600" cy="36576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18" name="Text 16"/>
          <p:cNvSpPr/>
          <p:nvPr/>
        </p:nvSpPr>
        <p:spPr>
          <a:xfrm>
            <a:off x="5550408" y="1481328"/>
            <a:ext cx="1152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OpenAPI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550408" y="1801368"/>
            <a:ext cx="115214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LtOpenapiController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95160" y="1371600"/>
            <a:ext cx="1371600" cy="1645920"/>
          </a:xfrm>
          <a:prstGeom prst="rect">
            <a:avLst>
              <a:gd name="adj" fmla="val 2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95160" y="1371600"/>
            <a:ext cx="1371600" cy="36576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22" name="Text 20"/>
          <p:cNvSpPr/>
          <p:nvPr/>
        </p:nvSpPr>
        <p:spPr>
          <a:xfrm>
            <a:off x="7104888" y="1481328"/>
            <a:ext cx="1152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工作流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04888" y="1801368"/>
            <a:ext cx="115214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LtTaskflowController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20040" cy="32004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协作模式 — 人与 AI 的分工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1554480" cy="822960"/>
          </a:xfrm>
          <a:prstGeom prst="rect">
            <a:avLst>
              <a:gd name="adj" fmla="val 3333"/>
            </a:avLst>
          </a:prstGeom>
          <a:solidFill>
            <a:srgbClr val="161B22"/>
          </a:solidFill>
          <a:ln w="19050">
            <a:solidFill>
              <a:srgbClr val="2F81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8016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🧑 人设计原型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0" y="1280160"/>
            <a:ext cx="1554480" cy="822960"/>
          </a:xfrm>
          <a:prstGeom prst="rect">
            <a:avLst>
              <a:gd name="adj" fmla="val 3333"/>
            </a:avLst>
          </a:prstGeom>
          <a:solidFill>
            <a:srgbClr val="161B22"/>
          </a:solidFill>
          <a:ln w="19050">
            <a:solidFill>
              <a:srgbClr val="2F81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0" y="128016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🧑 人设计表结构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834640" y="21488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AI参与讨论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1554480" cy="822960"/>
          </a:xfrm>
          <a:prstGeom prst="rect">
            <a:avLst>
              <a:gd name="adj" fmla="val 3333"/>
            </a:avLst>
          </a:prstGeom>
          <a:solidFill>
            <a:srgbClr val="0A2E14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28016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 AI 编码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766560" y="1280160"/>
            <a:ext cx="1554480" cy="822960"/>
          </a:xfrm>
          <a:prstGeom prst="rect">
            <a:avLst>
              <a:gd name="adj" fmla="val 3333"/>
            </a:avLst>
          </a:prstGeom>
          <a:solidFill>
            <a:srgbClr val="161B22"/>
          </a:solidFill>
          <a:ln w="19050">
            <a:solidFill>
              <a:srgbClr val="2F81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0" y="128016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🧑 人评审 &amp; 测试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331720" y="1581912"/>
            <a:ext cx="365760" cy="219456"/>
          </a:xfrm>
          <a:prstGeom prst="rightArrow">
            <a:avLst/>
          </a:prstGeom>
          <a:solidFill>
            <a:srgbClr val="8B94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3400" y="1581912"/>
            <a:ext cx="365760" cy="219456"/>
          </a:xfrm>
          <a:prstGeom prst="rightArrow">
            <a:avLst/>
          </a:prstGeom>
          <a:solidFill>
            <a:srgbClr val="8B94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55080" y="1581912"/>
            <a:ext cx="365760" cy="219456"/>
          </a:xfrm>
          <a:prstGeom prst="rightArrow">
            <a:avLst/>
          </a:prstGeom>
          <a:solidFill>
            <a:srgbClr val="8B94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74320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人负责'定方向'（设计、评审、验收）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312724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AI 负责'跑量'（编码实现）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3511296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及时评审，小步验证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503920" y="4663440"/>
            <a:ext cx="320040" cy="32004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关键成果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3749040" cy="1188720"/>
          </a:xfrm>
          <a:prstGeom prst="rect">
            <a:avLst>
              <a:gd name="adj" fmla="val 2308"/>
            </a:avLst>
          </a:prstGeom>
          <a:solidFill>
            <a:srgbClr val="161B22"/>
          </a:solidFill>
          <a:ln w="9525">
            <a:solidFill>
              <a:srgbClr val="2F81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344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8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5天 完成 ~80个 API 端点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29次提交，3月4-11日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749040" cy="1188720"/>
          </a:xfrm>
          <a:prstGeom prst="rect">
            <a:avLst>
              <a:gd name="adj" fmla="val 2308"/>
            </a:avLst>
          </a:prstGeom>
          <a:solidFill>
            <a:srgbClr val="161B22"/>
          </a:solidFill>
          <a:ln w="9525">
            <a:solidFill>
              <a:srgbClr val="2F81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12344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8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效率提升 2-4倍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754880" y="1737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对比传统开发估计值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3B3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13次 fix 提交（占45%） — AI代码有小错漏，但人在评审中及时捕获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20040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16 个数据库迁移版本，表结构清晰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58444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8 个核心实体，边界明确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968496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评审后更新 CLAUDE.md，持续改进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503920" y="4663440"/>
            <a:ext cx="320040" cy="32004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14" name="Text 12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设计到位 + 边界清晰 = AI 效率拉满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371600" y="25603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表结构设计清晰 → AI 有明确边界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71600" y="30632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及时评审，小步验证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35661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人把控方向，AI 堆砌工作量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503920" y="4663440"/>
            <a:ext cx="320040" cy="32004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7" name="Text 5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案例二：A2A 适配器（一场代价惨痛的返工）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背景信息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17373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需求：适配 Google A2A 协议，实现智能体间通信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1945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项目：aip-gateway 智能体消息网关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6517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领域陌生：团队此前未接触过 A2A 协议规范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120640" y="1188720"/>
            <a:ext cx="3383280" cy="2103120"/>
          </a:xfrm>
          <a:prstGeom prst="rect">
            <a:avLst>
              <a:gd name="adj" fmla="val 1304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20640" y="1188720"/>
            <a:ext cx="3383280" cy="36576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9" name="Text 7"/>
          <p:cNvSpPr/>
          <p:nvPr/>
        </p:nvSpPr>
        <p:spPr>
          <a:xfrm>
            <a:off x="5230368" y="1298448"/>
            <a:ext cx="3163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关键问题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230368" y="1618488"/>
            <a:ext cx="3163824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AI 根据协议文档直接编码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自己对 A2A 不了解，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无法判断 AI 输出是否正确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503920" y="4663440"/>
            <a:ext cx="320040" cy="32004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12" name="Text 10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发生了什么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26948" y="1389888"/>
            <a:ext cx="27432" cy="2633472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88720"/>
            <a:ext cx="201168" cy="201168"/>
          </a:xfrm>
          <a:prstGeom prst="oval">
            <a:avLst/>
          </a:prstGeom>
          <a:solidFill>
            <a:srgbClr val="3FB950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16128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第1天：让 AI 根据 A2A 协议文档直接编码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847088"/>
            <a:ext cx="201168" cy="201168"/>
          </a:xfrm>
          <a:prstGeom prst="oval">
            <a:avLst/>
          </a:prstGeom>
          <a:solidFill>
            <a:srgbClr val="F85149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81965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第1-2周：AI '高效'产出大量代码（46次提交，16天）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505456"/>
            <a:ext cx="201168" cy="201168"/>
          </a:xfrm>
          <a:prstGeom prst="oval">
            <a:avLst/>
          </a:prstGeom>
          <a:solidFill>
            <a:srgbClr val="F85149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47802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关键问题：无法判断 AI 输出是否符合协议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163824"/>
            <a:ext cx="201168" cy="201168"/>
          </a:xfrm>
          <a:prstGeom prst="oval">
            <a:avLst/>
          </a:prstGeom>
          <a:solidFill>
            <a:srgbClr val="F85149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1363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深入调研：发现有官方 Java SDK（a2aproject/a2a-java）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822192"/>
            <a:ext cx="201168" cy="201168"/>
          </a:xfrm>
          <a:prstGeom prst="oval">
            <a:avLst/>
          </a:prstGeom>
          <a:solidFill>
            <a:srgbClr val="3FB950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37947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推倒重来：用 SDK 3天搞定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7920" y="13716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141,026行 → 1,786行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217920" y="2103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代码量缩减 98.7%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503920" y="4663440"/>
            <a:ext cx="320040" cy="32004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翻车现场（一）— AI 造了个轮子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3749040" cy="2377440"/>
          </a:xfrm>
          <a:prstGeom prst="rect">
            <a:avLst>
              <a:gd name="adj" fmla="val 1154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3749040" cy="36576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207008"/>
            <a:ext cx="3529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自研方案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9808" y="1527048"/>
            <a:ext cx="3529584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从零开始编码，全程自信输出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16天，46次提交，141,026行代码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看似完整，实则走弯路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749040" cy="2377440"/>
          </a:xfrm>
          <a:prstGeom prst="rect">
            <a:avLst>
              <a:gd name="adj" fmla="val 1154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1097280"/>
            <a:ext cx="374904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9" name="Text 7"/>
          <p:cNvSpPr/>
          <p:nvPr/>
        </p:nvSpPr>
        <p:spPr>
          <a:xfrm>
            <a:off x="4864608" y="1207008"/>
            <a:ext cx="3529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官方 SDK 方案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64608" y="1527048"/>
            <a:ext cx="3529584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 a2aproject/a2a-java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3天完成，仅 1,786行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稳定性、兼容性有保障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794760"/>
            <a:ext cx="7863840" cy="640080"/>
          </a:xfrm>
          <a:prstGeom prst="rect">
            <a:avLst>
              <a:gd name="adj" fmla="val 4286"/>
            </a:avLst>
          </a:prstGeom>
          <a:solidFill>
            <a:srgbClr val="2D1A0A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867912"/>
            <a:ext cx="7589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3B3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AI 不会主动告诉你'有更好的方案'，方向是你定的，AI 不负责纠偏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503920" y="4663440"/>
            <a:ext cx="320040" cy="32004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14" name="Text 12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翻车现场（二）— 三个小案例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2468880" cy="2286000"/>
          </a:xfrm>
          <a:prstGeom prst="rect">
            <a:avLst>
              <a:gd name="adj" fmla="val 12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2468880" cy="36576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207008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 版本号错误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1527048"/>
            <a:ext cx="2249424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生成了V2.2.14而非V2.2.13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没有先查现有版本文件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数据库迁移执行失败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83280" y="1097280"/>
            <a:ext cx="2468880" cy="2286000"/>
          </a:xfrm>
          <a:prstGeom prst="rect">
            <a:avLst>
              <a:gd name="adj" fmla="val 12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83280" y="1097280"/>
            <a:ext cx="2468880" cy="36576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9" name="Text 7"/>
          <p:cNvSpPr/>
          <p:nvPr/>
        </p:nvSpPr>
        <p:spPr>
          <a:xfrm>
            <a:off x="3493008" y="1207008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修改已冻结脚本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93008" y="1527048"/>
            <a:ext cx="2249424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修改了已冻结的V2.2.13__init.sql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已部署环境文件摘要不一致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复盘：Flyway已冻结脚本严禁修改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1097280"/>
            <a:ext cx="2468880" cy="2286000"/>
          </a:xfrm>
          <a:prstGeom prst="rect">
            <a:avLst>
              <a:gd name="adj" fmla="val 12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1097280"/>
            <a:ext cx="2468880" cy="36576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13" name="Text 11"/>
          <p:cNvSpPr/>
          <p:nvPr/>
        </p:nvSpPr>
        <p:spPr>
          <a:xfrm>
            <a:off x="6236208" y="1207008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权限过滤偏差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36208" y="1527048"/>
            <a:ext cx="2249424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把应交给前端的逻辑保留在后端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后端多了不必要的权限检查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复盘：用户级权限判断交给前端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503920" y="4663440"/>
            <a:ext cx="320040" cy="32004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方向错了，效率越高代价越大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11480" y="2743200"/>
            <a:ext cx="1737360" cy="640080"/>
          </a:xfrm>
          <a:prstGeom prst="rect">
            <a:avLst>
              <a:gd name="adj" fmla="val 4286"/>
            </a:avLst>
          </a:prstGeom>
          <a:solidFill>
            <a:srgbClr val="161B22"/>
          </a:solidFill>
          <a:ln w="19050">
            <a:solidFill>
              <a:srgbClr val="E3B34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7432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对领域不了解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148840" y="2926080"/>
            <a:ext cx="457200" cy="274320"/>
          </a:xfrm>
          <a:prstGeom prst="rightArrow">
            <a:avLst/>
          </a:prstGeom>
          <a:solidFill>
            <a:srgbClr val="8B94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06040" y="2743200"/>
            <a:ext cx="1737360" cy="640080"/>
          </a:xfrm>
          <a:prstGeom prst="rect">
            <a:avLst>
              <a:gd name="adj" fmla="val 4286"/>
            </a:avLst>
          </a:prstGeom>
          <a:solidFill>
            <a:srgbClr val="161B22"/>
          </a:solidFill>
          <a:ln w="19050">
            <a:solidFill>
              <a:srgbClr val="E3B3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06040" y="27432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没有先建立认知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2926080"/>
            <a:ext cx="457200" cy="274320"/>
          </a:xfrm>
          <a:prstGeom prst="rightArrow">
            <a:avLst/>
          </a:prstGeom>
          <a:solidFill>
            <a:srgbClr val="8B94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0600" y="2743200"/>
            <a:ext cx="1737360" cy="640080"/>
          </a:xfrm>
          <a:prstGeom prst="rect">
            <a:avLst>
              <a:gd name="adj" fmla="val 4286"/>
            </a:avLst>
          </a:prstGeom>
          <a:solidFill>
            <a:srgbClr val="161B22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27432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盲目信任 AI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37960" y="2926080"/>
            <a:ext cx="457200" cy="274320"/>
          </a:xfrm>
          <a:prstGeom prst="rightArrow">
            <a:avLst/>
          </a:prstGeom>
          <a:solidFill>
            <a:srgbClr val="8B94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95160" y="2743200"/>
            <a:ext cx="1737360" cy="640080"/>
          </a:xfrm>
          <a:prstGeom prst="rect">
            <a:avLst>
              <a:gd name="adj" fmla="val 4286"/>
            </a:avLst>
          </a:prstGeom>
          <a:solidFill>
            <a:srgbClr val="161B22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7432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高效跑偏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503920" y="4663440"/>
            <a:ext cx="320040" cy="32004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15" name="Text 13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两个案例，两种结局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3749040" cy="2377440"/>
          </a:xfrm>
          <a:prstGeom prst="rect">
            <a:avLst>
              <a:gd name="adj" fmla="val 1154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374904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207008"/>
            <a:ext cx="3529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aip-server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9808" y="1527048"/>
            <a:ext cx="3529584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设计清晰 + 边界明确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人定方向，AI 跑量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5天，80个接口，质量可靠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749040" cy="2377440"/>
          </a:xfrm>
          <a:prstGeom prst="rect">
            <a:avLst>
              <a:gd name="adj" fmla="val 1154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1097280"/>
            <a:ext cx="3749040" cy="36576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9" name="Text 7"/>
          <p:cNvSpPr/>
          <p:nvPr/>
        </p:nvSpPr>
        <p:spPr>
          <a:xfrm>
            <a:off x="4864608" y="1207008"/>
            <a:ext cx="3529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A2A 适配器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64608" y="1527048"/>
            <a:ext cx="3529584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方向不明 + 盲目信任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没有调研就动手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16天返工，98.7%代码废弃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8404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什么时候该信任 AI？如何系统地让 AI 编程越来越高效？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503920" y="4663440"/>
            <a:ext cx="320040" cy="32004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13" name="Text 11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18288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F8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371600" y="24688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反思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371600" y="3474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从案例到洞察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从案例中看到了什么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aip-server 成功：人给了清晰的设计和边界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A2A 失败：人没有给方向，AI 高效跑偏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的效率是确定的，不确定的是人的引导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38404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 AI，同一个开发者，结果天壤之别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503920" y="4663440"/>
            <a:ext cx="320040" cy="32004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8" name="Text 6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的潜力与边界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3657600" cy="1645920"/>
          </a:xfrm>
          <a:prstGeom prst="rect">
            <a:avLst>
              <a:gd name="adj" fmla="val 1667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05840"/>
            <a:ext cx="365760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115568"/>
            <a:ext cx="3438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潜力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49808" y="1435608"/>
            <a:ext cx="343814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编码效率提升 2-4 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擅长重复性工作、模式化代码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趋势明确，只会越来越强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1005840"/>
            <a:ext cx="3657600" cy="1645920"/>
          </a:xfrm>
          <a:prstGeom prst="rect">
            <a:avLst>
              <a:gd name="adj" fmla="val 1667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0" y="1005840"/>
            <a:ext cx="3657600" cy="36576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9" name="Text 7"/>
          <p:cNvSpPr/>
          <p:nvPr/>
        </p:nvSpPr>
        <p:spPr>
          <a:xfrm>
            <a:off x="4956048" y="1115568"/>
            <a:ext cx="3438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B3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边界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56048" y="1435608"/>
            <a:ext cx="343814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不了解领域背景时容易跑偏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缺乏全局视角，可能'局部最优、全局灾难'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不会主动质疑你的设计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2004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是最强执行者，但不是合格的架构师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503920" y="4663440"/>
            <a:ext cx="320040" cy="32004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13" name="Text 11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核心洞察：把最擅长的事交给 AI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常见想法：先把不擅长的交给 AI，自己做好擅长的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实际经验：先把最擅长的事交给 AI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965960"/>
            <a:ext cx="2377440" cy="1371600"/>
          </a:xfrm>
          <a:prstGeom prst="rect">
            <a:avLst>
              <a:gd name="adj" fmla="val 2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965960"/>
            <a:ext cx="2377440" cy="36576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075688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擅长 = 你能准确验收 → 质量有保障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965960"/>
            <a:ext cx="2377440" cy="1371600"/>
          </a:xfrm>
          <a:prstGeom prst="rect">
            <a:avLst>
              <a:gd name="adj" fmla="val 2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1965960"/>
            <a:ext cx="2377440" cy="36576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10" name="Text 8"/>
          <p:cNvSpPr/>
          <p:nvPr/>
        </p:nvSpPr>
        <p:spPr>
          <a:xfrm>
            <a:off x="3493008" y="2075688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这些工作对个人无成长价值，属于纯工作量堆叠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965960"/>
            <a:ext cx="2377440" cy="1371600"/>
          </a:xfrm>
          <a:prstGeom prst="rect">
            <a:avLst>
              <a:gd name="adj" fmla="val 2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1965960"/>
            <a:ext cx="2377440" cy="36576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13" name="Text 11"/>
          <p:cNvSpPr/>
          <p:nvPr/>
        </p:nvSpPr>
        <p:spPr>
          <a:xfrm>
            <a:off x="6144768" y="2075688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释放时间 → 投入到研究、设计、架构等创造性工作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7490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aip-server 案例：表结构是我擅长的 → AI 编码我能准确评审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503920" y="4663440"/>
            <a:ext cx="320040" cy="32004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角色转变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过去：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920240" y="1234440"/>
            <a:ext cx="1645920" cy="594360"/>
          </a:xfrm>
          <a:prstGeom prst="rect">
            <a:avLst>
              <a:gd name="adj" fmla="val 4615"/>
            </a:avLst>
          </a:prstGeom>
          <a:solidFill>
            <a:srgbClr val="161B22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20240" y="12344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 ✍️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566160" y="1417320"/>
            <a:ext cx="411480" cy="228600"/>
          </a:xfrm>
          <a:prstGeom prst="rightArrow">
            <a:avLst/>
          </a:prstGeom>
          <a:solidFill>
            <a:srgbClr val="8B94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77640" y="1234440"/>
            <a:ext cx="1645920" cy="594360"/>
          </a:xfrm>
          <a:prstGeom prst="rect">
            <a:avLst>
              <a:gd name="adj" fmla="val 4615"/>
            </a:avLst>
          </a:prstGeom>
          <a:solidFill>
            <a:srgbClr val="161B22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77640" y="12344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 💻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417320"/>
            <a:ext cx="411480" cy="228600"/>
          </a:xfrm>
          <a:prstGeom prst="rightArrow">
            <a:avLst/>
          </a:prstGeom>
          <a:solidFill>
            <a:srgbClr val="8B94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0" y="1234440"/>
            <a:ext cx="1645920" cy="594360"/>
          </a:xfrm>
          <a:prstGeom prst="rect">
            <a:avLst>
              <a:gd name="adj" fmla="val 4615"/>
            </a:avLst>
          </a:prstGeom>
          <a:solidFill>
            <a:srgbClr val="161B22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12344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 🧪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818120" y="13258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全自己做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23774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现在：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920240" y="2286000"/>
            <a:ext cx="1645920" cy="594360"/>
          </a:xfrm>
          <a:prstGeom prst="rect">
            <a:avLst>
              <a:gd name="adj" fmla="val 4615"/>
            </a:avLst>
          </a:prstGeom>
          <a:solidFill>
            <a:srgbClr val="161B22"/>
          </a:solidFill>
          <a:ln w="19050">
            <a:solidFill>
              <a:srgbClr val="2F81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20240" y="228600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 ✍️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566160" y="2468880"/>
            <a:ext cx="411480" cy="228600"/>
          </a:xfrm>
          <a:prstGeom prst="rightArrow">
            <a:avLst/>
          </a:prstGeom>
          <a:solidFill>
            <a:srgbClr val="2F81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77640" y="2286000"/>
            <a:ext cx="1645920" cy="594360"/>
          </a:xfrm>
          <a:prstGeom prst="rect">
            <a:avLst>
              <a:gd name="adj" fmla="val 4615"/>
            </a:avLst>
          </a:prstGeom>
          <a:solidFill>
            <a:srgbClr val="0A2E14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77640" y="228600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编码 🤖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35040" y="2468880"/>
            <a:ext cx="411480" cy="228600"/>
          </a:xfrm>
          <a:prstGeom prst="rightArrow">
            <a:avLst/>
          </a:prstGeom>
          <a:solidFill>
            <a:srgbClr val="2F81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35040" y="2286000"/>
            <a:ext cx="1645920" cy="594360"/>
          </a:xfrm>
          <a:prstGeom prst="rect">
            <a:avLst>
              <a:gd name="adj" fmla="val 4615"/>
            </a:avLst>
          </a:prstGeom>
          <a:solidFill>
            <a:srgbClr val="161B22"/>
          </a:solidFill>
          <a:ln w="19050">
            <a:solidFill>
              <a:srgbClr val="2F81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228600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评审测试 🔍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818120" y="2377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AI分担编码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35661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从'码农'变成'系统架构师'——你画图纸，AI 盖楼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20040" cy="32004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陷阱：AI 会'PUA'你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2377440" cy="1097280"/>
          </a:xfrm>
          <a:prstGeom prst="rect">
            <a:avLst>
              <a:gd name="adj" fmla="val 25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051560"/>
            <a:ext cx="2377440" cy="36576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1161288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永远自信满满，即使方向错误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83280" y="1051560"/>
            <a:ext cx="2377440" cy="1097280"/>
          </a:xfrm>
          <a:prstGeom prst="rect">
            <a:avLst>
              <a:gd name="adj" fmla="val 25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83280" y="1051560"/>
            <a:ext cx="2377440" cy="36576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8" name="Text 6"/>
          <p:cNvSpPr/>
          <p:nvPr/>
        </p:nvSpPr>
        <p:spPr>
          <a:xfrm>
            <a:off x="3493008" y="1161288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语气笃定、逻辑自洽，很容易被'说服'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051560"/>
            <a:ext cx="2377440" cy="1097280"/>
          </a:xfrm>
          <a:prstGeom prst="rect">
            <a:avLst>
              <a:gd name="adj" fmla="val 25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0" y="1051560"/>
            <a:ext cx="2377440" cy="36576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11" name="Text 9"/>
          <p:cNvSpPr/>
          <p:nvPr/>
        </p:nvSpPr>
        <p:spPr>
          <a:xfrm>
            <a:off x="6144768" y="1161288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不会犹豫，不会说'我不确定'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5146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案例回扣：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292608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A2A：AI全程自信地造了一个轮子，46次提交，没有任何犹豫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333756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权限过滤：AI保留这些逻辑时的理由'完全合理'，但缺失了业务上下文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503920" y="4663440"/>
            <a:ext cx="320040" cy="32004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关键问题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057400" y="1005840"/>
            <a:ext cx="5029200" cy="457200"/>
          </a:xfrm>
          <a:prstGeom prst="rect">
            <a:avLst>
              <a:gd name="adj" fmla="val 6000"/>
            </a:avLst>
          </a:prstGeom>
          <a:solidFill>
            <a:srgbClr val="161B22"/>
          </a:solidFill>
          <a:ln w="19050">
            <a:solidFill>
              <a:srgbClr val="2F81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57400" y="10058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把擅长的事交给 AI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434840" y="1463040"/>
            <a:ext cx="274320" cy="182880"/>
          </a:xfrm>
          <a:prstGeom prst="downArrow">
            <a:avLst/>
          </a:prstGeom>
          <a:solidFill>
            <a:srgbClr val="2F81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57400" y="1645920"/>
            <a:ext cx="5029200" cy="457200"/>
          </a:xfrm>
          <a:prstGeom prst="rect">
            <a:avLst>
              <a:gd name="adj" fmla="val 6000"/>
            </a:avLst>
          </a:prstGeom>
          <a:solidFill>
            <a:srgbClr val="161B22"/>
          </a:solidFill>
          <a:ln w="19050">
            <a:solidFill>
              <a:srgbClr val="2F81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57400" y="16459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 AI 会 PUA 你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34840" y="2103120"/>
            <a:ext cx="274320" cy="182880"/>
          </a:xfrm>
          <a:prstGeom prst="downArrow">
            <a:avLst/>
          </a:prstGeom>
          <a:solidFill>
            <a:srgbClr val="2F81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57400" y="2286000"/>
            <a:ext cx="5029200" cy="457200"/>
          </a:xfrm>
          <a:prstGeom prst="rect">
            <a:avLst>
              <a:gd name="adj" fmla="val 6000"/>
            </a:avLst>
          </a:prstGeom>
          <a:solidFill>
            <a:srgbClr val="161B22"/>
          </a:solidFill>
          <a:ln w="19050">
            <a:solidFill>
              <a:srgbClr val="2F81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57400" y="22860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靠个人判断力够吗？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34840" y="2743200"/>
            <a:ext cx="274320" cy="182880"/>
          </a:xfrm>
          <a:prstGeom prst="downArrow">
            <a:avLst/>
          </a:prstGeom>
          <a:solidFill>
            <a:srgbClr val="2F81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57400" y="2926080"/>
            <a:ext cx="5029200" cy="457200"/>
          </a:xfrm>
          <a:prstGeom prst="rect">
            <a:avLst>
              <a:gd name="adj" fmla="val 6000"/>
            </a:avLst>
          </a:prstGeom>
          <a:solidFill>
            <a:srgbClr val="161B22"/>
          </a:solidFill>
          <a:ln w="19050">
            <a:solidFill>
              <a:srgbClr val="2F81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57400" y="29260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单靠经验 → 不可持续、不可复制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34840" y="3383280"/>
            <a:ext cx="274320" cy="182880"/>
          </a:xfrm>
          <a:prstGeom prst="downArrow">
            <a:avLst/>
          </a:prstGeom>
          <a:solidFill>
            <a:srgbClr val="2F81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57400" y="3566160"/>
            <a:ext cx="5029200" cy="457200"/>
          </a:xfrm>
          <a:prstGeom prst="rect">
            <a:avLst>
              <a:gd name="adj" fmla="val 6000"/>
            </a:avLst>
          </a:prstGeom>
          <a:solidFill>
            <a:srgbClr val="161B22"/>
          </a:solidFill>
          <a:ln w="19050">
            <a:solidFill>
              <a:srgbClr val="2F81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57400" y="35661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团队协作？项目复杂了怎么办？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39319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我们需要一套系统化的方法 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8503920" y="4663440"/>
            <a:ext cx="320040" cy="32004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18288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F8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03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371600" y="24688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系统化提升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371600" y="3474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SDD 与 Harness 实践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 SDD？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7863840" cy="640080"/>
          </a:xfrm>
          <a:prstGeom prst="rect">
            <a:avLst>
              <a:gd name="adj" fmla="val 4286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914400"/>
            <a:ext cx="7863840" cy="36576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024128"/>
            <a:ext cx="7644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SDD = Specification-Driven Development（规范驱动开发）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先写说明书，再让 AI 写代码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2240280"/>
            <a:ext cx="3749040" cy="1188720"/>
          </a:xfrm>
          <a:prstGeom prst="rect">
            <a:avLst>
              <a:gd name="adj" fmla="val 2308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240280"/>
            <a:ext cx="3749040" cy="36576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350008"/>
            <a:ext cx="3529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氛围编程 Vibe Coding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9808" y="2670048"/>
            <a:ext cx="352958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凭感觉提需求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 猜着写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写错花几小时修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2240280"/>
            <a:ext cx="3749040" cy="1188720"/>
          </a:xfrm>
          <a:prstGeom prst="rect">
            <a:avLst>
              <a:gd name="adj" fmla="val 2308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2240280"/>
            <a:ext cx="374904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3" name="Text 11"/>
          <p:cNvSpPr/>
          <p:nvPr/>
        </p:nvSpPr>
        <p:spPr>
          <a:xfrm>
            <a:off x="4864608" y="2350008"/>
            <a:ext cx="3529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SDD 规范驱动开发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64608" y="2670048"/>
            <a:ext cx="352958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规范第一，代码第二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拒绝瞎猜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按图施工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566160"/>
            <a:ext cx="7863840" cy="640080"/>
          </a:xfrm>
          <a:prstGeom prst="rect">
            <a:avLst>
              <a:gd name="adj" fmla="val 4286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566160"/>
            <a:ext cx="7863840" cy="36576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3675888"/>
            <a:ext cx="7644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Spec 是人与 AI 之间的契约，是唯一真理来源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9808" y="3995928"/>
            <a:ext cx="76443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代码只是 Spec 的'派生物'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4389120"/>
            <a:ext cx="1874520" cy="365760"/>
          </a:xfrm>
          <a:prstGeom prst="rect">
            <a:avLst>
              <a:gd name="adj" fmla="val 75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3891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目标与价值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697480" y="4389120"/>
            <a:ext cx="1874520" cy="365760"/>
          </a:xfrm>
          <a:prstGeom prst="rect">
            <a:avLst>
              <a:gd name="adj" fmla="val 75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97480" y="43891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🔧 上下文与约束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4389120"/>
            <a:ext cx="1874520" cy="365760"/>
          </a:xfrm>
          <a:prstGeom prst="rect">
            <a:avLst>
              <a:gd name="adj" fmla="val 75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43891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⚙️ 功能逻辑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12280" y="4389120"/>
            <a:ext cx="1874520" cy="365760"/>
          </a:xfrm>
          <a:prstGeom prst="rect">
            <a:avLst>
              <a:gd name="adj" fmla="val 75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12280" y="43891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验证标准（自带TDD基因）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503920" y="4663440"/>
            <a:ext cx="320040" cy="32004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28" name="Text 26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SDD 四阶段工作流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371600" cy="594360"/>
          </a:xfrm>
          <a:prstGeom prst="rect">
            <a:avLst>
              <a:gd name="adj" fmla="val 4615"/>
            </a:avLst>
          </a:prstGeom>
          <a:solidFill>
            <a:srgbClr val="161B22"/>
          </a:solidFill>
          <a:ln w="19050">
            <a:solidFill>
              <a:srgbClr val="2F81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601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Specify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62763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写清楚做什么和为什么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29968" y="1143000"/>
            <a:ext cx="237744" cy="228600"/>
          </a:xfrm>
          <a:prstGeom prst="rightArrow">
            <a:avLst/>
          </a:prstGeom>
          <a:solidFill>
            <a:srgbClr val="2F81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960120"/>
            <a:ext cx="1371600" cy="594360"/>
          </a:xfrm>
          <a:prstGeom prst="rect">
            <a:avLst>
              <a:gd name="adj" fmla="val 4615"/>
            </a:avLst>
          </a:prstGeom>
          <a:solidFill>
            <a:srgbClr val="161B22"/>
          </a:solidFill>
          <a:ln w="19050">
            <a:solidFill>
              <a:srgbClr val="2F81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9601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🏗️ Plan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86000" y="1234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86000" y="162763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确定技术架构和实现路径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75888" y="1143000"/>
            <a:ext cx="237744" cy="228600"/>
          </a:xfrm>
          <a:prstGeom prst="rightArrow">
            <a:avLst/>
          </a:prstGeom>
          <a:solidFill>
            <a:srgbClr val="2F81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31920" y="960120"/>
            <a:ext cx="1371600" cy="594360"/>
          </a:xfrm>
          <a:prstGeom prst="rect">
            <a:avLst>
              <a:gd name="adj" fmla="val 4615"/>
            </a:avLst>
          </a:prstGeom>
          <a:solidFill>
            <a:srgbClr val="161B22"/>
          </a:solidFill>
          <a:ln w="19050">
            <a:solidFill>
              <a:srgbClr val="2F81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0" y="9601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✂️ Task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931920" y="1234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931920" y="162763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拆解为可执行的原子任务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21808" y="1143000"/>
            <a:ext cx="237744" cy="228600"/>
          </a:xfrm>
          <a:prstGeom prst="rightArrow">
            <a:avLst/>
          </a:prstGeom>
          <a:solidFill>
            <a:srgbClr val="2F81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77840" y="960120"/>
            <a:ext cx="1371600" cy="594360"/>
          </a:xfrm>
          <a:prstGeom prst="rect">
            <a:avLst>
              <a:gd name="adj" fmla="val 4615"/>
            </a:avLst>
          </a:prstGeom>
          <a:solidFill>
            <a:srgbClr val="161B22"/>
          </a:solidFill>
          <a:ln w="19050">
            <a:solidFill>
              <a:srgbClr val="2F81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77840" y="9601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 Implement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577840" y="1234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577840" y="162763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AI按图纸干活，人审核验证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178040" y="914400"/>
            <a:ext cx="1600200" cy="777240"/>
          </a:xfrm>
          <a:prstGeom prst="rect">
            <a:avLst>
              <a:gd name="adj" fmla="val 3529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78040" y="914400"/>
            <a:ext cx="160020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4" name="Text 22"/>
          <p:cNvSpPr/>
          <p:nvPr/>
        </p:nvSpPr>
        <p:spPr>
          <a:xfrm>
            <a:off x="7287768" y="1024128"/>
            <a:ext cx="1380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🕒 可预测性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动手前就知道改哪些文件、怎么改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178040" y="1828800"/>
            <a:ext cx="1600200" cy="777240"/>
          </a:xfrm>
          <a:prstGeom prst="rect">
            <a:avLst>
              <a:gd name="adj" fmla="val 3529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78040" y="1828800"/>
            <a:ext cx="160020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7" name="Text 25"/>
          <p:cNvSpPr/>
          <p:nvPr/>
        </p:nvSpPr>
        <p:spPr>
          <a:xfrm>
            <a:off x="7287768" y="1938528"/>
            <a:ext cx="1380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高质量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Spec强制包含测试标准 → TDD基因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178040" y="2743200"/>
            <a:ext cx="1600200" cy="777240"/>
          </a:xfrm>
          <a:prstGeom prst="rect">
            <a:avLst>
              <a:gd name="adj" fmla="val 3529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78040" y="2743200"/>
            <a:ext cx="160020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0" name="Text 28"/>
          <p:cNvSpPr/>
          <p:nvPr/>
        </p:nvSpPr>
        <p:spPr>
          <a:xfrm>
            <a:off x="7287768" y="2852928"/>
            <a:ext cx="1380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📖 易维护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答案在Spec里，不在代码堆里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" y="39319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从'码农'变成'系统架构师'——你画图纸，AI 盖楼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8503920" y="4663440"/>
            <a:ext cx="320040" cy="32004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33" name="Text 31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案例项目：aip-gateway 智能体消息网关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AMG（Agent Message Gateway）核心模块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Apache ShenYu 2.6.1 + Spring WebFlux + R2DBC + Redis Reactive（响应式全链路）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62940" y="1828800"/>
            <a:ext cx="1783080" cy="1051560"/>
          </a:xfrm>
          <a:prstGeom prst="rect">
            <a:avLst>
              <a:gd name="adj" fmla="val 2609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2940" y="19659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F8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209次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62940" y="24688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74620" y="1828800"/>
            <a:ext cx="1783080" cy="1051560"/>
          </a:xfrm>
          <a:prstGeom prst="rect">
            <a:avLst>
              <a:gd name="adj" fmla="val 2609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74620" y="19659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F8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584个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674620" y="24688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Java文件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86300" y="1828800"/>
            <a:ext cx="1783080" cy="1051560"/>
          </a:xfrm>
          <a:prstGeom prst="rect">
            <a:avLst>
              <a:gd name="adj" fmla="val 2609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86300" y="19659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F8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18个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686300" y="24688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插件模块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97980" y="1828800"/>
            <a:ext cx="1783080" cy="1051560"/>
          </a:xfrm>
          <a:prstGeom prst="rect">
            <a:avLst>
              <a:gd name="adj" fmla="val 2609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97980" y="19659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F8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4个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697980" y="24688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支持协议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3832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AMG核心模块：59个Java文件 | 2天完成 | 设计文档从 v1 迭代到 v1.9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503920" y="4663440"/>
            <a:ext cx="320040" cy="32004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SDD 实践：从 PRD 到代码的完整流程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1828800" cy="640080"/>
          </a:xfrm>
          <a:prstGeom prst="rect">
            <a:avLst>
              <a:gd name="adj" fmla="val 4286"/>
            </a:avLst>
          </a:prstGeom>
          <a:solidFill>
            <a:srgbClr val="161B22"/>
          </a:solidFill>
          <a:ln w="19050">
            <a:solidFill>
              <a:srgbClr val="2F81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188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编写PRD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93852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产品需求文档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明确业务目标与范围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340864" y="1408176"/>
            <a:ext cx="256032" cy="201168"/>
          </a:xfrm>
          <a:prstGeom prst="rightArrow">
            <a:avLst/>
          </a:prstGeom>
          <a:solidFill>
            <a:srgbClr val="2F81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06040" y="1188720"/>
            <a:ext cx="1828800" cy="640080"/>
          </a:xfrm>
          <a:prstGeom prst="rect">
            <a:avLst>
              <a:gd name="adj" fmla="val 4286"/>
            </a:avLst>
          </a:prstGeom>
          <a:solidFill>
            <a:srgbClr val="161B22"/>
          </a:solidFill>
          <a:ln w="19050">
            <a:solidFill>
              <a:srgbClr val="2F81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06040" y="1188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 转化为Spec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4796行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06040" y="193852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结构化技术规范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定义接口、逻辑、约束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443984" y="1408176"/>
            <a:ext cx="256032" cy="201168"/>
          </a:xfrm>
          <a:prstGeom prst="rightArrow">
            <a:avLst/>
          </a:prstGeom>
          <a:solidFill>
            <a:srgbClr val="2F81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1188720"/>
            <a:ext cx="1828800" cy="640080"/>
          </a:xfrm>
          <a:prstGeom prst="rect">
            <a:avLst>
              <a:gd name="adj" fmla="val 4286"/>
            </a:avLst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188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🔍 多轮审阅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v1→v1.9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09160" y="193852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反复打磨细节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确保规范完备准确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547104" y="1408176"/>
            <a:ext cx="256032" cy="201168"/>
          </a:xfrm>
          <a:prstGeom prst="rightArrow">
            <a:avLst/>
          </a:prstGeom>
          <a:solidFill>
            <a:srgbClr val="2F81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12280" y="1188720"/>
            <a:ext cx="1828800" cy="640080"/>
          </a:xfrm>
          <a:prstGeom prst="rect">
            <a:avLst>
              <a:gd name="adj" fmla="val 4286"/>
            </a:avLst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12280" y="1188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 Agent Team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12280" y="193852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AI按规范实现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人工审核验证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35661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规范先行 → 审阅到位 → 代码自动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8503920" y="4663440"/>
            <a:ext cx="320040" cy="32004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Spec 的九轮迭代（v1.0 → v1.9）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26948" y="1298448"/>
            <a:ext cx="27432" cy="2633472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097280"/>
            <a:ext cx="201168" cy="201168"/>
          </a:xfrm>
          <a:prstGeom prst="oval">
            <a:avLst/>
          </a:prstGeom>
          <a:solidFill>
            <a:srgbClr val="E3B341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06984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3B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v1.0-v1.2  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基础功能 + 消息持久化 + 能力声明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755648"/>
            <a:ext cx="201168" cy="201168"/>
          </a:xfrm>
          <a:prstGeom prst="oval">
            <a:avLst/>
          </a:prstGeom>
          <a:solidFill>
            <a:srgbClr val="E3B341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72821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3B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v1.3-v1.5  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审阅修复 + 架构定位调整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414016"/>
            <a:ext cx="201168" cy="201168"/>
          </a:xfrm>
          <a:prstGeom prst="oval">
            <a:avLst/>
          </a:prstGeom>
          <a:solidFill>
            <a:srgbClr val="F85149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38658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v1.6  </a:t>
            </a:r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重大定位调整 — AMG定位为数字员工门户消息层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072384"/>
            <a:ext cx="201168" cy="201168"/>
          </a:xfrm>
          <a:prstGeom prst="oval">
            <a:avLst/>
          </a:prstGeom>
          <a:solidFill>
            <a:srgbClr val="E3B341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04495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3B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v1.7-v1.8  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技术栈修正（Spring Boot版本、R2DBC API）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730752"/>
            <a:ext cx="201168" cy="201168"/>
          </a:xfrm>
          <a:prstGeom prst="oval">
            <a:avLst/>
          </a:prstGeom>
          <a:solidFill>
            <a:srgbClr val="3FB950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37033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v1.9  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三轮审阅综合修复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94960" y="1097280"/>
            <a:ext cx="3291840" cy="3474720"/>
          </a:xfrm>
          <a:prstGeom prst="rect">
            <a:avLst>
              <a:gd name="adj" fmla="val 833"/>
            </a:avLst>
          </a:prstGeom>
          <a:solidFill>
            <a:srgbClr val="0D1117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0" y="1170432"/>
            <a:ext cx="3108960" cy="3328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feat:add-design-v1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feat:add-design-v2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feat:add-design-v3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feat:add-design-v4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feat:add-design-v5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feat:add-design-v6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review:round-1-fix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review:round-2-fix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review:round-3-fix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feat:update-to-v1.9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feat:implement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503920" y="4663440"/>
            <a:ext cx="320040" cy="32004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三轮审阅，发现了什么？</a:t>
            </a:r>
            <a:endParaRPr lang="en-US" sz="24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97280"/>
          <a:ext cx="78638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743200"/>
                <a:gridCol w="34747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审阅维度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发现的问题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修正方案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架构定位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AMG被设计成独立服务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重新定位为数字员工门户消息层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技术栈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误用 Spring Boot 3.x API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修正为 2.7.17，与现有网关一致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数据模型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三层关系表述不清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明确 de_catalog → digital_employee → ops_channel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31089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审阅不是走形式，每次审阅都在防止'AI 高效跑偏'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40080" y="36118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3B3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回扣 Part 2 — 这就是系统化地防止'AI PUA 你'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8503920" y="4663440"/>
            <a:ext cx="320040" cy="32004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7" name="Text 4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SDD 成果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77240" y="1051560"/>
            <a:ext cx="2377440" cy="914400"/>
          </a:xfrm>
          <a:prstGeom prst="rect">
            <a:avLst>
              <a:gd name="adj" fmla="val 3000"/>
            </a:avLst>
          </a:prstGeom>
          <a:solidFill>
            <a:srgbClr val="161B22"/>
          </a:solidFill>
          <a:ln w="9525">
            <a:solidFill>
              <a:srgbClr val="2F81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1887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F8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59个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1691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Java文件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383280" y="1051560"/>
            <a:ext cx="2377440" cy="914400"/>
          </a:xfrm>
          <a:prstGeom prst="rect">
            <a:avLst>
              <a:gd name="adj" fmla="val 3000"/>
            </a:avLst>
          </a:prstGeom>
          <a:solidFill>
            <a:srgbClr val="161B22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0" y="11887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仅2天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383280" y="1691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89320" y="1051560"/>
            <a:ext cx="2377440" cy="914400"/>
          </a:xfrm>
          <a:prstGeom prst="rect">
            <a:avLst>
              <a:gd name="adj" fmla="val 3000"/>
            </a:avLst>
          </a:prstGeom>
          <a:solidFill>
            <a:srgbClr val="161B22"/>
          </a:solidFill>
          <a:ln w="9525">
            <a:solidFill>
              <a:srgbClr val="E3B3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89320" y="11887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3B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13,093行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989320" y="1691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 / 71个文件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" y="2240280"/>
            <a:ext cx="3657600" cy="1097280"/>
          </a:xfrm>
          <a:prstGeom prst="rect">
            <a:avLst>
              <a:gd name="adj" fmla="val 25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240280"/>
            <a:ext cx="3657600" cy="36576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14" name="Text 12"/>
          <p:cNvSpPr/>
          <p:nvPr/>
        </p:nvSpPr>
        <p:spPr>
          <a:xfrm>
            <a:off x="886968" y="2350008"/>
            <a:ext cx="3438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aip-server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86968" y="2670048"/>
            <a:ext cx="34381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靠'经验+设计到位'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个人能力驱动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2240280"/>
            <a:ext cx="3657600" cy="1097280"/>
          </a:xfrm>
          <a:prstGeom prst="rect">
            <a:avLst>
              <a:gd name="adj" fmla="val 25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2240280"/>
            <a:ext cx="365760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8" name="Text 16"/>
          <p:cNvSpPr/>
          <p:nvPr/>
        </p:nvSpPr>
        <p:spPr>
          <a:xfrm>
            <a:off x="4818888" y="2350008"/>
            <a:ext cx="3438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aip-gateway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18888" y="2670048"/>
            <a:ext cx="34381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靠'系统化SDD流程'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方法论驱动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3611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同样的结果，但SDD的方式可复制、可团队化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40233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规范先行，代码自动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320040" cy="32004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 Harness Engineering？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371600" y="9144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F8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= Model + Harness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417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模型是马，Harness 是缰绳——光有马不行，还需要一整套驾驭系统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7863840" cy="914400"/>
          </a:xfrm>
          <a:prstGeom prst="rect">
            <a:avLst>
              <a:gd name="adj" fmla="val 3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28800"/>
            <a:ext cx="7863840" cy="36576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938528"/>
            <a:ext cx="7644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 原意'马具'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9808" y="2258568"/>
            <a:ext cx="76443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马速度快、力量大，但不套上缰绳就会跑偏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领域：让 Agent 安全、高效、可控地干活的整套约束系统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2286000" cy="594360"/>
          </a:xfrm>
          <a:prstGeom prst="rect">
            <a:avLst>
              <a:gd name="adj" fmla="val 4615"/>
            </a:avLst>
          </a:prstGeom>
          <a:solidFill>
            <a:srgbClr val="161B22"/>
          </a:solidFill>
          <a:ln w="19050">
            <a:solidFill>
              <a:srgbClr val="E3B3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0175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 Prompt Engineering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08960" y="3200400"/>
            <a:ext cx="320040" cy="228600"/>
          </a:xfrm>
          <a:prstGeom prst="rightArrow">
            <a:avLst/>
          </a:prstGeom>
          <a:solidFill>
            <a:srgbClr val="8B94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9000" y="3017520"/>
            <a:ext cx="2286000" cy="594360"/>
          </a:xfrm>
          <a:prstGeom prst="rect">
            <a:avLst>
              <a:gd name="adj" fmla="val 4615"/>
            </a:avLst>
          </a:prstGeom>
          <a:solidFill>
            <a:srgbClr val="161B22"/>
          </a:solidFill>
          <a:ln w="19050">
            <a:solidFill>
              <a:srgbClr val="2F81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30175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 Context Engineering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3200400"/>
            <a:ext cx="320040" cy="228600"/>
          </a:xfrm>
          <a:prstGeom prst="rightArrow">
            <a:avLst/>
          </a:prstGeom>
          <a:solidFill>
            <a:srgbClr val="8B94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3017520"/>
            <a:ext cx="2286000" cy="594360"/>
          </a:xfrm>
          <a:prstGeom prst="rect">
            <a:avLst>
              <a:gd name="adj" fmla="val 4615"/>
            </a:avLst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30175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Harness Engineering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3B3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一问一答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29000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给上下文帮做事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035040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它自己跑，你约束它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" y="43434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三个阶段是嵌套关系，不是替代关系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503920" y="4663440"/>
            <a:ext cx="320040" cy="32004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 的核心：前馈 + 反馈闭环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3749040" cy="1600200"/>
          </a:xfrm>
          <a:prstGeom prst="rect">
            <a:avLst>
              <a:gd name="adj" fmla="val 1714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05840"/>
            <a:ext cx="3749040" cy="36576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115568"/>
            <a:ext cx="3529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Guides（前馈控制）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1435608"/>
            <a:ext cx="352958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行动之前设好规则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类比：高速公路护栏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CLAUDE.md、编码规范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架构约束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权限分级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749040" cy="1600200"/>
          </a:xfrm>
          <a:prstGeom prst="rect">
            <a:avLst>
              <a:gd name="adj" fmla="val 1714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1005840"/>
            <a:ext cx="374904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9" name="Text 7"/>
          <p:cNvSpPr/>
          <p:nvPr/>
        </p:nvSpPr>
        <p:spPr>
          <a:xfrm>
            <a:off x="4864608" y="1115568"/>
            <a:ext cx="3529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Sensors（反馈控制）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64608" y="1435608"/>
            <a:ext cx="352958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做完之后检测对不对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自动化测试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 lint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 流水线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68680" y="2880360"/>
            <a:ext cx="1645920" cy="347472"/>
          </a:xfrm>
          <a:prstGeom prst="rect">
            <a:avLst>
              <a:gd name="adj" fmla="val 7895"/>
            </a:avLst>
          </a:prstGeom>
          <a:solidFill>
            <a:srgbClr val="161B22"/>
          </a:solidFill>
          <a:ln w="19050">
            <a:solidFill>
              <a:srgbClr val="2F81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8803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Guides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14600" y="2962656"/>
            <a:ext cx="274320" cy="182880"/>
          </a:xfrm>
          <a:prstGeom prst="rightArrow">
            <a:avLst/>
          </a:prstGeom>
          <a:solidFill>
            <a:srgbClr val="8B94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88920" y="2880360"/>
            <a:ext cx="1645920" cy="347472"/>
          </a:xfrm>
          <a:prstGeom prst="rect">
            <a:avLst>
              <a:gd name="adj" fmla="val 7895"/>
            </a:avLst>
          </a:prstGeom>
          <a:solidFill>
            <a:srgbClr val="161B22"/>
          </a:solidFill>
          <a:ln w="19050">
            <a:solidFill>
              <a:srgbClr val="E6ED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88920" y="28803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AI行动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34840" y="2962656"/>
            <a:ext cx="274320" cy="182880"/>
          </a:xfrm>
          <a:prstGeom prst="rightArrow">
            <a:avLst/>
          </a:prstGeom>
          <a:solidFill>
            <a:srgbClr val="8B94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2880360"/>
            <a:ext cx="1645920" cy="347472"/>
          </a:xfrm>
          <a:prstGeom prst="rect">
            <a:avLst>
              <a:gd name="adj" fmla="val 7895"/>
            </a:avLst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28803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Sensors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355080" y="2962656"/>
            <a:ext cx="274320" cy="182880"/>
          </a:xfrm>
          <a:prstGeom prst="rightArrow">
            <a:avLst/>
          </a:prstGeom>
          <a:solidFill>
            <a:srgbClr val="8B94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29400" y="2880360"/>
            <a:ext cx="1645920" cy="347472"/>
          </a:xfrm>
          <a:prstGeom prst="rect">
            <a:avLst>
              <a:gd name="adj" fmla="val 7895"/>
            </a:avLst>
          </a:prstGeom>
          <a:solidFill>
            <a:srgbClr val="161B22"/>
          </a:solidFill>
          <a:ln w="19050">
            <a:solidFill>
              <a:srgbClr val="E3B34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29400" y="28803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3B3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反馈优化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3337560"/>
            <a:ext cx="7863840" cy="457200"/>
          </a:xfrm>
          <a:prstGeom prst="rect">
            <a:avLst>
              <a:gd name="adj" fmla="val 6000"/>
            </a:avLst>
          </a:prstGeom>
          <a:solidFill>
            <a:srgbClr val="2D1A0A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3410712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3B3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每发现 Agent 犯一个错误，就设计方案让它永远不再犯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41605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约束先行——规则靠自动化强制执行，不靠口头约定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20040" cy="32004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 的三大实践支柱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71500" y="1005840"/>
            <a:ext cx="2514600" cy="3291840"/>
          </a:xfrm>
          <a:prstGeom prst="rect">
            <a:avLst>
              <a:gd name="adj" fmla="val 1091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1500" y="1005840"/>
            <a:ext cx="2514600" cy="36576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5" name="Text 3"/>
          <p:cNvSpPr/>
          <p:nvPr/>
        </p:nvSpPr>
        <p:spPr>
          <a:xfrm>
            <a:off x="681228" y="1115568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上下文工程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1228" y="1435608"/>
            <a:ext cx="2295144" cy="2770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 AI 正确的信息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三层体现：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项目级（CLAUDE.md、rules/ = 员工手册）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任务级（Plan、Spec = 任务说明书）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会话级（对话约束 = 日常指导）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14700" y="1005840"/>
            <a:ext cx="2514600" cy="3291840"/>
          </a:xfrm>
          <a:prstGeom prst="rect">
            <a:avLst>
              <a:gd name="adj" fmla="val 1091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14700" y="1005840"/>
            <a:ext cx="251460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9" name="Text 7"/>
          <p:cNvSpPr/>
          <p:nvPr/>
        </p:nvSpPr>
        <p:spPr>
          <a:xfrm>
            <a:off x="3424428" y="1115568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架构约束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24428" y="1435608"/>
            <a:ext cx="2295144" cy="2770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不仅口头要求，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还要机械地强制执行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Lint 规则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 拦截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57900" y="1005840"/>
            <a:ext cx="2514600" cy="3291840"/>
          </a:xfrm>
          <a:prstGeom prst="rect">
            <a:avLst>
              <a:gd name="adj" fmla="val 1091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57900" y="1005840"/>
            <a:ext cx="2514600" cy="36576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13" name="Text 11"/>
          <p:cNvSpPr/>
          <p:nvPr/>
        </p:nvSpPr>
        <p:spPr>
          <a:xfrm>
            <a:off x="6167628" y="1115568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B3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熵管理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67628" y="1435608"/>
            <a:ext cx="2295144" cy="2770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防止混乱累积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清理僵尸代码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修复过期文档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精简规则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503920" y="4663440"/>
            <a:ext cx="320040" cy="32004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案例项目：aip-portal 智能体门户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 Agent 管理平台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Boot 2.7.18 + MyBatis Plus + PostgreSQL + Java 17 | Maven多模块 + Feign + 多数据源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920240"/>
            <a:ext cx="1371600" cy="1188720"/>
          </a:xfrm>
          <a:prstGeom prst="rect">
            <a:avLst>
              <a:gd name="adj" fmla="val 2308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0574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8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259次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85800" y="2560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0" y="1920240"/>
            <a:ext cx="1371600" cy="1188720"/>
          </a:xfrm>
          <a:prstGeom prst="rect">
            <a:avLst>
              <a:gd name="adj" fmla="val 2308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20574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8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72天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286000" y="2560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活跃开发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86200" y="1920240"/>
            <a:ext cx="1371600" cy="1188720"/>
          </a:xfrm>
          <a:prstGeom prst="rect">
            <a:avLst>
              <a:gd name="adj" fmla="val 2308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86200" y="20574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8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281个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886200" y="2560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Java文件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0" y="1920240"/>
            <a:ext cx="1371600" cy="1188720"/>
          </a:xfrm>
          <a:prstGeom prst="rect">
            <a:avLst>
              <a:gd name="adj" fmla="val 2308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0" y="20574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8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57个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486400" y="2560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086600" y="1920240"/>
            <a:ext cx="1371600" cy="1188720"/>
          </a:xfrm>
          <a:prstGeom prst="rect">
            <a:avLst>
              <a:gd name="adj" fmla="val 2308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86600" y="20574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8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4人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086600" y="2560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3566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3B3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这个项目经历了 Harness 从无到有的完整演化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503920" y="4663440"/>
            <a:ext cx="320040" cy="32004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Rules 的演化：从混乱到精炼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188720" y="2834640"/>
            <a:ext cx="1097280" cy="1097280"/>
          </a:xfrm>
          <a:prstGeom prst="rect">
            <a:avLst>
              <a:gd name="adj" fmla="val 1667"/>
            </a:avLst>
          </a:prstGeom>
          <a:solidFill>
            <a:srgbClr val="E3B341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242316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3B3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5487行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88720" y="4069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606040" y="2651760"/>
            <a:ext cx="1097280" cy="1280160"/>
          </a:xfrm>
          <a:prstGeom prst="rect">
            <a:avLst>
              <a:gd name="adj" fmla="val 1667"/>
            </a:avLst>
          </a:prstGeom>
          <a:solidFill>
            <a:srgbClr val="F85149"/>
          </a:solidFill>
          <a:ln/>
        </p:spPr>
      </p:sp>
      <p:sp>
        <p:nvSpPr>
          <p:cNvPr id="7" name="Text 5"/>
          <p:cNvSpPr/>
          <p:nvPr/>
        </p:nvSpPr>
        <p:spPr>
          <a:xfrm>
            <a:off x="2606040" y="22402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~6000行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606040" y="4069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023360" y="3383280"/>
            <a:ext cx="1097280" cy="548640"/>
          </a:xfrm>
          <a:prstGeom prst="rect">
            <a:avLst>
              <a:gd name="adj" fmla="val 3333"/>
            </a:avLst>
          </a:prstGeom>
          <a:solidFill>
            <a:srgbClr val="F85149"/>
          </a:solidFill>
          <a:ln/>
        </p:spPr>
      </p:sp>
      <p:sp>
        <p:nvSpPr>
          <p:cNvPr id="10" name="Text 8"/>
          <p:cNvSpPr/>
          <p:nvPr/>
        </p:nvSpPr>
        <p:spPr>
          <a:xfrm>
            <a:off x="4023360" y="29718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发现根因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paths: **.java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023360" y="4069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2.5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40680" y="3291840"/>
            <a:ext cx="1097280" cy="640080"/>
          </a:xfrm>
          <a:prstGeom prst="rect">
            <a:avLst>
              <a:gd name="adj" fmla="val 2857"/>
            </a:avLst>
          </a:prstGeom>
          <a:solidFill>
            <a:srgbClr val="E3B341"/>
          </a:solidFill>
          <a:ln/>
        </p:spPr>
      </p:sp>
      <p:sp>
        <p:nvSpPr>
          <p:cNvPr id="13" name="Text 11"/>
          <p:cNvSpPr/>
          <p:nvPr/>
        </p:nvSpPr>
        <p:spPr>
          <a:xfrm>
            <a:off x="5440680" y="288036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3B3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~3300行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40680" y="4069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3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58000" y="3867912"/>
            <a:ext cx="1097280" cy="64008"/>
          </a:xfrm>
          <a:prstGeom prst="rect">
            <a:avLst>
              <a:gd name="adj" fmla="val 28571"/>
            </a:avLst>
          </a:prstGeom>
          <a:solidFill>
            <a:srgbClr val="3FB950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0" y="3456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272行 ✅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0" y="4069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4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97280" y="3931920"/>
            <a:ext cx="6949440" cy="1828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9" name="Shape 17"/>
          <p:cNvSpPr/>
          <p:nvPr/>
        </p:nvSpPr>
        <p:spPr>
          <a:xfrm>
            <a:off x="8503920" y="4663440"/>
            <a:ext cx="320040" cy="32004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1-2：混乱与膨胀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657600" cy="1920240"/>
          </a:xfrm>
          <a:prstGeom prst="rect">
            <a:avLst>
              <a:gd name="adj" fmla="val 1429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188720"/>
            <a:ext cx="3657600" cy="36576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298448"/>
            <a:ext cx="3438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1：5487行，20个文件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49808" y="1618488"/>
            <a:ext cx="3438144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把能想到的都塞进去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Token消耗巨大，关键规则被淹没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3657600" cy="1920240"/>
          </a:xfrm>
          <a:prstGeom prst="rect">
            <a:avLst>
              <a:gd name="adj" fmla="val 1429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188720"/>
            <a:ext cx="3657600" cy="36576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9" name="Text 7"/>
          <p:cNvSpPr/>
          <p:nvPr/>
        </p:nvSpPr>
        <p:spPr>
          <a:xfrm>
            <a:off x="4773168" y="1298448"/>
            <a:ext cx="3438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2：~6000+行，24个文件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73168" y="1618488"/>
            <a:ext cx="3438144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踩坑就加规则，越加越多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Token爆炸，AI经常忽略关键规则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474720"/>
            <a:ext cx="7863840" cy="548640"/>
          </a:xfrm>
          <a:prstGeom prst="rect">
            <a:avLst>
              <a:gd name="adj" fmla="val 5000"/>
            </a:avLst>
          </a:prstGeom>
          <a:solidFill>
            <a:srgbClr val="2D1A0A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547872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恶性循环 — 犯错 → 加规则 → 再犯错 → 再加规则……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503920" y="4663440"/>
            <a:ext cx="320040" cy="32004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14" name="Text 12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3-4：清理与精炼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657600" cy="2011680"/>
          </a:xfrm>
          <a:prstGeom prst="rect">
            <a:avLst>
              <a:gd name="adj" fmla="val 1364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188720"/>
            <a:ext cx="3657600" cy="36576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298448"/>
            <a:ext cx="3438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3：删掉2714行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49808" y="1618488"/>
            <a:ext cx="3438144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意识到：规范不是越多越好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rules/是token预算管理，不是wiki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详细文档移到docs/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3657600" cy="2011680"/>
          </a:xfrm>
          <a:prstGeom prst="rect">
            <a:avLst>
              <a:gd name="adj" fmla="val 1364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188720"/>
            <a:ext cx="365760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9" name="Text 7"/>
          <p:cNvSpPr/>
          <p:nvPr/>
        </p:nvSpPr>
        <p:spPr>
          <a:xfrm>
            <a:off x="4773168" y="1298448"/>
            <a:ext cx="3438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4：最终272行（压缩率95%）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73168" y="1618488"/>
            <a:ext cx="3438144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只保留AI必须知道的约束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质量稳定，Token可控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749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2026-04-01: 精简rules → 04-09: 规范移至docs（仅9天完成重构）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503920" y="4663440"/>
            <a:ext cx="320040" cy="32004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13" name="Text 11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 最终形态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3657600" cy="2286000"/>
          </a:xfrm>
          <a:prstGeom prst="rect">
            <a:avLst>
              <a:gd name="adj" fmla="val 12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3657600" cy="36576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207008"/>
            <a:ext cx="3438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Before（Phase 1）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49808" y="1527048"/>
            <a:ext cx="3438144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5487行，20个文件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所有规范堆在一个目录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每次全部加载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3657600" cy="2286000"/>
          </a:xfrm>
          <a:prstGeom prst="rect">
            <a:avLst>
              <a:gd name="adj" fmla="val 12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097280"/>
            <a:ext cx="365760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9" name="Text 7"/>
          <p:cNvSpPr/>
          <p:nvPr/>
        </p:nvSpPr>
        <p:spPr>
          <a:xfrm>
            <a:off x="4773168" y="1207008"/>
            <a:ext cx="3438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After（Phase 4）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73168" y="1527048"/>
            <a:ext cx="3438144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EE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.claude/rules/ 核心约束，自动加载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EE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ARCHITECTURE.md (124行)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EE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CODE-STYLE.md (14行)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EE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testing.md (134行)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EE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docs/code-style/ 详细规范，按需引用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EE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01-naming.md ... 共8个文档，838行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8404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核心约束 → 自动加载（每次会话）  |  详细规范 → 按需加载（AI自行查阅）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503920" y="4663440"/>
            <a:ext cx="320040" cy="32004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13" name="Text 11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Rules 演化的关键经验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2377440" cy="1645920"/>
          </a:xfrm>
          <a:prstGeom prst="rect">
            <a:avLst>
              <a:gd name="adj" fmla="val 1667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188720"/>
            <a:ext cx="2377440" cy="36576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1298448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rules/ 是 token 预算管理，不是 wiki — 每一行都要有价值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383280" y="1188720"/>
            <a:ext cx="2377440" cy="1645920"/>
          </a:xfrm>
          <a:prstGeom prst="rect">
            <a:avLst>
              <a:gd name="adj" fmla="val 1667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83280" y="1188720"/>
            <a:ext cx="2377440" cy="36576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8" name="Text 6"/>
          <p:cNvSpPr/>
          <p:nvPr/>
        </p:nvSpPr>
        <p:spPr>
          <a:xfrm>
            <a:off x="3493008" y="1298448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规范不是越多越好，而是越精炼越好 — 少即是多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35040" y="1188720"/>
            <a:ext cx="2377440" cy="1645920"/>
          </a:xfrm>
          <a:prstGeom prst="rect">
            <a:avLst>
              <a:gd name="adj" fmla="val 1667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0" y="1188720"/>
            <a:ext cx="2377440" cy="36576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11" name="Text 9"/>
          <p:cNvSpPr/>
          <p:nvPr/>
        </p:nvSpPr>
        <p:spPr>
          <a:xfrm>
            <a:off x="6144768" y="1298448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每次踩坑都是完善规范的机会 — 复盘驱动改进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383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04-01优化 → 04-01精简 → 04-02整理 → 04-09规范移docs（9天趋于稳定）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503920" y="4663440"/>
            <a:ext cx="320040" cy="32004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14" name="Text 12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两种路径对比</a:t>
            </a:r>
            <a:endParaRPr lang="en-US" sz="24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97280"/>
          <a:ext cx="7863840" cy="914400"/>
        </p:xfrm>
        <a:graphic>
          <a:graphicData uri="http://schemas.openxmlformats.org/drawingml/2006/table">
            <a:tbl>
              <a:tblPr/>
              <a:tblGrid>
                <a:gridCol w="1179576"/>
                <a:gridCol w="3342132"/>
                <a:gridCol w="3342132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aip-gateway（SDD驱动）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aip-portal（Harness演化）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核心理念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规范先行，代码自动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从混乱中提炼秩序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规范建设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Day 1就建Spec（v1→v1.9）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踩坑后逐步建立（Phase 1→4）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混乱期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基本没有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经历了约2个月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rules/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集中在CLAUDE.md（237行）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分层 rules/ + docs/（272行+838行）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开发效率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AMG核心模块 2天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259次提交，72天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39319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有了方法论之后，新项目可以少走很多弯路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8503920" y="4663440"/>
            <a:ext cx="320040" cy="32004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6" name="Text 3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18288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F8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04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371600" y="24688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工具链与实战技巧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371600" y="3474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可以立即带走的东西</a:t>
            </a:r>
            <a:endParaRPr lang="en-US" sz="1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Code — AI 编程的终端工具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3657600" cy="1463040"/>
          </a:xfrm>
          <a:prstGeom prst="rect">
            <a:avLst>
              <a:gd name="adj" fmla="val 1875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05840"/>
            <a:ext cx="3657600" cy="36576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115568"/>
            <a:ext cx="3438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🖥️ 终端零距离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9808" y="1435608"/>
            <a:ext cx="343814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直接在终端工作，与项目代码零距离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657600" cy="1463040"/>
          </a:xfrm>
          <a:prstGeom prst="rect">
            <a:avLst>
              <a:gd name="adj" fmla="val 1875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1005840"/>
            <a:ext cx="3657600" cy="36576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9" name="Text 7"/>
          <p:cNvSpPr/>
          <p:nvPr/>
        </p:nvSpPr>
        <p:spPr>
          <a:xfrm>
            <a:off x="4864608" y="1115568"/>
            <a:ext cx="3438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🔄 全流程闭环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64608" y="1435608"/>
            <a:ext cx="343814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支持读取、编辑、执行，全流程闭环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743200"/>
            <a:ext cx="3657600" cy="1463040"/>
          </a:xfrm>
          <a:prstGeom prst="rect">
            <a:avLst>
              <a:gd name="adj" fmla="val 1875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743200"/>
            <a:ext cx="3657600" cy="36576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2852928"/>
            <a:ext cx="3438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 自动加载上下文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49808" y="3172968"/>
            <a:ext cx="343814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自动加载 CLAUDE.md 和 rules/，理解项目上下文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2743200"/>
            <a:ext cx="3657600" cy="1463040"/>
          </a:xfrm>
          <a:prstGeom prst="rect">
            <a:avLst>
              <a:gd name="adj" fmla="val 1875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2743200"/>
            <a:ext cx="3657600" cy="36576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17" name="Text 15"/>
          <p:cNvSpPr/>
          <p:nvPr/>
        </p:nvSpPr>
        <p:spPr>
          <a:xfrm>
            <a:off x="4864608" y="2852928"/>
            <a:ext cx="3438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🚀 高级功能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64608" y="3172968"/>
            <a:ext cx="343814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Plan模式 / Worktree并行 / Agent Team 协作等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503920" y="4663440"/>
            <a:ext cx="320040" cy="32004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cc-switch — Claude Code 配置切换工具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快速切换不同的 Claude Code 配置（模型选择、权限设置等）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7863840" cy="1005840"/>
          </a:xfrm>
          <a:prstGeom prst="rect">
            <a:avLst>
              <a:gd name="adj" fmla="val 2727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17320"/>
            <a:ext cx="7863840" cy="36576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527048"/>
            <a:ext cx="7644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📁 不同项目需要不同配置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" y="1847088"/>
            <a:ext cx="764438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 项目 vs 前端项目，规范、依赖、工具链各不相同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651760"/>
            <a:ext cx="7863840" cy="1005840"/>
          </a:xfrm>
          <a:prstGeom prst="rect">
            <a:avLst>
              <a:gd name="adj" fmla="val 2727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651760"/>
            <a:ext cx="786384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761488"/>
            <a:ext cx="7644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🧩 复杂任务用强模型，简单任务用快模型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49808" y="3081528"/>
            <a:ext cx="764438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按任务难度动态切换，平衡质量与速度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886200"/>
            <a:ext cx="7863840" cy="1005840"/>
          </a:xfrm>
          <a:prstGeom prst="rect">
            <a:avLst>
              <a:gd name="adj" fmla="val 2727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886200"/>
            <a:ext cx="7863840" cy="36576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3995928"/>
            <a:ext cx="7644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👥 团队成员共享配置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49808" y="4315968"/>
            <a:ext cx="764438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统一团队规范，减少'在我机器上能跑'的问题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503920" y="4663440"/>
            <a:ext cx="320040" cy="32004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技巧一：小步快跑，持续验证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645920" y="1051560"/>
            <a:ext cx="1645920" cy="502920"/>
          </a:xfrm>
          <a:prstGeom prst="rect">
            <a:avLst>
              <a:gd name="adj" fmla="val 5455"/>
            </a:avLst>
          </a:prstGeom>
          <a:solidFill>
            <a:srgbClr val="161B22"/>
          </a:solidFill>
          <a:ln w="19050">
            <a:solidFill>
              <a:srgbClr val="2F81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0" y="10515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337560" y="1188720"/>
            <a:ext cx="365760" cy="228600"/>
          </a:xfrm>
          <a:prstGeom prst="rightArrow">
            <a:avLst/>
          </a:prstGeom>
          <a:solidFill>
            <a:srgbClr val="8B94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49040" y="1051560"/>
            <a:ext cx="1645920" cy="502920"/>
          </a:xfrm>
          <a:prstGeom prst="rect">
            <a:avLst>
              <a:gd name="adj" fmla="val 5455"/>
            </a:avLst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49040" y="10515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40680" y="1188720"/>
            <a:ext cx="365760" cy="228600"/>
          </a:xfrm>
          <a:prstGeom prst="rightArrow">
            <a:avLst/>
          </a:prstGeom>
          <a:solidFill>
            <a:srgbClr val="8B94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52160" y="1051560"/>
            <a:ext cx="1645920" cy="502920"/>
          </a:xfrm>
          <a:prstGeom prst="rect">
            <a:avLst>
              <a:gd name="adj" fmla="val 5455"/>
            </a:avLst>
          </a:prstGeom>
          <a:solidFill>
            <a:srgbClr val="161B22"/>
          </a:solidFill>
          <a:ln w="19050">
            <a:solidFill>
              <a:srgbClr val="E3B3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0" y="10515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0" y="11430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↩ 循环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1920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 生成快 → 错误积累也快 → 一次贪多反而更慢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226771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每完成一个模块就验证，而不是全部完成后再测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2615184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遇到问题再'磨刀'，不提前过度设计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2004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aip-portal 早期一次做大模块导致批量返工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503920" y="4663440"/>
            <a:ext cx="320040" cy="32004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技巧二：先建立认知，再让 AI 干活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371600" y="10972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你的认知边界 = AI 效率上限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3657600" cy="1645920"/>
          </a:xfrm>
          <a:prstGeom prst="rect">
            <a:avLst>
              <a:gd name="adj" fmla="val 1667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920240"/>
            <a:ext cx="3657600" cy="36576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2029968"/>
            <a:ext cx="3438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直接让AI干（不了解领域）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95528" y="2350008"/>
            <a:ext cx="343814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A2A案例 / 16天 / 141,026行废弃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00600" y="1920240"/>
            <a:ext cx="3657600" cy="1645920"/>
          </a:xfrm>
          <a:prstGeom prst="rect">
            <a:avLst>
              <a:gd name="adj" fmla="val 1667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0600" y="1920240"/>
            <a:ext cx="365760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0" name="Text 8"/>
          <p:cNvSpPr/>
          <p:nvPr/>
        </p:nvSpPr>
        <p:spPr>
          <a:xfrm>
            <a:off x="4910328" y="2029968"/>
            <a:ext cx="3438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先调研建立认知（2小时）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10328" y="2350008"/>
            <a:ext cx="343814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用SDK / 3天 / 仅1,786行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8404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新领域先让 AI 帮你调研、梳理认知框架，再进入编码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503920" y="4663440"/>
            <a:ext cx="320040" cy="32004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14" name="Text 12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技巧三：协作模式选择矩阵</a:t>
            </a:r>
            <a:endParaRPr lang="en-US" sz="24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97280"/>
          <a:ext cx="78638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560320"/>
                <a:gridCol w="30175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场景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推荐模式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明确的小任务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直接对话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给清楚需求，AI直接做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复杂功能开发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Plan 模式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先让AI规划，确认后执行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多任务并行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Worktree + Agent Team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隔离开发，互不干扰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新领域探索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调研先行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先让AI帮你建认知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代码评审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只读模式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AI读代码，人做决策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503920" y="4663440"/>
            <a:ext cx="320040" cy="32004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5" name="Text 2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立即可用：新手入门三步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2377440" cy="1005840"/>
          </a:xfrm>
          <a:prstGeom prst="rect">
            <a:avLst>
              <a:gd name="adj" fmla="val 2727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051560"/>
            <a:ext cx="2377440" cy="36576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1161288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1248" y="1481328"/>
            <a:ext cx="215798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从一个小模块或小项目开始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051560"/>
            <a:ext cx="2377440" cy="1005840"/>
          </a:xfrm>
          <a:prstGeom prst="rect">
            <a:avLst>
              <a:gd name="adj" fmla="val 2727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83280" y="1051560"/>
            <a:ext cx="2377440" cy="36576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9" name="Text 7"/>
          <p:cNvSpPr/>
          <p:nvPr/>
        </p:nvSpPr>
        <p:spPr>
          <a:xfrm>
            <a:off x="3493008" y="1161288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B3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93008" y="1481328"/>
            <a:ext cx="215798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写好你的第一个 CLAUDE.md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051560"/>
            <a:ext cx="2377440" cy="1005840"/>
          </a:xfrm>
          <a:prstGeom prst="rect">
            <a:avLst>
              <a:gd name="adj" fmla="val 2727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1051560"/>
            <a:ext cx="237744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3" name="Text 11"/>
          <p:cNvSpPr/>
          <p:nvPr/>
        </p:nvSpPr>
        <p:spPr>
          <a:xfrm>
            <a:off x="6144768" y="1161288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144768" y="1481328"/>
            <a:ext cx="215798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养成'设计 → AI 实现 → 验证'的习惯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29000" y="2377440"/>
            <a:ext cx="2286000" cy="1371600"/>
          </a:xfrm>
          <a:prstGeom prst="rect">
            <a:avLst>
              <a:gd name="adj" fmla="val 2000"/>
            </a:avLst>
          </a:prstGeom>
          <a:solidFill>
            <a:srgbClr val="0D1117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20440" y="2450592"/>
            <a:ext cx="21031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最小化 CLAUDE.md 模板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技术栈：Java 17 + Spring Boot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2.7 + PostgreSQL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约定：统一分页 TypedSearchParam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PageResult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API返回：Result&lt;T&gt; 包装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429000" y="21305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3B3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CLAUDE.md 示例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108960" y="12801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760720" y="12801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503920" y="4663440"/>
            <a:ext cx="320040" cy="32004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进阶：搭建项目级 Harness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2377440" cy="1828800"/>
          </a:xfrm>
          <a:prstGeom prst="rect">
            <a:avLst>
              <a:gd name="adj" fmla="val 15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051560"/>
            <a:ext cx="2377440" cy="36576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1161288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搭建 Harness 分层结构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41248" y="1481328"/>
            <a:ext cx="215798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CLAUDE.md（导航，20-30行）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rules/ARCHITECTURE.md（架构约束）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docs/（详细规范，按需引用）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83280" y="1051560"/>
            <a:ext cx="2377440" cy="1828800"/>
          </a:xfrm>
          <a:prstGeom prst="rect">
            <a:avLst>
              <a:gd name="adj" fmla="val 15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83280" y="1051560"/>
            <a:ext cx="2377440" cy="36576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9" name="Text 7"/>
          <p:cNvSpPr/>
          <p:nvPr/>
        </p:nvSpPr>
        <p:spPr>
          <a:xfrm>
            <a:off x="3493008" y="1161288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尝试 Worktree 并行开发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93008" y="1481328"/>
            <a:ext cx="215798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aip-portal 用了24个worktree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多任务互不干扰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 worktree 独立上下文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35040" y="1051560"/>
            <a:ext cx="2377440" cy="1828800"/>
          </a:xfrm>
          <a:prstGeom prst="rect">
            <a:avLst>
              <a:gd name="adj" fmla="val 15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1051560"/>
            <a:ext cx="2377440" cy="36576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13" name="Text 11"/>
          <p:cNvSpPr/>
          <p:nvPr/>
        </p:nvSpPr>
        <p:spPr>
          <a:xfrm>
            <a:off x="6144768" y="1161288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建立复盘习惯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44768" y="1481328"/>
            <a:ext cx="215798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踩坑 → 补规范 → 定期精简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形成正向循环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团队共享经验沉淀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从个人习惯到团队规范，Harness 是可复制的 AI 协作基础设施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503920" y="4663440"/>
            <a:ext cx="320040" cy="32004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给观望者：从一个最小场景开始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2377440" cy="1645920"/>
          </a:xfrm>
          <a:prstGeom prst="rect">
            <a:avLst>
              <a:gd name="adj" fmla="val 1667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051560"/>
            <a:ext cx="237744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1161288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场景1：让 AI 写单元测试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41248" y="1481328"/>
            <a:ext cx="215798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最低风险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无需改动业务代码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快速验证 AI 能力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83280" y="1051560"/>
            <a:ext cx="2377440" cy="1645920"/>
          </a:xfrm>
          <a:prstGeom prst="rect">
            <a:avLst>
              <a:gd name="adj" fmla="val 1667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83280" y="1051560"/>
            <a:ext cx="237744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9" name="Text 7"/>
          <p:cNvSpPr/>
          <p:nvPr/>
        </p:nvSpPr>
        <p:spPr>
          <a:xfrm>
            <a:off x="3493008" y="1161288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场景2：让 AI 做代码评审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93008" y="1481328"/>
            <a:ext cx="215798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只读，风险为零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 AI 的分析视角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辅助发现潜在问题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35040" y="1051560"/>
            <a:ext cx="2377440" cy="1645920"/>
          </a:xfrm>
          <a:prstGeom prst="rect">
            <a:avLst>
              <a:gd name="adj" fmla="val 1667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1051560"/>
            <a:ext cx="237744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3" name="Text 11"/>
          <p:cNvSpPr/>
          <p:nvPr/>
        </p:nvSpPr>
        <p:spPr>
          <a:xfrm>
            <a:off x="6144768" y="1161288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场景3：让 AI 写 CRUD 接口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44768" y="1481328"/>
            <a:ext cx="215798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快速体验效率提升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模板化、可预测的工作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结果容易验证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4297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感受到效率提升后，自然会扩大使用范围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503920" y="4663440"/>
            <a:ext cx="320040" cy="32004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AI 效率确定，不确定的是人的引导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把最擅长的事交给 AI，释放时间做更有价值的事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2560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用 SDD + Harness 系统化地驾驭 AI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从'码农'变成'系统架构师'——你画图纸，AI 盖楼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503920" y="4663440"/>
            <a:ext cx="320040" cy="32004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8" name="Text 6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4630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25603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F8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&amp; 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联系方式占位符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开发中的 AI 协作编程实践</dc:title>
  <dc:subject>PptxGenJS Presentation</dc:subject>
  <dc:creator>eric</dc:creator>
  <cp:lastModifiedBy>eric</cp:lastModifiedBy>
  <cp:revision>1</cp:revision>
  <dcterms:created xsi:type="dcterms:W3CDTF">2026-04-15T04:53:21Z</dcterms:created>
  <dcterms:modified xsi:type="dcterms:W3CDTF">2026-04-15T04:53:21Z</dcterms:modified>
</cp:coreProperties>
</file>