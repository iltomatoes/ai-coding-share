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1828800"/>
            <a:ext cx="36576" cy="320040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274320"/>
            <a:ext cx="1097280" cy="54864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0" y="274320"/>
            <a:ext cx="54864" cy="73152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15600" y="6492240"/>
            <a:ext cx="1097280" cy="54864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12880" y="5943600"/>
            <a:ext cx="54864" cy="603504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4200" b="1">
                <a:solidFill>
                  <a:srgbClr val="FFFFFF"/>
                </a:solidFill>
                <a:latin typeface="微软雅黑"/>
              </a:defRPr>
            </a:pPr>
            <a:r>
              <a:t>Java 开发中的 AI 协作编程实战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57600"/>
            <a:ext cx="36576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BBBBCC"/>
                </a:solidFill>
                <a:latin typeface="微软雅黑"/>
              </a:defRPr>
            </a:pPr>
            <a:r>
              <a:t>从"氛围编程"到"驾驭工程" —— 来自 793+ 个真实会话的实践经验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我的 AI 编程实践——真实数据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8047" y="2011680"/>
            <a:ext cx="3200400" cy="1828800"/>
          </a:xfrm>
          <a:prstGeom prst="roundRect">
            <a:avLst/>
          </a:prstGeom>
          <a:solidFill>
            <a:srgbClr val="1A2442"/>
          </a:solidFill>
          <a:ln w="1270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29487" y="2011680"/>
            <a:ext cx="301752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9487" y="219456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3600" b="1">
                <a:solidFill>
                  <a:srgbClr val="00D2FF"/>
                </a:solidFill>
                <a:latin typeface="微软雅黑"/>
              </a:defRPr>
            </a:pPr>
            <a:r>
              <a:t>793+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207" y="29260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0">
                <a:solidFill>
                  <a:srgbClr val="BBBBCC"/>
                </a:solidFill>
                <a:latin typeface="微软雅黑"/>
              </a:defRPr>
            </a:pPr>
            <a:r>
              <a:t>Claude Code 会话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647" y="2011680"/>
            <a:ext cx="3200400" cy="1828800"/>
          </a:xfrm>
          <a:prstGeom prst="roundRect">
            <a:avLst/>
          </a:prstGeom>
          <a:solidFill>
            <a:srgbClr val="1A2442"/>
          </a:solidFill>
          <a:ln w="1270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87087" y="2011680"/>
            <a:ext cx="301752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7087" y="219456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3600" b="1">
                <a:solidFill>
                  <a:srgbClr val="00D2FF"/>
                </a:solidFill>
                <a:latin typeface="微软雅黑"/>
              </a:defRPr>
            </a:pPr>
            <a:r>
              <a:t>50+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2807" y="29260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0">
                <a:solidFill>
                  <a:srgbClr val="BBBBCC"/>
                </a:solidFill>
                <a:latin typeface="微软雅黑"/>
              </a:defRPr>
            </a:pPr>
            <a:r>
              <a:t>活跃项目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3247" y="2011680"/>
            <a:ext cx="3200400" cy="1828800"/>
          </a:xfrm>
          <a:prstGeom prst="roundRect">
            <a:avLst/>
          </a:prstGeom>
          <a:solidFill>
            <a:srgbClr val="1A2442"/>
          </a:solidFill>
          <a:ln w="1270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44687" y="2011680"/>
            <a:ext cx="301752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687" y="219456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3600" b="1">
                <a:solidFill>
                  <a:srgbClr val="00D2FF"/>
                </a:solidFill>
                <a:latin typeface="微软雅黑"/>
              </a:defRPr>
            </a:pPr>
            <a:r>
              <a:t>1,000~6,000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407" y="29260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0">
                <a:solidFill>
                  <a:srgbClr val="BBBBCC"/>
                </a:solidFill>
                <a:latin typeface="微软雅黑"/>
              </a:defRPr>
            </a:pPr>
            <a:r>
              <a:t>日均消息量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8047" y="4297680"/>
            <a:ext cx="3200400" cy="1828800"/>
          </a:xfrm>
          <a:prstGeom prst="roundRect">
            <a:avLst/>
          </a:prstGeom>
          <a:solidFill>
            <a:srgbClr val="1A2442"/>
          </a:solidFill>
          <a:ln w="1270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9487" y="4297680"/>
            <a:ext cx="301752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487" y="448056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3600" b="1">
                <a:solidFill>
                  <a:srgbClr val="00D2FF"/>
                </a:solidFill>
                <a:latin typeface="微软雅黑"/>
              </a:defRPr>
            </a:pPr>
            <a:r>
              <a:t>256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5207" y="52120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0">
                <a:solidFill>
                  <a:srgbClr val="BBBBCC"/>
                </a:solidFill>
                <a:latin typeface="微软雅黑"/>
              </a:defRPr>
            </a:pPr>
            <a:r>
              <a:t>aip-portal 提交数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95647" y="4297680"/>
            <a:ext cx="3200400" cy="1828800"/>
          </a:xfrm>
          <a:prstGeom prst="roundRect">
            <a:avLst/>
          </a:prstGeom>
          <a:solidFill>
            <a:srgbClr val="1A2442"/>
          </a:solidFill>
          <a:ln w="1270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87087" y="4297680"/>
            <a:ext cx="301752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87087" y="448056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3600" b="1">
                <a:solidFill>
                  <a:srgbClr val="00D2FF"/>
                </a:solidFill>
                <a:latin typeface="微软雅黑"/>
              </a:defRPr>
            </a:pPr>
            <a:r>
              <a:t>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2807" y="52120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0">
                <a:solidFill>
                  <a:srgbClr val="BBBBCC"/>
                </a:solidFill>
                <a:latin typeface="微软雅黑"/>
              </a:defRPr>
            </a:pPr>
            <a:r>
              <a:t>Worktree 并行开发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53247" y="4297680"/>
            <a:ext cx="3200400" cy="1828800"/>
          </a:xfrm>
          <a:prstGeom prst="roundRect">
            <a:avLst/>
          </a:prstGeom>
          <a:solidFill>
            <a:srgbClr val="1A2442"/>
          </a:solidFill>
          <a:ln w="1270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44687" y="4297680"/>
            <a:ext cx="301752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4687" y="448056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3600" b="1">
                <a:solidFill>
                  <a:srgbClr val="00D2FF"/>
                </a:solidFill>
                <a:latin typeface="微软雅黑"/>
              </a:defRPr>
            </a:pPr>
            <a:r>
              <a:t>95%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0407" y="52120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0">
                <a:solidFill>
                  <a:srgbClr val="BBBBCC"/>
                </a:solidFill>
                <a:latin typeface="微软雅黑"/>
              </a:defRPr>
            </a:pPr>
            <a:r>
              <a:t>Rules 压缩率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核心观点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FD43B"/>
                </a:solidFill>
                <a:latin typeface="微软雅黑"/>
              </a:defRPr>
            </a:pPr>
            <a:r>
              <a:t>  ▶  AI 编程不是"让 AI 替你写代码"，而是"人掌舵，AI 执行"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spcAft>
                <a:spcPts val="600"/>
              </a:spcAft>
              <a:defRPr sz="1900" b="1">
                <a:solidFill>
                  <a:srgbClr val="00D2FF"/>
                </a:solidFill>
                <a:latin typeface="微软雅黑"/>
              </a:defRPr>
            </a:pPr>
            <a:r>
              <a:t>  ◆  角色转变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BBBBCC"/>
                </a:solidFill>
                <a:latin typeface="微软雅黑"/>
              </a:defRPr>
            </a:pPr>
            <a:r>
              <a:t>    ◦ 从"代码作者"到"系统设计师"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BBBBCC"/>
                </a:solidFill>
                <a:latin typeface="微软雅黑"/>
              </a:defRPr>
            </a:pPr>
            <a:r>
              <a:t>    ◦ 从"氛围编程(Vibe Coding)"到"驾驭工程(Harness Engineering)"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spcAft>
                <a:spcPts val="600"/>
              </a:spcAft>
              <a:defRPr sz="1900" b="1">
                <a:solidFill>
                  <a:srgbClr val="00D2FF"/>
                </a:solidFill>
                <a:latin typeface="微软雅黑"/>
              </a:defRPr>
            </a:pPr>
            <a:r>
              <a:t>  ◆  今天的分享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BBBBCC"/>
                </a:solidFill>
                <a:latin typeface="微软雅黑"/>
              </a:defRPr>
            </a:pPr>
            <a:r>
              <a:t>    ◦ 我在 AI 编程中踩过的坑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51CF66"/>
                </a:solidFill>
                <a:latin typeface="微软雅黑"/>
              </a:defRPr>
            </a:pPr>
            <a:r>
              <a:t>    ◦ 以及如何建立起有效的协作体系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从"氛围编程"到"驾驭工程"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03520" cy="4754880"/>
          </a:xfrm>
          <a:prstGeom prst="roundRect">
            <a:avLst/>
          </a:prstGeom>
          <a:solidFill>
            <a:srgbClr val="1A2442"/>
          </a:solidFill>
          <a:ln w="1270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530352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900" b="1">
                <a:solidFill>
                  <a:srgbClr val="00D2FF"/>
                </a:solidFill>
                <a:latin typeface="微软雅黑"/>
              </a:defRPr>
            </a:pPr>
            <a:r>
              <a:t>❌ 氛围编程 (Vibe Coding)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• 告诉 AI 需求，让它自由发挥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• 不做技术选型，让 AI 自己决定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• 缺少审查，直接采纳大量代码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• Git 记录：连续的 fix fix fix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• 结果：快速生成 → 大量返工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• 典型：A2A 适配器 17 天返工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737360"/>
            <a:ext cx="18288" cy="420624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303520" cy="4754880"/>
          </a:xfrm>
          <a:prstGeom prst="roundRect">
            <a:avLst/>
          </a:prstGeom>
          <a:solidFill>
            <a:srgbClr val="1A2442"/>
          </a:solidFill>
          <a:ln w="1270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5303520" cy="54864"/>
          </a:xfrm>
          <a:prstGeom prst="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4592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900" b="1">
                <a:solidFill>
                  <a:srgbClr val="51CF66"/>
                </a:solidFill>
                <a:latin typeface="微软雅黑"/>
              </a:defRPr>
            </a:pPr>
            <a:r>
              <a:t>✅ 驾驭工程 (Harness Engineering)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0312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• 人做技术选型和架构设计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• 通过规则约束 AI 的工作范围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• 小批量推进，逐步验证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• Git 记录：清晰的阶段划分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• 结果：方向正确，返工减少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• 典型：aip-portal 24 个模块并行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5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2000" b="1">
                <a:solidFill>
                  <a:srgbClr val="1E2D50"/>
                </a:solidFill>
                <a:latin typeface="微软雅黑"/>
              </a:defRPr>
            </a:pPr>
            <a: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286000"/>
            <a:ext cx="8869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800" b="1">
                <a:solidFill>
                  <a:srgbClr val="00D2FF"/>
                </a:solidFill>
                <a:latin typeface="微软雅黑"/>
              </a:defRPr>
            </a:pPr>
            <a:r>
              <a:t>AI 编程的核心不是"生成"，而是"驾驭"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4754880"/>
            <a:ext cx="8869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BBBBCC"/>
                </a:solidFill>
                <a:latin typeface="微软雅黑"/>
              </a:defRPr>
            </a:pPr>
            <a:r>
              <a:t>—— 核心观点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5669280"/>
            <a:ext cx="210312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5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4572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00D2FF"/>
                </a:solidFill>
                <a:latin typeface="微软雅黑"/>
              </a:defRPr>
            </a:pPr>
            <a:r>
              <a:t>第一部分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48640"/>
            <a:ext cx="73152" cy="25603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驾驭 AI——从混乱到有序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749039"/>
            <a:ext cx="45720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0233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BBBBCC"/>
                </a:solidFill>
                <a:latin typeface="微软雅黑"/>
              </a:defRPr>
            </a:pPr>
            <a:r>
              <a:t>我踩过的坑，以及怎么建立起有效的协作体系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蜜月期与翻车期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03520" cy="4754880"/>
          </a:xfrm>
          <a:prstGeom prst="roundRect">
            <a:avLst/>
          </a:prstGeom>
          <a:solidFill>
            <a:srgbClr val="1A2442"/>
          </a:solidFill>
          <a:ln w="1270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530352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900" b="1">
                <a:solidFill>
                  <a:srgbClr val="00D2FF"/>
                </a:solidFill>
                <a:latin typeface="微软雅黑"/>
              </a:defRPr>
            </a:pPr>
            <a:r>
              <a:t>兴奋的蜜月期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• AI 快速生成大量代码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• A2A 适配器：一天写了 3840 行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• 代码结构完整，编译能过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• 感觉找到了"银弹"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737360"/>
            <a:ext cx="18288" cy="420624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303520" cy="4754880"/>
          </a:xfrm>
          <a:prstGeom prst="roundRect">
            <a:avLst/>
          </a:prstGeom>
          <a:solidFill>
            <a:srgbClr val="1A2442"/>
          </a:solidFill>
          <a:ln w="1270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5303520" cy="54864"/>
          </a:xfrm>
          <a:prstGeom prst="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4592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900" b="1">
                <a:solidFill>
                  <a:srgbClr val="51CF66"/>
                </a:solidFill>
                <a:latin typeface="微软雅黑"/>
              </a:defRPr>
            </a:pPr>
            <a:r>
              <a:t>残酷的翻车现实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0312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• A2A 案例：不了解协议就开干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• 手写 7600 行 → 发现官方 SDK → 推倒重来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• 早期 fix fix fix 的 git 记录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• 缺少审查导致大量返工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• 关键转折：AI 编程的核心不是"生成"，而是"驾驭"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Harness Engineering：给 AI 套上马具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900" b="1">
                <a:solidFill>
                  <a:srgbClr val="00D2FF"/>
                </a:solidFill>
                <a:latin typeface="微软雅黑"/>
              </a:defRPr>
            </a:pPr>
            <a:r>
              <a:t>  ◆  马具比喻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BBBBCC"/>
                </a:solidFill>
                <a:latin typeface="微软雅黑"/>
              </a:defRPr>
            </a:pPr>
            <a:r>
              <a:t>    ◦ AI 模型 = 烈马（强大但难以控制方向）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00D2FF"/>
                </a:solidFill>
                <a:latin typeface="微软雅黑"/>
              </a:defRPr>
            </a:pPr>
            <a:r>
              <a:t>    ◦ Harness = 马具（缰绳、鞍具）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51CF66"/>
                </a:solidFill>
                <a:latin typeface="微软雅黑"/>
              </a:defRPr>
            </a:pPr>
            <a:r>
              <a:t>    ◦ 人 = 骑手（决定方向，控制节奏）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spcAft>
                <a:spcPts val="600"/>
              </a:spcAft>
              <a:defRPr sz="1700" b="1">
                <a:solidFill>
                  <a:srgbClr val="FFD43B"/>
                </a:solidFill>
                <a:latin typeface="微软雅黑"/>
              </a:defRPr>
            </a:pPr>
            <a:r>
              <a:t>  ▶  缰绳不增加马的力量，但让力量用在对的方向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spcAft>
                <a:spcPts val="600"/>
              </a:spcAft>
              <a:defRPr sz="1900" b="1">
                <a:solidFill>
                  <a:srgbClr val="00D2FF"/>
                </a:solidFill>
                <a:latin typeface="微软雅黑"/>
              </a:defRPr>
            </a:pPr>
            <a:r>
              <a:t>  ◆  Harness 工程的三大支柱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FFFFFF"/>
                </a:solidFill>
                <a:latin typeface="微软雅黑"/>
              </a:defRPr>
            </a:pPr>
            <a:r>
              <a:t>• 1. 上下文工程（Context Engineering）：确保 AI 看到正确的信息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FFFFFF"/>
                </a:solidFill>
                <a:latin typeface="微软雅黑"/>
              </a:defRPr>
            </a:pPr>
            <a:r>
              <a:t>• 2. 架构约束（Architectural Constraints）：用工具机械地强制执行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FFFFFF"/>
                </a:solidFill>
                <a:latin typeface="微软雅黑"/>
              </a:defRPr>
            </a:pPr>
            <a:r>
              <a:t>• 3. 熵管理（Entropy Management）：控制代码库的混乱度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三大支柱详解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支柱</a:t>
                      </a:r>
                    </a:p>
                  </a:txBody>
                  <a:tcPr marL="137160" marR="91440" marT="73152" marB="73152">
                    <a:solidFill>
                      <a:srgbClr val="006B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核心思想</a:t>
                      </a:r>
                    </a:p>
                  </a:txBody>
                  <a:tcPr marL="137160" marR="91440" marT="73152" marB="73152">
                    <a:solidFill>
                      <a:srgbClr val="006B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实践方式</a:t>
                      </a:r>
                    </a:p>
                  </a:txBody>
                  <a:tcPr marL="137160" marR="91440" marT="73152" marB="73152">
                    <a:solidFill>
                      <a:srgbClr val="006B8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2FF"/>
                          </a:solidFill>
                          <a:latin typeface="微软雅黑"/>
                        </a:defRPr>
                      </a:pPr>
                      <a:r>
                        <a:t>上下文工程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AI 只能看到你给它的信息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三层知识体系：CLAUDE.md + rules/ + memory/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2FF"/>
                          </a:solidFill>
                          <a:latin typeface="微软雅黑"/>
                        </a:defRPr>
                      </a:pPr>
                      <a:r>
                        <a:t>架构约束</a:t>
                      </a:r>
                    </a:p>
                  </a:txBody>
                  <a:tcPr marL="137160" marR="91440" marT="73152" marB="73152">
                    <a:solidFill>
                      <a:srgbClr val="10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用工具强制执行，不指望 AI 记住</a:t>
                      </a:r>
                    </a:p>
                  </a:txBody>
                  <a:tcPr marL="137160" marR="91440" marT="73152" marB="73152">
                    <a:solidFill>
                      <a:srgbClr val="10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paths frontmatter、Hook 自动化、编译验证</a:t>
                      </a:r>
                    </a:p>
                  </a:txBody>
                  <a:tcPr marL="137160" marR="91440" marT="73152" marB="73152">
                    <a:solidFill>
                      <a:srgbClr val="1016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2FF"/>
                          </a:solidFill>
                          <a:latin typeface="微软雅黑"/>
                        </a:defRPr>
                      </a:pPr>
                      <a:r>
                        <a:t>熵管理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控制代码库混乱度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rules/ 精简（5487→272行）、定期清理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行业佐证：Harness 的威力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8047" y="2011680"/>
            <a:ext cx="3200400" cy="1828800"/>
          </a:xfrm>
          <a:prstGeom prst="roundRect">
            <a:avLst/>
          </a:prstGeom>
          <a:solidFill>
            <a:srgbClr val="1A2442"/>
          </a:solidFill>
          <a:ln w="1270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29487" y="2011680"/>
            <a:ext cx="301752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9487" y="219456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3600" b="1">
                <a:solidFill>
                  <a:srgbClr val="00D2FF"/>
                </a:solidFill>
                <a:latin typeface="微软雅黑"/>
              </a:defRPr>
            </a:pPr>
            <a:r>
              <a:t>100 万行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207" y="29260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0">
                <a:solidFill>
                  <a:srgbClr val="BBBBCC"/>
                </a:solidFill>
                <a:latin typeface="微软雅黑"/>
              </a:defRPr>
            </a:pPr>
            <a:r>
              <a:t>OpenAI Codex</a:t>
            </a:r>
          </a:p>
          <a:p>
            <a:pPr algn="ctr">
              <a:spcAft>
                <a:spcPts val="200"/>
              </a:spcAft>
              <a:defRPr sz="1300" b="0">
                <a:solidFill>
                  <a:srgbClr val="BBBBCC"/>
                </a:solidFill>
                <a:latin typeface="微软雅黑"/>
              </a:defRPr>
            </a:pPr>
            <a:r>
              <a:t>3 名工程师 5 个月构建</a:t>
            </a:r>
          </a:p>
          <a:p>
            <a:pPr algn="ctr">
              <a:spcAft>
                <a:spcPts val="200"/>
              </a:spcAft>
              <a:defRPr sz="1300" b="0">
                <a:solidFill>
                  <a:srgbClr val="BBBBCC"/>
                </a:solidFill>
                <a:latin typeface="微软雅黑"/>
              </a:defRPr>
            </a:pPr>
            <a:r>
              <a:t>零手写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647" y="2011680"/>
            <a:ext cx="3200400" cy="1828800"/>
          </a:xfrm>
          <a:prstGeom prst="roundRect">
            <a:avLst/>
          </a:prstGeom>
          <a:solidFill>
            <a:srgbClr val="1A2442"/>
          </a:solidFill>
          <a:ln w="1270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87087" y="2011680"/>
            <a:ext cx="301752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7087" y="219456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3600" b="1">
                <a:solidFill>
                  <a:srgbClr val="00D2FF"/>
                </a:solidFill>
                <a:latin typeface="微软雅黑"/>
              </a:defRPr>
            </a:pPr>
            <a:r>
              <a:t>Top 30 → Top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2807" y="29260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0">
                <a:solidFill>
                  <a:srgbClr val="BBBBCC"/>
                </a:solidFill>
                <a:latin typeface="微软雅黑"/>
              </a:defRPr>
            </a:pPr>
            <a:r>
              <a:t>LangChain</a:t>
            </a:r>
          </a:p>
          <a:p>
            <a:pPr algn="ctr">
              <a:spcAft>
                <a:spcPts val="200"/>
              </a:spcAft>
              <a:defRPr sz="1300" b="0">
                <a:solidFill>
                  <a:srgbClr val="BBBBCC"/>
                </a:solidFill>
                <a:latin typeface="微软雅黑"/>
              </a:defRPr>
            </a:pPr>
            <a:r>
              <a:t>不改模型只改 Harness</a:t>
            </a:r>
          </a:p>
          <a:p>
            <a:pPr algn="ctr">
              <a:spcAft>
                <a:spcPts val="200"/>
              </a:spcAft>
              <a:defRPr sz="1300" b="0">
                <a:solidFill>
                  <a:srgbClr val="BBBBCC"/>
                </a:solidFill>
                <a:latin typeface="微软雅黑"/>
              </a:defRPr>
            </a:pPr>
            <a:r>
              <a:t>排名飙升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3247" y="2011680"/>
            <a:ext cx="3200400" cy="1828800"/>
          </a:xfrm>
          <a:prstGeom prst="roundRect">
            <a:avLst/>
          </a:prstGeom>
          <a:solidFill>
            <a:srgbClr val="1A2442"/>
          </a:solidFill>
          <a:ln w="1270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44687" y="2011680"/>
            <a:ext cx="301752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687" y="219456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3600" b="1">
                <a:solidFill>
                  <a:srgbClr val="00D2FF"/>
                </a:solidFill>
                <a:latin typeface="微软雅黑"/>
              </a:defRPr>
            </a:pPr>
            <a:r>
              <a:t>256 次提交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407" y="29260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0">
                <a:solidFill>
                  <a:srgbClr val="BBBBCC"/>
                </a:solidFill>
                <a:latin typeface="微软雅黑"/>
              </a:defRPr>
            </a:pPr>
            <a:r>
              <a:t>我的 aip-portal 项目</a:t>
            </a:r>
          </a:p>
          <a:p>
            <a:pPr algn="ctr">
              <a:spcAft>
                <a:spcPts val="200"/>
              </a:spcAft>
              <a:defRPr sz="1300" b="0">
                <a:solidFill>
                  <a:srgbClr val="BBBBCC"/>
                </a:solidFill>
                <a:latin typeface="微软雅黑"/>
              </a:defRPr>
            </a:pPr>
            <a:r>
              <a:t>24 个 worktree 并行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5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三层知识体系：我的实践架构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749039"/>
            <a:ext cx="45720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BBBBCC"/>
                </a:solidFill>
                <a:latin typeface="微软雅黑"/>
              </a:defRPr>
            </a:pPr>
            <a:r>
              <a:t>给 AI 传递知识的最佳方式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三层知识体系架构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64240" cy="4754880"/>
          </a:xfrm>
          <a:prstGeom prst="roundRect">
            <a:avLst/>
          </a:prstGeom>
          <a:solidFill>
            <a:srgbClr val="0A0E1A"/>
          </a:solidFill>
          <a:ln w="1270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274320" tIns="36576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+-------------------------------------------------------------+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|  全局层 (~/.claude/CLAUDE.md)           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|  &gt; 跨项目的个人偏好（Git 规范、Shell 规范）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|  &gt; 所有项目共享，长期稳定                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+-------------------------------------------------------------+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|  项目层 (CLAUDE.md + .claude/rules/)     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|  &gt; 项目定位、技术栈、架构、编码规范       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|  &gt; ⚠ 每次对话全部加载，每行都在消耗 token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+-------------------------------------------------------------+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|  会话层 (memory/)                        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|  &gt; 复盘经验、项目上下文、外部引用        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|  &gt; 按需检索，不自动全部加载              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|  &gt; 自由积累经验，不担心占用 token        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+-------------------------------------------------------------+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solidFill>
            <a:srgbClr val="15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1">
                <a:solidFill>
                  <a:srgbClr val="888899"/>
                </a:solidFill>
                <a:latin typeface="Consolas"/>
              </a:defRPr>
            </a:pPr>
            <a:r>
              <a:t>DIAGRAM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rules/ 演变时间线——好的结构是"长"出来的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017520"/>
            <a:ext cx="1069848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9808" y="2880359"/>
            <a:ext cx="329184" cy="329184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2971799"/>
            <a:ext cx="146304" cy="146304"/>
          </a:xfrm>
          <a:prstGeom prst="ellipse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14630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00D2FF"/>
                </a:solidFill>
                <a:latin typeface="微软雅黑"/>
              </a:defRPr>
            </a:pPr>
            <a:r>
              <a:t>Phase 1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BBBBCC"/>
                </a:solidFill>
                <a:latin typeface="微软雅黑"/>
              </a:defRPr>
            </a:pPr>
            <a:r>
              <a:t>初始搭建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BBBBCC"/>
                </a:solidFill>
                <a:latin typeface="微软雅黑"/>
              </a:defRPr>
            </a:pPr>
            <a:r>
              <a:t>5,487 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-182879" y="3474720"/>
            <a:ext cx="2194560" cy="2286000"/>
          </a:xfrm>
          <a:prstGeom prst="roundRect">
            <a:avLst/>
          </a:prstGeom>
          <a:solidFill>
            <a:srgbClr val="1A2442"/>
          </a:solidFill>
          <a:ln w="1270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47472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-45719" y="3611879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0">
                <a:solidFill>
                  <a:srgbClr val="BBBBCC"/>
                </a:solidFill>
                <a:latin typeface="微软雅黑"/>
              </a:defRPr>
            </a:pPr>
            <a:r>
              <a:t>想给 AI 所有知识</a:t>
            </a:r>
          </a:p>
          <a:p>
            <a:pPr algn="ctr">
              <a:spcAft>
                <a:spcPts val="200"/>
              </a:spcAft>
              <a:defRPr sz="1300" b="0">
                <a:solidFill>
                  <a:srgbClr val="BBBBCC"/>
                </a:solidFill>
                <a:latin typeface="微软雅黑"/>
              </a:defRPr>
            </a:pPr>
            <a:r>
              <a:t>20 个文件一次创建</a:t>
            </a:r>
          </a:p>
        </p:txBody>
      </p:sp>
      <p:sp>
        <p:nvSpPr>
          <p:cNvPr id="14" name="Oval 13"/>
          <p:cNvSpPr/>
          <p:nvPr/>
        </p:nvSpPr>
        <p:spPr>
          <a:xfrm>
            <a:off x="4194048" y="2880359"/>
            <a:ext cx="329184" cy="329184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85488" y="2971799"/>
            <a:ext cx="146304" cy="146304"/>
          </a:xfrm>
          <a:prstGeom prst="ellipse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44240" y="14630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00D2FF"/>
                </a:solidFill>
                <a:latin typeface="微软雅黑"/>
              </a:defRPr>
            </a:pPr>
            <a:r>
              <a:t>Phase 2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BBBBCC"/>
                </a:solidFill>
                <a:latin typeface="微软雅黑"/>
              </a:defRPr>
            </a:pPr>
            <a:r>
              <a:t>膨胀期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BBBBCC"/>
                </a:solidFill>
                <a:latin typeface="微软雅黑"/>
              </a:defRPr>
            </a:pPr>
            <a:r>
              <a:t>~6,000+ 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61360" y="3474720"/>
            <a:ext cx="2194560" cy="2286000"/>
          </a:xfrm>
          <a:prstGeom prst="roundRect">
            <a:avLst/>
          </a:prstGeom>
          <a:solidFill>
            <a:srgbClr val="1A2442"/>
          </a:solidFill>
          <a:ln w="1270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44240" y="347472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98520" y="3611879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0">
                <a:solidFill>
                  <a:srgbClr val="BBBBCC"/>
                </a:solidFill>
                <a:latin typeface="微软雅黑"/>
              </a:defRPr>
            </a:pPr>
            <a:r>
              <a:t>功能驱动增长</a:t>
            </a:r>
          </a:p>
          <a:p>
            <a:pPr algn="ctr">
              <a:spcAft>
                <a:spcPts val="200"/>
              </a:spcAft>
              <a:defRPr sz="1300" b="0">
                <a:solidFill>
                  <a:srgbClr val="BBBBCC"/>
                </a:solidFill>
                <a:latin typeface="微软雅黑"/>
              </a:defRPr>
            </a:pPr>
            <a:r>
              <a:t>设计文档、执行计划堆积</a:t>
            </a:r>
          </a:p>
          <a:p>
            <a:pPr algn="ctr">
              <a:spcAft>
                <a:spcPts val="200"/>
              </a:spcAft>
              <a:defRPr sz="1300" b="0">
                <a:solidFill>
                  <a:srgbClr val="BBBBCC"/>
                </a:solidFill>
                <a:latin typeface="微软雅黑"/>
              </a:defRPr>
            </a:pPr>
            <a:r>
              <a:t>token 消耗爆炸</a:t>
            </a:r>
          </a:p>
        </p:txBody>
      </p:sp>
      <p:sp>
        <p:nvSpPr>
          <p:cNvPr id="20" name="Oval 19"/>
          <p:cNvSpPr/>
          <p:nvPr/>
        </p:nvSpPr>
        <p:spPr>
          <a:xfrm>
            <a:off x="7638288" y="2880359"/>
            <a:ext cx="329184" cy="329184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29728" y="2971799"/>
            <a:ext cx="146304" cy="146304"/>
          </a:xfrm>
          <a:prstGeom prst="ellipse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88480" y="14630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00D2FF"/>
                </a:solidFill>
                <a:latin typeface="微软雅黑"/>
              </a:defRPr>
            </a:pPr>
            <a:r>
              <a:t>Phase 3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BBBBCC"/>
                </a:solidFill>
                <a:latin typeface="微软雅黑"/>
              </a:defRPr>
            </a:pPr>
            <a:r>
              <a:t>大清理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BBBBCC"/>
                </a:solidFill>
                <a:latin typeface="微软雅黑"/>
              </a:defRPr>
            </a:pPr>
            <a:r>
              <a:t>-2,714 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05600" y="3474720"/>
            <a:ext cx="2194560" cy="2286000"/>
          </a:xfrm>
          <a:prstGeom prst="roundRect">
            <a:avLst/>
          </a:prstGeom>
          <a:solidFill>
            <a:srgbClr val="1A2442"/>
          </a:solidFill>
          <a:ln w="1270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88480" y="347472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42760" y="3611879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0">
                <a:solidFill>
                  <a:srgbClr val="BBBBCC"/>
                </a:solidFill>
                <a:latin typeface="微软雅黑"/>
              </a:defRPr>
            </a:pPr>
            <a:r>
              <a:t>核心转折：</a:t>
            </a:r>
          </a:p>
          <a:p>
            <a:pPr algn="ctr">
              <a:spcAft>
                <a:spcPts val="200"/>
              </a:spcAft>
              <a:defRPr sz="1300" b="0">
                <a:solidFill>
                  <a:srgbClr val="BBBBCC"/>
                </a:solidFill>
                <a:latin typeface="微软雅黑"/>
              </a:defRPr>
            </a:pPr>
            <a:r>
              <a:t>"rules 不是 wiki"</a:t>
            </a:r>
          </a:p>
          <a:p>
            <a:pPr algn="ctr">
              <a:spcAft>
                <a:spcPts val="200"/>
              </a:spcAft>
              <a:defRPr sz="1300" b="0">
                <a:solidFill>
                  <a:srgbClr val="BBBBCC"/>
                </a:solidFill>
                <a:latin typeface="微软雅黑"/>
              </a:defRPr>
            </a:pPr>
            <a:r>
              <a:t>移除人看的文档</a:t>
            </a:r>
          </a:p>
        </p:txBody>
      </p:sp>
      <p:sp>
        <p:nvSpPr>
          <p:cNvPr id="26" name="Oval 25"/>
          <p:cNvSpPr/>
          <p:nvPr/>
        </p:nvSpPr>
        <p:spPr>
          <a:xfrm>
            <a:off x="11082528" y="2880359"/>
            <a:ext cx="329184" cy="329184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173968" y="2971799"/>
            <a:ext cx="146304" cy="146304"/>
          </a:xfrm>
          <a:prstGeom prst="ellipse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0" y="14630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00D2FF"/>
                </a:solidFill>
                <a:latin typeface="微软雅黑"/>
              </a:defRPr>
            </a:pPr>
            <a:r>
              <a:t>Phase 4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BBBBCC"/>
                </a:solidFill>
                <a:latin typeface="微软雅黑"/>
              </a:defRPr>
            </a:pPr>
            <a:r>
              <a:t>持续精简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BBBBCC"/>
                </a:solidFill>
                <a:latin typeface="微软雅黑"/>
              </a:defRPr>
            </a:pPr>
            <a:r>
              <a:t>最终 272 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49840" y="3474720"/>
            <a:ext cx="2194560" cy="2286000"/>
          </a:xfrm>
          <a:prstGeom prst="roundRect">
            <a:avLst/>
          </a:prstGeom>
          <a:solidFill>
            <a:srgbClr val="1A2442"/>
          </a:solidFill>
          <a:ln w="1270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332720" y="347472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7000" y="3611879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0">
                <a:solidFill>
                  <a:srgbClr val="BBBBCC"/>
                </a:solidFill>
                <a:latin typeface="微软雅黑"/>
              </a:defRPr>
            </a:pPr>
            <a:r>
              <a:t>压缩率 95%</a:t>
            </a:r>
          </a:p>
          <a:p>
            <a:pPr algn="ctr">
              <a:spcAft>
                <a:spcPts val="200"/>
              </a:spcAft>
              <a:defRPr sz="1300" b="0">
                <a:solidFill>
                  <a:srgbClr val="BBBBCC"/>
                </a:solidFill>
                <a:latin typeface="微软雅黑"/>
              </a:defRPr>
            </a:pPr>
            <a:r>
              <a:t>只保留 AI 必看的</a:t>
            </a:r>
          </a:p>
          <a:p>
            <a:pPr algn="ctr">
              <a:spcAft>
                <a:spcPts val="200"/>
              </a:spcAft>
              <a:defRPr sz="1300" b="0">
                <a:solidFill>
                  <a:srgbClr val="BBBBCC"/>
                </a:solidFill>
                <a:latin typeface="微软雅黑"/>
              </a:defRPr>
            </a:pPr>
            <a:r>
              <a:t>架构+规范索引+测试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5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4572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00D2FF"/>
                </a:solidFill>
                <a:latin typeface="微软雅黑"/>
              </a:defRPr>
            </a:pPr>
            <a:r>
              <a:t>第二部分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48640"/>
            <a:ext cx="73152" cy="25603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实战工作流——设计、实现、测试、复盘闭环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749039"/>
            <a:ext cx="45720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0233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BBBBCC"/>
                </a:solidFill>
                <a:latin typeface="微软雅黑"/>
              </a:defRPr>
            </a:pPr>
            <a:r>
              <a:t>SDD（规范驱动开发）在 AI 编程中的落地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PRD 质量决定成败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03520" cy="4754880"/>
          </a:xfrm>
          <a:prstGeom prst="roundRect">
            <a:avLst/>
          </a:prstGeom>
          <a:solidFill>
            <a:srgbClr val="1A2442"/>
          </a:solidFill>
          <a:ln w="1270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530352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900" b="1">
                <a:solidFill>
                  <a:srgbClr val="00D2FF"/>
                </a:solidFill>
                <a:latin typeface="微软雅黑"/>
              </a:defRPr>
            </a:pPr>
            <a:r>
              <a:t>清晰 PRD → AI 事半功倍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• 明确的功能描述和验收标准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• 清晰的数据模型和接口定义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• Claude Code 输出实施计划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• 人工审阅后启动实现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• 方向正确，返工少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737360"/>
            <a:ext cx="18288" cy="420624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303520" cy="4754880"/>
          </a:xfrm>
          <a:prstGeom prst="roundRect">
            <a:avLst/>
          </a:prstGeom>
          <a:solidFill>
            <a:srgbClr val="1A2442"/>
          </a:solidFill>
          <a:ln w="1270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5303520" cy="54864"/>
          </a:xfrm>
          <a:prstGeom prst="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4592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900" b="1">
                <a:solidFill>
                  <a:srgbClr val="51CF66"/>
                </a:solidFill>
                <a:latin typeface="微软雅黑"/>
              </a:defRPr>
            </a:pPr>
            <a:r>
              <a:t>模糊 PRD → AI 飞速跑偏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0312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• 需求不明确，AI 自己发挥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• 没有验收标准，不知道对不对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• 无法判断输出质量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• 越改越偏，返工频繁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• 比手写代码更危险——有"已完成"错觉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SDD（规范驱动开发）四阶段循环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64240" cy="4754880"/>
          </a:xfrm>
          <a:prstGeom prst="roundRect">
            <a:avLst/>
          </a:prstGeom>
          <a:solidFill>
            <a:srgbClr val="0A0E1A"/>
          </a:solidFill>
          <a:ln w="1270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274320" tIns="36576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+----------------------------------------------------+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|                SDD 四阶段循环  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|                               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|  1. Specify（写规范）          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|     -&gt; IDE 写设计 Markdown    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|     -&gt; 明确需求、数据模型、验收标准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|           |                   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|  2. Plan（出计划）             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|     -&gt; Claude Code 输出实施计划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|     -&gt; 人工审阅确认            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|           |                   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|  3. Task（拆任务）             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|     -&gt; 按计划拆分为独立任务    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|     -&gt; 每个任务有明确产出物    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|           |                   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|  4. Implement（做实现）        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|     -&gt; 按任务逐个实现          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|     -&gt; 编译验证 + 接口测试     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|           |                   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|     回到 1，下一个功能         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+----------------------------------------------------+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规范文档是 AI 和人的"唯一真理来源"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solidFill>
            <a:srgbClr val="15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1">
                <a:solidFill>
                  <a:srgbClr val="888899"/>
                </a:solidFill>
                <a:latin typeface="Consolas"/>
              </a:defRPr>
            </a:pPr>
            <a:r>
              <a:t>DIAGRAM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设计文档实践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900" b="1">
                <a:solidFill>
                  <a:srgbClr val="00D2FF"/>
                </a:solidFill>
                <a:latin typeface="微软雅黑"/>
              </a:defRPr>
            </a:pPr>
            <a:r>
              <a:t>  ◆  aip-portal 项目中的设计文档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BBBBCC"/>
                </a:solidFill>
                <a:latin typeface="微软雅黑"/>
              </a:defRPr>
            </a:pPr>
            <a:r>
              <a:t>    ◦ 14 个设计文档存放在 docs/design/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BBBBCC"/>
                </a:solidFill>
                <a:latin typeface="微软雅黑"/>
              </a:defRPr>
            </a:pPr>
            <a:r>
              <a:t>    ◦ 每个功能先写设计，再让 AI 实现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spcAft>
                <a:spcPts val="600"/>
              </a:spcAft>
              <a:defRPr sz="1900" b="1">
                <a:solidFill>
                  <a:srgbClr val="00D2FF"/>
                </a:solidFill>
                <a:latin typeface="微软雅黑"/>
              </a:defRPr>
            </a:pPr>
            <a:r>
              <a:t>  ◆  典型设计文档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FFFFFF"/>
                </a:solidFill>
                <a:latin typeface="微软雅黑"/>
              </a:defRPr>
            </a:pPr>
            <a:r>
              <a:t>• SQL 版本管理 Starter 设计 —— 547 行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FFFFFF"/>
                </a:solidFill>
                <a:latin typeface="微软雅黑"/>
              </a:defRPr>
            </a:pPr>
            <a:r>
              <a:t>• Karate 接口实践 —— 668 行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FFFFFF"/>
                </a:solidFill>
                <a:latin typeface="微软雅黑"/>
              </a:defRPr>
            </a:pPr>
            <a:r>
              <a:t>• 消息管理重构设计 —— 283 行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spcAft>
                <a:spcPts val="600"/>
              </a:spcAft>
              <a:defRPr sz="1700" b="1">
                <a:solidFill>
                  <a:srgbClr val="FFD43B"/>
                </a:solidFill>
                <a:latin typeface="微软雅黑"/>
              </a:defRPr>
            </a:pPr>
            <a:r>
              <a:t>  ▶  实践流程：IDE 写设计 MD → Claude Code 输出实施计划 → 人工审阅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5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实现阶段：多种协作模式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749039"/>
            <a:ext cx="45720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BBBBCC"/>
                </a:solidFill>
                <a:latin typeface="微软雅黑"/>
              </a:defRPr>
            </a:pPr>
            <a:r>
              <a:t>按任务复杂度选择合适的模式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协作模式选择矩阵——按复杂度选模式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任务复杂度</a:t>
                      </a:r>
                    </a:p>
                  </a:txBody>
                  <a:tcPr marL="137160" marR="91440" marT="73152" marB="73152">
                    <a:solidFill>
                      <a:srgbClr val="006B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推荐模式</a:t>
                      </a:r>
                    </a:p>
                  </a:txBody>
                  <a:tcPr marL="137160" marR="91440" marT="73152" marB="73152">
                    <a:solidFill>
                      <a:srgbClr val="006B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适用场景</a:t>
                      </a:r>
                    </a:p>
                  </a:txBody>
                  <a:tcPr marL="137160" marR="91440" marT="73152" marB="73152">
                    <a:solidFill>
                      <a:srgbClr val="006B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关键特点</a:t>
                      </a:r>
                    </a:p>
                  </a:txBody>
                  <a:tcPr marL="137160" marR="91440" marT="73152" marB="73152">
                    <a:solidFill>
                      <a:srgbClr val="006B8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2FF"/>
                          </a:solidFill>
                          <a:latin typeface="微软雅黑"/>
                        </a:defRPr>
                      </a:pPr>
                      <a:r>
                        <a:t>简单修改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直接对话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单文件修改、小 bug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最快，即改即验证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2FF"/>
                          </a:solidFill>
                          <a:latin typeface="微软雅黑"/>
                        </a:defRPr>
                      </a:pPr>
                      <a:r>
                        <a:t>中等功能</a:t>
                      </a:r>
                    </a:p>
                  </a:txBody>
                  <a:tcPr marL="137160" marR="91440" marT="73152" marB="73152">
                    <a:solidFill>
                      <a:srgbClr val="10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Plan 模式</a:t>
                      </a:r>
                    </a:p>
                  </a:txBody>
                  <a:tcPr marL="137160" marR="91440" marT="73152" marB="73152">
                    <a:solidFill>
                      <a:srgbClr val="10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需探索代码再实现</a:t>
                      </a:r>
                    </a:p>
                  </a:txBody>
                  <a:tcPr marL="137160" marR="91440" marT="73152" marB="73152">
                    <a:solidFill>
                      <a:srgbClr val="10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先探索 → 确认 → 再实现</a:t>
                      </a:r>
                    </a:p>
                  </a:txBody>
                  <a:tcPr marL="137160" marR="91440" marT="73152" marB="73152">
                    <a:solidFill>
                      <a:srgbClr val="1016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2FF"/>
                          </a:solidFill>
                          <a:latin typeface="微软雅黑"/>
                        </a:defRPr>
                      </a:pPr>
                      <a:r>
                        <a:t>复杂功能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Sub Agent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需拆分子任务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控制上下文，避免跑偏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2FF"/>
                          </a:solidFill>
                          <a:latin typeface="微软雅黑"/>
                        </a:defRPr>
                      </a:pPr>
                      <a:r>
                        <a:t>多模块功能</a:t>
                      </a:r>
                    </a:p>
                  </a:txBody>
                  <a:tcPr marL="137160" marR="91440" marT="73152" marB="73152">
                    <a:solidFill>
                      <a:srgbClr val="10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Agent Team</a:t>
                      </a:r>
                    </a:p>
                  </a:txBody>
                  <a:tcPr marL="137160" marR="91440" marT="73152" marB="73152">
                    <a:solidFill>
                      <a:srgbClr val="10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多 Agent 并行开发</a:t>
                      </a:r>
                    </a:p>
                  </a:txBody>
                  <a:tcPr marL="137160" marR="91440" marT="73152" marB="73152">
                    <a:solidFill>
                      <a:srgbClr val="10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5人团队，分工协作</a:t>
                      </a:r>
                    </a:p>
                  </a:txBody>
                  <a:tcPr marL="137160" marR="91440" marT="73152" marB="73152">
                    <a:solidFill>
                      <a:srgbClr val="1016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2FF"/>
                          </a:solidFill>
                          <a:latin typeface="微软雅黑"/>
                        </a:defRPr>
                      </a:pPr>
                      <a:r>
                        <a:t>多任务并行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Git Worktree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多个需求同时推进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物理隔离，独立上下文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Plan 模式工作流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900" b="1">
                <a:solidFill>
                  <a:srgbClr val="00D2FF"/>
                </a:solidFill>
                <a:latin typeface="微软雅黑"/>
              </a:defRPr>
            </a:pPr>
            <a:r>
              <a:t>  ◆  工作流程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FFFFFF"/>
                </a:solidFill>
                <a:latin typeface="微软雅黑"/>
              </a:defRPr>
            </a:pPr>
            <a:r>
              <a:t>• 用户需求 → Plan 模式启动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BBBBCC"/>
                </a:solidFill>
                <a:latin typeface="微软雅黑"/>
              </a:defRPr>
            </a:pPr>
            <a:r>
              <a:t>    ◦        → 探索代码库（Explore Agent）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BBBBCC"/>
                </a:solidFill>
                <a:latin typeface="微软雅黑"/>
              </a:defRPr>
            </a:pPr>
            <a:r>
              <a:t>    ◦        → 制定实施计划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FD43B"/>
                </a:solidFill>
                <a:latin typeface="微软雅黑"/>
              </a:defRPr>
            </a:pPr>
            <a:r>
              <a:t>    ◦        → 用户审阅确认 ← 关键环节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BBBBCC"/>
                </a:solidFill>
                <a:latin typeface="微软雅黑"/>
              </a:defRPr>
            </a:pPr>
            <a:r>
              <a:t>    ◦        → 执行实现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spcAft>
                <a:spcPts val="600"/>
              </a:spcAft>
              <a:defRPr sz="1900" b="1">
                <a:solidFill>
                  <a:srgbClr val="00D2FF"/>
                </a:solidFill>
                <a:latin typeface="微软雅黑"/>
              </a:defRPr>
            </a:pPr>
            <a:r>
              <a:t>  ◆  实际案例：搜索权限过滤逻辑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BBBBCC"/>
                </a:solidFill>
                <a:latin typeface="微软雅黑"/>
              </a:defRPr>
            </a:pPr>
            <a:r>
              <a:t>    ◦ 同时搜索 !isAdmin 变量名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BBBBCC"/>
                </a:solidFill>
                <a:latin typeface="微软雅黑"/>
              </a:defRPr>
            </a:pPr>
            <a:r>
              <a:t>    ◦ 搜索中文注释（"权限"、"角色"）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BBBBCC"/>
                </a:solidFill>
                <a:latin typeface="微软雅黑"/>
              </a:defRPr>
            </a:pPr>
            <a:r>
              <a:t>    ◦ 搜索 isUserWorkspaceAdmin 方法名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51CF66"/>
                </a:solidFill>
                <a:latin typeface="微软雅黑"/>
              </a:defRPr>
            </a:pPr>
            <a:r>
              <a:t>    ◦ 交叉验证，避免单一模式遗漏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Git Worktree：24 个并行开发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多个worktree并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554480"/>
            <a:ext cx="941832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BBBBCC"/>
                </a:solidFill>
                <a:latin typeface="微软雅黑"/>
              </a:defRPr>
            </a:pPr>
            <a:r>
              <a:t>每个 Worktree 有独立工作目录和 Claude Code 会话，互不干扰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Agent Team：5 人团队协作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64240" cy="4754880"/>
          </a:xfrm>
          <a:prstGeom prst="roundRect">
            <a:avLst/>
          </a:prstGeom>
          <a:solidFill>
            <a:srgbClr val="0A0E1A"/>
          </a:solidFill>
          <a:ln w="1270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274320" tIns="36576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                   +------------------+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                   |    Team Lead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                   |    (你/用户)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                   +--------+---------+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       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            +---------------+---------------+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            |               |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            v               v               v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   +----------------+ +----------------+ +----------------+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   |  需求分析师     | |  表结构设计师   | |  接口设计师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   +----------------+ +----------------+ +----------------+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            |               |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            +---------------+---------------+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       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                            v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                   +------------------+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                   |   计划工程师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                   +--------+---------+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       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                            v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                   +------------------+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                   |   评审验收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                   +------------------+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solidFill>
            <a:srgbClr val="15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1">
                <a:solidFill>
                  <a:srgbClr val="888899"/>
                </a:solidFill>
                <a:latin typeface="Consolas"/>
              </a:defRPr>
            </a:pPr>
            <a:r>
              <a:t>DIAGRAM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5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测试阶段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749039"/>
            <a:ext cx="45720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BBBBCC"/>
                </a:solidFill>
                <a:latin typeface="微软雅黑"/>
              </a:defRPr>
            </a:pPr>
            <a:r>
              <a:t>单元测试 + Karate 业务接口测试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测试策略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900" b="1">
                <a:solidFill>
                  <a:srgbClr val="00D2FF"/>
                </a:solidFill>
                <a:latin typeface="微软雅黑"/>
              </a:defRPr>
            </a:pPr>
            <a:r>
              <a:t>  ◆  单元测试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BBBBCC"/>
                </a:solidFill>
                <a:latin typeface="微软雅黑"/>
              </a:defRPr>
            </a:pPr>
            <a:r>
              <a:t>    ◦ AI 生成 + 人工审查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F6B6B"/>
                </a:solidFill>
                <a:latin typeface="微软雅黑"/>
              </a:defRPr>
            </a:pPr>
            <a:r>
              <a:t>    ◦ 注意维护成本：AI 生成的测试有时过于脆弱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spcAft>
                <a:spcPts val="600"/>
              </a:spcAft>
              <a:defRPr sz="1900" b="1">
                <a:solidFill>
                  <a:srgbClr val="00D2FF"/>
                </a:solidFill>
                <a:latin typeface="微软雅黑"/>
              </a:defRPr>
            </a:pPr>
            <a:r>
              <a:t>  ◆  Karate 业务接口测试（aip-portal 实践）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BBBBCC"/>
                </a:solidFill>
                <a:latin typeface="微软雅黑"/>
              </a:defRPr>
            </a:pPr>
            <a:r>
              <a:t>    ◦ 三层数据隔离策略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BBBBCC"/>
                </a:solidFill>
                <a:latin typeface="微软雅黑"/>
              </a:defRPr>
            </a:pPr>
            <a:r>
              <a:t>    ◦ 标签体系：@smoke / @p0 / @p1 / @p2 / @negative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BBBBCC"/>
                </a:solidFill>
                <a:latin typeface="微软雅黑"/>
              </a:defRPr>
            </a:pPr>
            <a:r>
              <a:t>    ◦ 执行：mvn test -Dtest=KarateRunner -Dkarate.tags=@smoke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spcAft>
                <a:spcPts val="600"/>
              </a:spcAft>
              <a:defRPr sz="1900" b="1">
                <a:solidFill>
                  <a:srgbClr val="00D2FF"/>
                </a:solidFill>
                <a:latin typeface="微软雅黑"/>
              </a:defRPr>
            </a:pPr>
            <a:r>
              <a:t>  ◆  TDD 在 AI 编程中的价值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51CF66"/>
                </a:solidFill>
                <a:latin typeface="微软雅黑"/>
              </a:defRPr>
            </a:pPr>
            <a:r>
              <a:t>    ◦ 测试通过是任务完成的硬性门槛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51CF66"/>
                </a:solidFill>
                <a:latin typeface="微软雅黑"/>
              </a:defRPr>
            </a:pPr>
            <a:r>
              <a:t>    ◦ 避免"看起来完成了"但实际有问题的陷阱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5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复盘驱动改进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749039"/>
            <a:ext cx="45720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BBBBCC"/>
                </a:solidFill>
                <a:latin typeface="微软雅黑"/>
              </a:defRPr>
            </a:pPr>
            <a:r>
              <a:t>/retrospect 复盘三问法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/retrospect 复盘三问法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900" b="1">
                <a:solidFill>
                  <a:srgbClr val="00D2FF"/>
                </a:solidFill>
                <a:latin typeface="微软雅黑"/>
              </a:defRPr>
            </a:pPr>
            <a:r>
              <a:t>  ◆  三问法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51CF66"/>
                </a:solidFill>
                <a:latin typeface="微软雅黑"/>
              </a:defRPr>
            </a:pPr>
            <a:r>
              <a:t>• 1. 做对了什么？→ 强化正确的做法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FF6B6B"/>
                </a:solidFill>
                <a:latin typeface="微软雅黑"/>
              </a:defRPr>
            </a:pPr>
            <a:r>
              <a:t>• 2. 做错了什么？→ 识别错误和根因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00D2FF"/>
                </a:solidFill>
                <a:latin typeface="微软雅黑"/>
              </a:defRPr>
            </a:pPr>
            <a:r>
              <a:t>• 3. 如果重来会怎么做？→ 提炼可复用规则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spcAft>
                <a:spcPts val="600"/>
              </a:spcAft>
              <a:defRPr sz="1900" b="1">
                <a:solidFill>
                  <a:srgbClr val="00D2FF"/>
                </a:solidFill>
                <a:latin typeface="微软雅黑"/>
              </a:defRPr>
            </a:pPr>
            <a:r>
              <a:t>  ◆  经验固化流程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FFFFFF"/>
                </a:solidFill>
                <a:latin typeface="微软雅黑"/>
              </a:defRPr>
            </a:pPr>
            <a:r>
              <a:t>• 完成任务 → 触发复盘 → 三问反思 → 提炼经验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BBBBCC"/>
                </a:solidFill>
                <a:latin typeface="微软雅黑"/>
              </a:defRPr>
            </a:pPr>
            <a:r>
              <a:t>    ◦                                     → 保存到 memory/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BBBBCC"/>
                </a:solidFill>
                <a:latin typeface="微软雅黑"/>
              </a:defRPr>
            </a:pPr>
            <a:r>
              <a:t>    ◦                                     → 更新 rules/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BBBBCC"/>
                </a:solidFill>
                <a:latin typeface="微软雅黑"/>
              </a:defRPr>
            </a:pPr>
            <a:r>
              <a:t>    ◦                                     → 更新 CLAUDE.md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spcAft>
                <a:spcPts val="600"/>
              </a:spcAft>
              <a:defRPr sz="1900" b="1">
                <a:solidFill>
                  <a:srgbClr val="00D2FF"/>
                </a:solidFill>
                <a:latin typeface="微软雅黑"/>
              </a:defRPr>
            </a:pPr>
            <a:r>
              <a:t>  ◆  三大翻车案例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F6B6B"/>
                </a:solidFill>
                <a:latin typeface="微软雅黑"/>
              </a:defRPr>
            </a:pPr>
            <a:r>
              <a:t>    ◦ SQL 迁移版本号错误：假设验证失败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F6B6B"/>
                </a:solidFill>
                <a:latin typeface="微软雅黑"/>
              </a:defRPr>
            </a:pPr>
            <a:r>
              <a:t>    ◦ 权限过滤逻辑误删：职责理解不深入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F6B6B"/>
                </a:solidFill>
                <a:latin typeface="微软雅黑"/>
              </a:defRPr>
            </a:pPr>
            <a:r>
              <a:t>    ◦ 修改已冻结 Flyway 脚本：违反不可变原则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5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4572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00D2FF"/>
                </a:solidFill>
                <a:latin typeface="微软雅黑"/>
              </a:defRPr>
            </a:pPr>
            <a:r>
              <a:t>第三部分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48640"/>
            <a:ext cx="73152" cy="25603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深度案例——A2A 适配器的教训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749039"/>
            <a:ext cx="45720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0233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BBBBCC"/>
                </a:solidFill>
                <a:latin typeface="微软雅黑"/>
              </a:defRPr>
            </a:pPr>
            <a:r>
              <a:t>用一个完整案例串联所有经验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A2A 适配器时间线：从手写到 SDK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017520"/>
            <a:ext cx="1069848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9808" y="2880359"/>
            <a:ext cx="329184" cy="329184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2971799"/>
            <a:ext cx="146304" cy="146304"/>
          </a:xfrm>
          <a:prstGeom prst="ellipse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14630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00D2FF"/>
                </a:solidFill>
                <a:latin typeface="微软雅黑"/>
              </a:defRPr>
            </a:pPr>
            <a:r>
              <a:t>Day 1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BBBBCC"/>
                </a:solidFill>
                <a:latin typeface="微软雅黑"/>
              </a:defRPr>
            </a:pPr>
            <a:r>
              <a:t>自信开干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BBBBCC"/>
                </a:solidFill>
                <a:latin typeface="微软雅黑"/>
              </a:defRPr>
            </a:pPr>
            <a:r>
              <a:t>3840 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-182879" y="3474720"/>
            <a:ext cx="2194560" cy="2286000"/>
          </a:xfrm>
          <a:prstGeom prst="roundRect">
            <a:avLst/>
          </a:prstGeom>
          <a:solidFill>
            <a:srgbClr val="1A2442"/>
          </a:solidFill>
          <a:ln w="1270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347472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-45719" y="3611879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0">
                <a:solidFill>
                  <a:srgbClr val="BBBBCC"/>
                </a:solidFill>
                <a:latin typeface="微软雅黑"/>
              </a:defRPr>
            </a:pPr>
            <a:r>
              <a:t>不了解协议</a:t>
            </a:r>
          </a:p>
          <a:p>
            <a:pPr algn="ctr">
              <a:spcAft>
                <a:spcPts val="200"/>
              </a:spcAft>
              <a:defRPr sz="1300" b="0">
                <a:solidFill>
                  <a:srgbClr val="BBBBCC"/>
                </a:solidFill>
                <a:latin typeface="微软雅黑"/>
              </a:defRPr>
            </a:pPr>
            <a:r>
              <a:t>让 AI 自由发挥</a:t>
            </a:r>
          </a:p>
          <a:p>
            <a:pPr algn="ctr">
              <a:spcAft>
                <a:spcPts val="200"/>
              </a:spcAft>
              <a:defRPr sz="1300" b="0">
                <a:solidFill>
                  <a:srgbClr val="BBBBCC"/>
                </a:solidFill>
                <a:latin typeface="微软雅黑"/>
              </a:defRPr>
            </a:pPr>
            <a:r>
              <a:t>编译能过但不对</a:t>
            </a:r>
          </a:p>
        </p:txBody>
      </p:sp>
      <p:sp>
        <p:nvSpPr>
          <p:cNvPr id="14" name="Oval 13"/>
          <p:cNvSpPr/>
          <p:nvPr/>
        </p:nvSpPr>
        <p:spPr>
          <a:xfrm>
            <a:off x="4194048" y="2880359"/>
            <a:ext cx="329184" cy="329184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85488" y="2971799"/>
            <a:ext cx="146304" cy="146304"/>
          </a:xfrm>
          <a:prstGeom prst="ellipse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44240" y="14630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00D2FF"/>
                </a:solidFill>
                <a:latin typeface="微软雅黑"/>
              </a:defRPr>
            </a:pPr>
            <a:r>
              <a:t>Day 2-8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BBBBCC"/>
                </a:solidFill>
                <a:latin typeface="微软雅黑"/>
              </a:defRPr>
            </a:pPr>
            <a:r>
              <a:t>不断修补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BBBBCC"/>
                </a:solidFill>
                <a:latin typeface="微软雅黑"/>
              </a:defRPr>
            </a:pPr>
            <a:r>
              <a:t>膨胀到 7600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61360" y="3474720"/>
            <a:ext cx="2194560" cy="2286000"/>
          </a:xfrm>
          <a:prstGeom prst="roundRect">
            <a:avLst/>
          </a:prstGeom>
          <a:solidFill>
            <a:srgbClr val="1A2442"/>
          </a:solidFill>
          <a:ln w="1270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44240" y="347472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98520" y="3611879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0">
                <a:solidFill>
                  <a:srgbClr val="BBBBCC"/>
                </a:solidFill>
                <a:latin typeface="微软雅黑"/>
              </a:defRPr>
            </a:pPr>
            <a:r>
              <a:t>发现问题→修补</a:t>
            </a:r>
          </a:p>
          <a:p>
            <a:pPr algn="ctr">
              <a:spcAft>
                <a:spcPts val="200"/>
              </a:spcAft>
              <a:defRPr sz="1300" b="0">
                <a:solidFill>
                  <a:srgbClr val="BBBBCC"/>
                </a:solidFill>
                <a:latin typeface="微软雅黑"/>
              </a:defRPr>
            </a:pPr>
            <a:r>
              <a:t>越补越偏</a:t>
            </a:r>
          </a:p>
          <a:p>
            <a:pPr algn="ctr">
              <a:spcAft>
                <a:spcPts val="200"/>
              </a:spcAft>
              <a:defRPr sz="1300" b="0">
                <a:solidFill>
                  <a:srgbClr val="BBBBCC"/>
                </a:solidFill>
                <a:latin typeface="微软雅黑"/>
              </a:defRPr>
            </a:pPr>
            <a:r>
              <a:t>规范符合性修复</a:t>
            </a:r>
          </a:p>
        </p:txBody>
      </p:sp>
      <p:sp>
        <p:nvSpPr>
          <p:cNvPr id="20" name="Oval 19"/>
          <p:cNvSpPr/>
          <p:nvPr/>
        </p:nvSpPr>
        <p:spPr>
          <a:xfrm>
            <a:off x="7638288" y="2880359"/>
            <a:ext cx="329184" cy="329184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29728" y="2971799"/>
            <a:ext cx="146304" cy="146304"/>
          </a:xfrm>
          <a:prstGeom prst="ellipse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88480" y="14630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00D2FF"/>
                </a:solidFill>
                <a:latin typeface="微软雅黑"/>
              </a:defRPr>
            </a:pPr>
            <a:r>
              <a:t>Day 9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BBBBCC"/>
                </a:solidFill>
                <a:latin typeface="微软雅黑"/>
              </a:defRPr>
            </a:pPr>
            <a:r>
              <a:t>转折！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BBBBCC"/>
                </a:solidFill>
                <a:latin typeface="微软雅黑"/>
              </a:defRPr>
            </a:pPr>
            <a:r>
              <a:t>发现 SDK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05600" y="3474720"/>
            <a:ext cx="2194560" cy="2286000"/>
          </a:xfrm>
          <a:prstGeom prst="roundRect">
            <a:avLst/>
          </a:prstGeom>
          <a:solidFill>
            <a:srgbClr val="1A2442"/>
          </a:solidFill>
          <a:ln w="1270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88480" y="347472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42760" y="3611879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0">
                <a:solidFill>
                  <a:srgbClr val="BBBBCC"/>
                </a:solidFill>
                <a:latin typeface="微软雅黑"/>
              </a:defRPr>
            </a:pPr>
            <a:r>
              <a:t>终于看官方仓库</a:t>
            </a:r>
          </a:p>
          <a:p>
            <a:pPr algn="ctr">
              <a:spcAft>
                <a:spcPts val="200"/>
              </a:spcAft>
              <a:defRPr sz="1300" b="0">
                <a:solidFill>
                  <a:srgbClr val="BBBBCC"/>
                </a:solidFill>
                <a:latin typeface="微软雅黑"/>
              </a:defRPr>
            </a:pPr>
            <a:r>
              <a:t>发现 a2a-java SDK</a:t>
            </a:r>
          </a:p>
          <a:p>
            <a:pPr algn="ctr">
              <a:spcAft>
                <a:spcPts val="200"/>
              </a:spcAft>
              <a:defRPr sz="1300" b="0">
                <a:solidFill>
                  <a:srgbClr val="BBBBCC"/>
                </a:solidFill>
                <a:latin typeface="微软雅黑"/>
              </a:defRPr>
            </a:pPr>
            <a:r>
              <a:t>有 Spring WebFlux 示例</a:t>
            </a:r>
          </a:p>
        </p:txBody>
      </p:sp>
      <p:sp>
        <p:nvSpPr>
          <p:cNvPr id="26" name="Oval 25"/>
          <p:cNvSpPr/>
          <p:nvPr/>
        </p:nvSpPr>
        <p:spPr>
          <a:xfrm>
            <a:off x="11082528" y="2880359"/>
            <a:ext cx="329184" cy="329184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173968" y="2971799"/>
            <a:ext cx="146304" cy="146304"/>
          </a:xfrm>
          <a:prstGeom prst="ellipse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0" y="14630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00D2FF"/>
                </a:solidFill>
                <a:latin typeface="微软雅黑"/>
              </a:defRPr>
            </a:pPr>
            <a:r>
              <a:t>Day 10-17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BBBBCC"/>
                </a:solidFill>
                <a:latin typeface="微软雅黑"/>
              </a:defRPr>
            </a:pPr>
            <a:r>
              <a:t>SDK 重写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BBBBCC"/>
                </a:solidFill>
                <a:latin typeface="微软雅黑"/>
              </a:defRPr>
            </a:pPr>
            <a:r>
              <a:t>2400 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49840" y="3474720"/>
            <a:ext cx="2194560" cy="2286000"/>
          </a:xfrm>
          <a:prstGeom prst="roundRect">
            <a:avLst/>
          </a:prstGeom>
          <a:solidFill>
            <a:srgbClr val="1A2442"/>
          </a:solidFill>
          <a:ln w="12700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332720" y="347472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7000" y="3611879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0">
                <a:solidFill>
                  <a:srgbClr val="BBBBCC"/>
                </a:solidFill>
                <a:latin typeface="微软雅黑"/>
              </a:defRPr>
            </a:pPr>
            <a:r>
              <a:t>基于 SDK 重写</a:t>
            </a:r>
          </a:p>
          <a:p>
            <a:pPr algn="ctr">
              <a:spcAft>
                <a:spcPts val="200"/>
              </a:spcAft>
              <a:defRPr sz="1300" b="0">
                <a:solidFill>
                  <a:srgbClr val="BBBBCC"/>
                </a:solidFill>
                <a:latin typeface="微软雅黑"/>
              </a:defRPr>
            </a:pPr>
            <a:r>
              <a:t>代码量减少 68%</a:t>
            </a:r>
          </a:p>
          <a:p>
            <a:pPr algn="ctr">
              <a:spcAft>
                <a:spcPts val="200"/>
              </a:spcAft>
              <a:defRPr sz="1300" b="0">
                <a:solidFill>
                  <a:srgbClr val="BBBBCC"/>
                </a:solidFill>
                <a:latin typeface="微软雅黑"/>
              </a:defRPr>
            </a:pPr>
            <a:r>
              <a:t>但已浪费 17 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返工代价量化对比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维度</a:t>
                      </a:r>
                    </a:p>
                  </a:txBody>
                  <a:tcPr marL="137160" marR="91440" marT="73152" marB="73152">
                    <a:solidFill>
                      <a:srgbClr val="006B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旧方案（手写）</a:t>
                      </a:r>
                    </a:p>
                  </a:txBody>
                  <a:tcPr marL="137160" marR="91440" marT="73152" marB="73152">
                    <a:solidFill>
                      <a:srgbClr val="006B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新方案（基于 SDK）</a:t>
                      </a:r>
                    </a:p>
                  </a:txBody>
                  <a:tcPr marL="137160" marR="91440" marT="73152" marB="73152">
                    <a:solidFill>
                      <a:srgbClr val="006B8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2FF"/>
                          </a:solidFill>
                          <a:latin typeface="微软雅黑"/>
                        </a:defRPr>
                      </a:pPr>
                      <a:r>
                        <a:t>代码量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~7,600 行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~2,400 行（减少 68%）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2FF"/>
                          </a:solidFill>
                          <a:latin typeface="微软雅黑"/>
                        </a:defRPr>
                      </a:pPr>
                      <a:r>
                        <a:t>开发时间</a:t>
                      </a:r>
                    </a:p>
                  </a:txBody>
                  <a:tcPr marL="137160" marR="91440" marT="73152" marB="73152">
                    <a:solidFill>
                      <a:srgbClr val="10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9 天（含返工）</a:t>
                      </a:r>
                    </a:p>
                  </a:txBody>
                  <a:tcPr marL="137160" marR="91440" marT="73152" marB="73152">
                    <a:solidFill>
                      <a:srgbClr val="10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9 天（含学习 SDK）</a:t>
                      </a:r>
                    </a:p>
                  </a:txBody>
                  <a:tcPr marL="137160" marR="91440" marT="73152" marB="73152">
                    <a:solidFill>
                      <a:srgbClr val="1016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2FF"/>
                          </a:solidFill>
                          <a:latin typeface="微软雅黑"/>
                        </a:defRPr>
                      </a:pPr>
                      <a:r>
                        <a:t>协议正确性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多处不一致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由 SDK 保证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2FF"/>
                          </a:solidFill>
                          <a:latin typeface="微软雅黑"/>
                        </a:defRPr>
                      </a:pPr>
                      <a:r>
                        <a:t>维护成本</a:t>
                      </a:r>
                    </a:p>
                  </a:txBody>
                  <a:tcPr marL="137160" marR="91440" marT="73152" marB="73152">
                    <a:solidFill>
                      <a:srgbClr val="10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高（需跟进规范变化）</a:t>
                      </a:r>
                    </a:p>
                  </a:txBody>
                  <a:tcPr marL="137160" marR="91440" marT="73152" marB="73152">
                    <a:solidFill>
                      <a:srgbClr val="10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低（SDK 更新即可）</a:t>
                      </a:r>
                    </a:p>
                  </a:txBody>
                  <a:tcPr marL="137160" marR="91440" marT="73152" marB="73152">
                    <a:solidFill>
                      <a:srgbClr val="1016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2FF"/>
                          </a:solidFill>
                          <a:latin typeface="微软雅黑"/>
                        </a:defRPr>
                      </a:pPr>
                      <a:r>
                        <a:t>核心实现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自己写的 JsonRpcHandler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SDK 的 RestHandler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根因分析链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64240" cy="4754880"/>
          </a:xfrm>
          <a:prstGeom prst="roundRect">
            <a:avLst/>
          </a:prstGeom>
          <a:solidFill>
            <a:srgbClr val="0A0E1A"/>
          </a:solidFill>
          <a:ln w="1270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274320" tIns="36576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不了解 A2A 协议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-&gt; 没有阅读官方文档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  -&gt; 不知道有官方 SDK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    -&gt; 让 AI "自由发挥"实现协议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      -&gt; AI 生成的代码结构完整但细节不对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        -&gt; 不断修补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          -&gt; 越补越偏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            -&gt; 最终推倒重来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核心问题：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X AI 不会主动告诉你"有官方 SDK 可以直接用"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X 对不了解的领域，无法判断 AI 输出的正确性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X AI 的输出看起来越合理，就越危险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solidFill>
            <a:srgbClr val="15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1">
                <a:solidFill>
                  <a:srgbClr val="888899"/>
                </a:solidFill>
                <a:latin typeface="Consolas"/>
              </a:defRPr>
            </a:pPr>
            <a:r>
              <a:t>DIAGRAM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三个关键教训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52800" cy="4389120"/>
          </a:xfrm>
          <a:prstGeom prst="roundRect">
            <a:avLst/>
          </a:prstGeom>
          <a:solidFill>
            <a:srgbClr val="1A2442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463040"/>
            <a:ext cx="326136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298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D2FF"/>
                </a:solidFill>
                <a:latin typeface="微软雅黑"/>
              </a:defRPr>
            </a:pPr>
            <a:r>
              <a:t>教训 1：先调研再动手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103120"/>
            <a:ext cx="2987040" cy="18288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298704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BBBBCC"/>
                </a:solidFill>
                <a:latin typeface="微软雅黑"/>
              </a:defRPr>
            </a:pPr>
            <a:r>
              <a:t>官方有 SDK 吗？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BBBBCC"/>
                </a:solidFill>
                <a:latin typeface="微软雅黑"/>
              </a:defRPr>
            </a:pPr>
            <a:r>
              <a:t>有示例吗？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BBBBCC"/>
                </a:solidFill>
                <a:latin typeface="微软雅黑"/>
              </a:defRPr>
            </a:pPr>
            <a:r>
              <a:t>社区有方案吗？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BBBBCC"/>
                </a:solidFill>
                <a:latin typeface="微软雅黑"/>
              </a:defRPr>
            </a:pPr>
            <a:r>
              <a:t>如果先花 2 小时调研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BBBBCC"/>
                </a:solidFill>
                <a:latin typeface="微软雅黑"/>
              </a:defRPr>
            </a:pPr>
            <a:r>
              <a:t>就能避免 17 天返工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4360" y="1463040"/>
            <a:ext cx="3352800" cy="4389120"/>
          </a:xfrm>
          <a:prstGeom prst="roundRect">
            <a:avLst/>
          </a:prstGeom>
          <a:solidFill>
            <a:srgbClr val="1A2442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50080" y="1463040"/>
            <a:ext cx="326136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7240" y="1645920"/>
            <a:ext cx="298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FF6B6B"/>
                </a:solidFill>
                <a:latin typeface="微软雅黑"/>
              </a:defRPr>
            </a:pPr>
            <a:r>
              <a:t>教训 2：AI 不会替你做技术选型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87240" y="2103120"/>
            <a:ext cx="2987040" cy="18288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7240" y="2240280"/>
            <a:ext cx="298704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BBBBCC"/>
                </a:solidFill>
                <a:latin typeface="微软雅黑"/>
              </a:defRPr>
            </a:pPr>
            <a:r>
              <a:t>AI 不会告诉你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BBBBCC"/>
                </a:solidFill>
                <a:latin typeface="微软雅黑"/>
              </a:defRPr>
            </a:pPr>
            <a:r>
              <a:t>"有官方 SDK 可以用"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BBBBCC"/>
                </a:solidFill>
                <a:latin typeface="微软雅黑"/>
              </a:defRPr>
            </a:pPr>
            <a:r>
              <a:t>AI 不会质疑你的方案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BBBBCC"/>
                </a:solidFill>
                <a:latin typeface="微软雅黑"/>
              </a:defRPr>
            </a:pPr>
            <a:r>
              <a:t>是否是最优解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BBBBCC"/>
                </a:solidFill>
                <a:latin typeface="微软雅黑"/>
              </a:defRPr>
            </a:pPr>
            <a:r>
              <a:t>技术选型是人的责任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7200" y="1463040"/>
            <a:ext cx="3352800" cy="4389120"/>
          </a:xfrm>
          <a:prstGeom prst="roundRect">
            <a:avLst/>
          </a:prstGeom>
          <a:solidFill>
            <a:srgbClr val="1A2442"/>
          </a:solidFill>
          <a:ln w="25400">
            <a:solidFill>
              <a:srgbClr val="FFD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2920" y="1463040"/>
            <a:ext cx="3261360" cy="54864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0080" y="1645920"/>
            <a:ext cx="298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FFD43B"/>
                </a:solidFill>
                <a:latin typeface="微软雅黑"/>
              </a:defRPr>
            </a:pPr>
            <a:r>
              <a:t>教训 3：不了解的领域更危险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60080" y="2103120"/>
            <a:ext cx="2987040" cy="18288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0080" y="2240280"/>
            <a:ext cx="298704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BBBBCC"/>
                </a:solidFill>
                <a:latin typeface="微软雅黑"/>
              </a:defRPr>
            </a:pPr>
            <a:r>
              <a:t>熟悉的领域：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BBBBCC"/>
                </a:solidFill>
                <a:latin typeface="微软雅黑"/>
              </a:defRPr>
            </a:pPr>
            <a:r>
              <a:t>AI 输出质量高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BBBBCC"/>
                </a:solidFill>
                <a:latin typeface="微软雅黑"/>
              </a:defRPr>
            </a:pPr>
            <a:r>
              <a:t>不了解的领域：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BBBBCC"/>
                </a:solidFill>
                <a:latin typeface="微软雅黑"/>
              </a:defRPr>
            </a:pPr>
            <a:r>
              <a:t>无法判断正确性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BBBBCC"/>
                </a:solidFill>
                <a:latin typeface="微软雅黑"/>
              </a:defRPr>
            </a:pPr>
            <a:r>
              <a:t>越不了解，越要先建认知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如果重来会怎么做？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FD43B"/>
                </a:solidFill>
                <a:latin typeface="微软雅黑"/>
              </a:defRPr>
            </a:pPr>
            <a:r>
              <a:t>  ▶  正确做法：总计 3 天，而不是 17 天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spcAft>
                <a:spcPts val="600"/>
              </a:spcAft>
              <a:defRPr sz="1900" b="1">
                <a:solidFill>
                  <a:srgbClr val="00D2FF"/>
                </a:solidFill>
                <a:latin typeface="微软雅黑"/>
              </a:defRPr>
            </a:pPr>
            <a:r>
              <a:t>  ◆  Day 1 上午（2 小时）：调研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BBBBCC"/>
                </a:solidFill>
                <a:latin typeface="微软雅黑"/>
              </a:defRPr>
            </a:pPr>
            <a:r>
              <a:t>    ◦ 阅读 A2A 官方 GitHub 仓库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51CF66"/>
                </a:solidFill>
                <a:latin typeface="微软雅黑"/>
              </a:defRPr>
            </a:pPr>
            <a:r>
              <a:t>    ◦ 发现官方有 Java SDK + Spring WebFlux 示例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spcAft>
                <a:spcPts val="600"/>
              </a:spcAft>
              <a:defRPr sz="1900" b="1">
                <a:solidFill>
                  <a:srgbClr val="00D2FF"/>
                </a:solidFill>
                <a:latin typeface="微软雅黑"/>
              </a:defRPr>
            </a:pPr>
            <a:r>
              <a:t>  ◆  Day 1 下午 ~ Day 2：学习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BBBBCC"/>
                </a:solidFill>
                <a:latin typeface="微软雅黑"/>
              </a:defRPr>
            </a:pPr>
            <a:r>
              <a:t>    ◦ 学习 SDK 核心接口：AgentExecutor、RestHandler、TaskStore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BBBBCC"/>
                </a:solidFill>
                <a:latin typeface="微软雅黑"/>
              </a:defRPr>
            </a:pPr>
            <a:r>
              <a:t>    ◦ 运行官方示例代码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spcAft>
                <a:spcPts val="600"/>
              </a:spcAft>
              <a:defRPr sz="1900" b="1">
                <a:solidFill>
                  <a:srgbClr val="00D2FF"/>
                </a:solidFill>
                <a:latin typeface="微软雅黑"/>
              </a:defRPr>
            </a:pPr>
            <a:r>
              <a:t>  ◆  Day 3：适配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BBBBCC"/>
                </a:solidFill>
                <a:latin typeface="微软雅黑"/>
              </a:defRPr>
            </a:pPr>
            <a:r>
              <a:t>    ◦ 基于 SDK 实现 ShenYu 网关集成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BBBBCC"/>
                </a:solidFill>
                <a:latin typeface="微软雅黑"/>
              </a:defRPr>
            </a:pPr>
            <a:r>
              <a:t>    ◦ 参考官方示例调通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spcAft>
                <a:spcPts val="600"/>
              </a:spcAft>
              <a:defRPr sz="1700" b="1">
                <a:solidFill>
                  <a:srgbClr val="FF6B6B"/>
                </a:solidFill>
                <a:latin typeface="微软雅黑"/>
              </a:defRPr>
            </a:pPr>
            <a:r>
              <a:t>  ⚠  17 天的返工，如果先花 2 小时调研，可能 3 天就搞定了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5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4572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00D2FF"/>
                </a:solidFill>
                <a:latin typeface="微软雅黑"/>
              </a:defRPr>
            </a:pPr>
            <a:r>
              <a:t>第四部分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48640"/>
            <a:ext cx="73152" cy="25603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工具链与进阶技巧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749039"/>
            <a:ext cx="45720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0233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BBBBCC"/>
                </a:solidFill>
                <a:latin typeface="微软雅黑"/>
              </a:defRPr>
            </a:pPr>
            <a:r>
              <a:t>日常开发 / 系统调研 / 学习研究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工具组合矩阵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场景</a:t>
                      </a:r>
                    </a:p>
                  </a:txBody>
                  <a:tcPr marL="137160" marR="91440" marT="73152" marB="73152">
                    <a:solidFill>
                      <a:srgbClr val="006B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工具组合</a:t>
                      </a:r>
                    </a:p>
                  </a:txBody>
                  <a:tcPr marL="137160" marR="91440" marT="73152" marB="73152">
                    <a:solidFill>
                      <a:srgbClr val="006B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 marL="137160" marR="91440" marT="73152" marB="73152">
                    <a:solidFill>
                      <a:srgbClr val="006B8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2FF"/>
                          </a:solidFill>
                          <a:latin typeface="微软雅黑"/>
                        </a:defRPr>
                      </a:pPr>
                      <a:r>
                        <a:t>日常开发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Claude Code + cc-switch</a:t>
                      </a:r>
                    </a:p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+ jdtls-lsp + Apifox MCP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主力编码、模型切换</a:t>
                      </a:r>
                    </a:p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Java 语言服务、API 文档查询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2FF"/>
                          </a:solidFill>
                          <a:latin typeface="微软雅黑"/>
                        </a:defRPr>
                      </a:pPr>
                      <a:r>
                        <a:t>系统调研</a:t>
                      </a:r>
                    </a:p>
                  </a:txBody>
                  <a:tcPr marL="137160" marR="91440" marT="73152" marB="73152">
                    <a:solidFill>
                      <a:srgbClr val="10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Claude Code + Playwright MCP</a:t>
                      </a:r>
                    </a:p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+ Web Reader</a:t>
                      </a:r>
                    </a:p>
                  </a:txBody>
                  <a:tcPr marL="137160" marR="91440" marT="73152" marB="73152">
                    <a:solidFill>
                      <a:srgbClr val="10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浏览器自动化、自动截图</a:t>
                      </a:r>
                    </a:p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网页内容抓取、生成报告</a:t>
                      </a:r>
                    </a:p>
                  </a:txBody>
                  <a:tcPr marL="137160" marR="91440" marT="73152" marB="73152">
                    <a:solidFill>
                      <a:srgbClr val="1016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2FF"/>
                          </a:solidFill>
                          <a:latin typeface="微软雅黑"/>
                        </a:defRPr>
                      </a:pPr>
                      <a:r>
                        <a:t>学习研究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Claude Code + Web Search</a:t>
                      </a:r>
                    </a:p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+ guided-learning-tutor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苏格拉底式引导学习</a:t>
                      </a:r>
                    </a:p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搜索资料、深度阅读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MCP 扩展与自定义技能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900" b="1">
                <a:solidFill>
                  <a:srgbClr val="00D2FF"/>
                </a:solidFill>
                <a:latin typeface="微软雅黑"/>
              </a:defRPr>
            </a:pPr>
            <a:r>
              <a:t>  ◆  MCP 服务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BBBBCC"/>
                </a:solidFill>
                <a:latin typeface="微软雅黑"/>
              </a:defRPr>
            </a:pPr>
            <a:r>
              <a:t>    ◦ Apifox MCP：开发接口时直接查询 API 定义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BBBBCC"/>
                </a:solidFill>
                <a:latin typeface="微软雅黑"/>
              </a:defRPr>
            </a:pPr>
            <a:r>
              <a:t>    ◦ Playwright MCP：浏览器自动化、系统调研、自动截图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BBBBCC"/>
                </a:solidFill>
                <a:latin typeface="微软雅黑"/>
              </a:defRPr>
            </a:pPr>
            <a:r>
              <a:t>    ◦ Web Reader：抓取在线文档、技术资料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spcAft>
                <a:spcPts val="600"/>
              </a:spcAft>
              <a:defRPr sz="1900" b="1">
                <a:solidFill>
                  <a:srgbClr val="00D2FF"/>
                </a:solidFill>
                <a:latin typeface="微软雅黑"/>
              </a:defRPr>
            </a:pPr>
            <a:r>
              <a:t>  ◆  自定义技能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00D2FF"/>
                </a:solidFill>
                <a:latin typeface="微软雅黑"/>
              </a:defRPr>
            </a:pPr>
            <a:r>
              <a:t>    ◦ guided-learning-tutor：苏格拉底式学习引导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888899"/>
                </a:solidFill>
                <a:latin typeface="微软雅黑"/>
              </a:defRPr>
            </a:pPr>
            <a:r>
              <a:t>    ◦   → 学生分类、三级掌握标准、五步交互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00D2FF"/>
                </a:solidFill>
                <a:latin typeface="微软雅黑"/>
              </a:defRPr>
            </a:pPr>
            <a:r>
              <a:t>    ◦ retrospect：复盘技能，三问法 + 经验固化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888899"/>
                </a:solidFill>
                <a:latin typeface="微软雅黑"/>
              </a:defRPr>
            </a:pPr>
            <a:r>
              <a:t>    ◦   → 完成任务 → 三问反思 → 提炼规则 → 保存到 memory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00D2FF"/>
                </a:solidFill>
                <a:latin typeface="微软雅黑"/>
              </a:defRPr>
            </a:pPr>
            <a:r>
              <a:t>    ◦ commit-and-push：自动提交推送流程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888899"/>
                </a:solidFill>
                <a:latin typeface="微软雅黑"/>
              </a:defRPr>
            </a:pPr>
            <a:r>
              <a:t>    ◦   → 分析变更 → 生成 message → 排除敏感文件 → 提交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模型选择策略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场景</a:t>
                      </a:r>
                    </a:p>
                  </a:txBody>
                  <a:tcPr marL="137160" marR="91440" marT="73152" marB="73152">
                    <a:solidFill>
                      <a:srgbClr val="006B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推荐模型</a:t>
                      </a:r>
                    </a:p>
                  </a:txBody>
                  <a:tcPr marL="137160" marR="91440" marT="73152" marB="73152">
                    <a:solidFill>
                      <a:srgbClr val="006B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原因</a:t>
                      </a:r>
                    </a:p>
                  </a:txBody>
                  <a:tcPr marL="137160" marR="91440" marT="73152" marB="73152">
                    <a:solidFill>
                      <a:srgbClr val="006B8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2FF"/>
                          </a:solidFill>
                          <a:latin typeface="微软雅黑"/>
                        </a:defRPr>
                      </a:pPr>
                      <a:r>
                        <a:t>日常编码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Sonnet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性价比最高，速度最快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2FF"/>
                          </a:solidFill>
                          <a:latin typeface="微软雅黑"/>
                        </a:defRPr>
                      </a:pPr>
                      <a:r>
                        <a:t>系统设计、架构规划</a:t>
                      </a:r>
                    </a:p>
                  </a:txBody>
                  <a:tcPr marL="137160" marR="91440" marT="73152" marB="73152">
                    <a:solidFill>
                      <a:srgbClr val="10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Opus</a:t>
                      </a:r>
                    </a:p>
                  </a:txBody>
                  <a:tcPr marL="137160" marR="91440" marT="73152" marB="73152">
                    <a:solidFill>
                      <a:srgbClr val="10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推理能力更强，适合复杂决策</a:t>
                      </a:r>
                    </a:p>
                  </a:txBody>
                  <a:tcPr marL="137160" marR="91440" marT="73152" marB="73152">
                    <a:solidFill>
                      <a:srgbClr val="1016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2FF"/>
                          </a:solidFill>
                          <a:latin typeface="微软雅黑"/>
                        </a:defRPr>
                      </a:pPr>
                      <a:r>
                        <a:t>反复尝试无果时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切换到 Opus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更强模型可能一次性解决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2FF"/>
                          </a:solidFill>
                          <a:latin typeface="微软雅黑"/>
                        </a:defRPr>
                      </a:pPr>
                      <a:r>
                        <a:t>简单搜索、快速查询</a:t>
                      </a:r>
                    </a:p>
                  </a:txBody>
                  <a:tcPr marL="137160" marR="91440" marT="73152" marB="73152">
                    <a:solidFill>
                      <a:srgbClr val="10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Haiku</a:t>
                      </a:r>
                    </a:p>
                  </a:txBody>
                  <a:tcPr marL="137160" marR="91440" marT="73152" marB="73152">
                    <a:solidFill>
                      <a:srgbClr val="10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速度快，成本低</a:t>
                      </a:r>
                    </a:p>
                  </a:txBody>
                  <a:tcPr marL="137160" marR="91440" marT="73152" marB="73152">
                    <a:solidFill>
                      <a:srgbClr val="10162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AI 的更多应用场景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900" b="1">
                <a:solidFill>
                  <a:srgbClr val="00D2FF"/>
                </a:solidFill>
                <a:latin typeface="微软雅黑"/>
              </a:defRPr>
            </a:pPr>
            <a:r>
              <a:t>  ◆  解读开源项目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BBBBCC"/>
                </a:solidFill>
                <a:latin typeface="微软雅黑"/>
              </a:defRPr>
            </a:pPr>
            <a:r>
              <a:t>    ◦ AG-UI 协议研究：21 篇深度文档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BBBBCC"/>
                </a:solidFill>
                <a:latin typeface="微软雅黑"/>
              </a:defRPr>
            </a:pPr>
            <a:r>
              <a:t>    ◦ 从简介到 Java SDK 实战案例，系统化输出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spcAft>
                <a:spcPts val="600"/>
              </a:spcAft>
              <a:defRPr sz="1900" b="1">
                <a:solidFill>
                  <a:srgbClr val="00D2FF"/>
                </a:solidFill>
                <a:latin typeface="微软雅黑"/>
              </a:defRPr>
            </a:pPr>
            <a:r>
              <a:t>  ◆  AI + Playwright 深入解读系统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BBBBCC"/>
                </a:solidFill>
                <a:latin typeface="微软雅黑"/>
              </a:defRPr>
            </a:pPr>
            <a:r>
              <a:t>    ◦ 自动截图、填表、点击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BBBBCC"/>
                </a:solidFill>
                <a:latin typeface="微软雅黑"/>
              </a:defRPr>
            </a:pPr>
            <a:r>
              <a:t>    ◦ 生成用户手册和系统分析报告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spcAft>
                <a:spcPts val="600"/>
              </a:spcAft>
              <a:defRPr sz="1900" b="1">
                <a:solidFill>
                  <a:srgbClr val="00D2FF"/>
                </a:solidFill>
                <a:latin typeface="微软雅黑"/>
              </a:defRPr>
            </a:pPr>
            <a:r>
              <a:t>  ◆  AI 自学新技术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BBBBCC"/>
                </a:solidFill>
                <a:latin typeface="微软雅黑"/>
              </a:defRPr>
            </a:pPr>
            <a:r>
              <a:t>    ◦ Python 完整学习路径：16 模块，60+ 主题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BBBBCC"/>
                </a:solidFill>
                <a:latin typeface="微软雅黑"/>
              </a:defRPr>
            </a:pPr>
            <a:r>
              <a:t>    ◦ 苏格拉底式引导，主动验证理解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给同事的实操建议——起步三步走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900" b="1">
                <a:solidFill>
                  <a:srgbClr val="00D2FF"/>
                </a:solidFill>
                <a:latin typeface="微软雅黑"/>
              </a:defRPr>
            </a:pPr>
            <a:r>
              <a:t>  ◆  第一天：创建 CLAUDE.md，写三行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51CF66"/>
                </a:solidFill>
                <a:latin typeface="微软雅黑"/>
              </a:defRPr>
            </a:pPr>
            <a:r>
              <a:t>    ◦ 项目是什么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51CF66"/>
                </a:solidFill>
                <a:latin typeface="微软雅黑"/>
              </a:defRPr>
            </a:pPr>
            <a:r>
              <a:t>    ◦ 用什么技术栈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51CF66"/>
                </a:solidFill>
                <a:latin typeface="微软雅黑"/>
              </a:defRPr>
            </a:pPr>
            <a:r>
              <a:t>    ◦ 怎样算好的代码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spcAft>
                <a:spcPts val="600"/>
              </a:spcAft>
              <a:defRPr sz="1900" b="1">
                <a:solidFill>
                  <a:srgbClr val="00D2FF"/>
                </a:solidFill>
                <a:latin typeface="微软雅黑"/>
              </a:defRPr>
            </a:pPr>
            <a:r>
              <a:t>  ◆  第一周：遇到问题就加一条 rule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FD43B"/>
                </a:solidFill>
                <a:latin typeface="微软雅黑"/>
              </a:defRPr>
            </a:pPr>
            <a:r>
              <a:t>    ◦ 不要提前设计完美的规则体系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FD43B"/>
                </a:solidFill>
                <a:latin typeface="微软雅黑"/>
              </a:defRPr>
            </a:pPr>
            <a:r>
              <a:t>    ◦ 每一条规则都应有一个具体的"犯错事件"作为来源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spcAft>
                <a:spcPts val="600"/>
              </a:spcAft>
              <a:defRPr sz="1900" b="1">
                <a:solidFill>
                  <a:srgbClr val="00D2FF"/>
                </a:solidFill>
                <a:latin typeface="微软雅黑"/>
              </a:defRPr>
            </a:pPr>
            <a:r>
              <a:t>  ◆  第一个月：回顾 rules/，做一次大清理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00D2FF"/>
                </a:solidFill>
                <a:latin typeface="微软雅黑"/>
              </a:defRPr>
            </a:pPr>
            <a:r>
              <a:t>    ◦ 删除可从代码推导的信息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00D2FF"/>
                </a:solidFill>
                <a:latin typeface="微软雅黑"/>
              </a:defRPr>
            </a:pPr>
            <a:r>
              <a:t>    ◦ 移除"人看"的文档到 docs/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00D2FF"/>
                </a:solidFill>
                <a:latin typeface="微软雅黑"/>
              </a:defRPr>
            </a:pPr>
            <a:r>
              <a:t>    ◦ 确认每条规则都有存在的价值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Harness 生长循环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64240" cy="4754880"/>
          </a:xfrm>
          <a:prstGeom prst="roundRect">
            <a:avLst/>
          </a:prstGeom>
          <a:solidFill>
            <a:srgbClr val="0A0E1A"/>
          </a:solidFill>
          <a:ln w="12700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274320" tIns="36576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+----------------------------------------------------+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|                               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|  1. 让 AI 做任务（尽量少约束）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|         |                     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|  2. 观察 AI 的输出            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|         |                     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|  3. 发现不符合预期的地方       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|         |                     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|  4. 分析根因（缺上下文？缺规则？）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|         |                     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|  5. 添加最小约束（只解决当前问题）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|         |                     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|  6. 验证效果                  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|         |                     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|     回到 1，循环往复          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|                                                    |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+----------------------------------------------------+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Harness 不是设计出来的，而是被经验喂养出来的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每次只添加解决当前问题的最小约束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solidFill>
            <a:srgbClr val="15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000" b="1">
                <a:solidFill>
                  <a:srgbClr val="888899"/>
                </a:solidFill>
                <a:latin typeface="Consolas"/>
              </a:defRPr>
            </a:pPr>
            <a:r>
              <a:t>DIAGRAM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心态转变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从 ❌</a:t>
                      </a:r>
                    </a:p>
                  </a:txBody>
                  <a:tcPr marL="137160" marR="91440" marT="73152" marB="73152">
                    <a:solidFill>
                      <a:srgbClr val="006B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到 ✅</a:t>
                      </a:r>
                    </a:p>
                  </a:txBody>
                  <a:tcPr marL="137160" marR="91440" marT="73152" marB="73152">
                    <a:solidFill>
                      <a:srgbClr val="006B8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2FF"/>
                          </a:solidFill>
                          <a:latin typeface="微软雅黑"/>
                        </a:defRPr>
                      </a:pPr>
                      <a:r>
                        <a:t>代码作者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系统设计师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2FF"/>
                          </a:solidFill>
                          <a:latin typeface="微软雅黑"/>
                        </a:defRPr>
                      </a:pPr>
                      <a:r>
                        <a:t>追求一步到位</a:t>
                      </a:r>
                    </a:p>
                  </a:txBody>
                  <a:tcPr marL="137160" marR="91440" marT="73152" marB="73152">
                    <a:solidFill>
                      <a:srgbClr val="10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先有再优化</a:t>
                      </a:r>
                    </a:p>
                  </a:txBody>
                  <a:tcPr marL="137160" marR="91440" marT="73152" marB="73152">
                    <a:solidFill>
                      <a:srgbClr val="1016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2FF"/>
                          </a:solidFill>
                          <a:latin typeface="微软雅黑"/>
                        </a:defRPr>
                      </a:pPr>
                      <a:r>
                        <a:t>自己记住经验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让项目记住经验</a:t>
                      </a:r>
                    </a:p>
                  </a:txBody>
                  <a:tcPr marL="137160" marR="91440" marT="73152" marB="73152">
                    <a:solidFill>
                      <a:srgbClr val="141C3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2FF"/>
                          </a:solidFill>
                          <a:latin typeface="微软雅黑"/>
                        </a:defRPr>
                      </a:pPr>
                      <a:r>
                        <a:t>文档越全越好</a:t>
                      </a:r>
                    </a:p>
                  </a:txBody>
                  <a:tcPr marL="137160" marR="91440" marT="73152" marB="73152">
                    <a:solidFill>
                      <a:srgbClr val="10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信息密度越高越好</a:t>
                      </a:r>
                    </a:p>
                  </a:txBody>
                  <a:tcPr marL="137160" marR="91440" marT="73152" marB="73152">
                    <a:solidFill>
                      <a:srgbClr val="10162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避坑指南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434589" cy="4389120"/>
          </a:xfrm>
          <a:prstGeom prst="roundRect">
            <a:avLst/>
          </a:prstGeom>
          <a:solidFill>
            <a:srgbClr val="1A2442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463040"/>
            <a:ext cx="2343149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206882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0D2FF"/>
                </a:solidFill>
                <a:latin typeface="微软雅黑"/>
              </a:defRPr>
            </a:pPr>
            <a:r>
              <a:t>警惕"Markdown 怪兽"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103120"/>
            <a:ext cx="2068829" cy="18288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2068829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BBBBCC"/>
                </a:solidFill>
                <a:latin typeface="微软雅黑"/>
              </a:defRPr>
            </a:pPr>
            <a:r>
              <a:t>规范要短小、原子化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BBBBCC"/>
                </a:solidFill>
                <a:latin typeface="微软雅黑"/>
              </a:defRPr>
            </a:pPr>
            <a:r>
              <a:t>可验证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BBBBCC"/>
                </a:solidFill>
                <a:latin typeface="微软雅黑"/>
              </a:defRPr>
            </a:pPr>
            <a:r>
              <a:t>人看的放 docs/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BBBBCC"/>
                </a:solidFill>
                <a:latin typeface="微软雅黑"/>
              </a:defRPr>
            </a:pPr>
            <a:r>
              <a:t>AI 必须看的放 rules/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6150" y="1463040"/>
            <a:ext cx="2434589" cy="4389120"/>
          </a:xfrm>
          <a:prstGeom prst="roundRect">
            <a:avLst/>
          </a:prstGeom>
          <a:solidFill>
            <a:srgbClr val="1A2442"/>
          </a:solidFill>
          <a:ln w="25400">
            <a:solidFill>
              <a:srgbClr val="FFD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31870" y="1463040"/>
            <a:ext cx="2343149" cy="54864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69030" y="1645920"/>
            <a:ext cx="206882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FFD43B"/>
                </a:solidFill>
                <a:latin typeface="微软雅黑"/>
              </a:defRPr>
            </a:pPr>
            <a:r>
              <a:t>不要过度微观管理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69030" y="2103120"/>
            <a:ext cx="2068829" cy="18288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69030" y="2240280"/>
            <a:ext cx="2068829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BBBBCC"/>
                </a:solidFill>
                <a:latin typeface="微软雅黑"/>
              </a:defRPr>
            </a:pPr>
            <a:r>
              <a:t>明确意图和约束后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BBBBCC"/>
                </a:solidFill>
                <a:latin typeface="微软雅黑"/>
              </a:defRPr>
            </a:pPr>
            <a:r>
              <a:t>给 AI 发挥空间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BBBBCC"/>
                </a:solidFill>
                <a:latin typeface="微软雅黑"/>
              </a:defRPr>
            </a:pPr>
            <a:r>
              <a:t>约束优于提示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BBBBCC"/>
                </a:solidFill>
                <a:latin typeface="微软雅黑"/>
              </a:defRPr>
            </a:pPr>
            <a:r>
              <a:t>用工具强制执行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0779" y="1463040"/>
            <a:ext cx="2434589" cy="4389120"/>
          </a:xfrm>
          <a:prstGeom prst="roundRect">
            <a:avLst/>
          </a:prstGeom>
          <a:solidFill>
            <a:srgbClr val="1A2442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86499" y="1463040"/>
            <a:ext cx="2343149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59" y="1645920"/>
            <a:ext cx="206882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FF6B6B"/>
                </a:solidFill>
                <a:latin typeface="微软雅黑"/>
              </a:defRPr>
            </a:pPr>
            <a:r>
              <a:t>两轮失败原则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23659" y="2103120"/>
            <a:ext cx="2068829" cy="18288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3659" y="2240280"/>
            <a:ext cx="2068829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BBBBCC"/>
                </a:solidFill>
                <a:latin typeface="微软雅黑"/>
              </a:defRPr>
            </a:pPr>
            <a:r>
              <a:t>修正超过两次还没过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BBBBCC"/>
                </a:solidFill>
                <a:latin typeface="微软雅黑"/>
              </a:defRPr>
            </a:pPr>
            <a:r>
              <a:t>果断 /clear 重来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BBBBCC"/>
                </a:solidFill>
                <a:latin typeface="微软雅黑"/>
              </a:defRPr>
            </a:pPr>
            <a:r>
              <a:t>不要在低效循环里死磕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BBBBCC"/>
                </a:solidFill>
                <a:latin typeface="微软雅黑"/>
              </a:defRPr>
            </a:pPr>
            <a:r>
              <a:t>考虑切换更强模型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5410" y="1463040"/>
            <a:ext cx="2434589" cy="4389120"/>
          </a:xfrm>
          <a:prstGeom prst="roundRect">
            <a:avLst/>
          </a:prstGeom>
          <a:solidFill>
            <a:srgbClr val="1A2442"/>
          </a:solidFill>
          <a:ln w="25400"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41130" y="1463040"/>
            <a:ext cx="2343149" cy="54864"/>
          </a:xfrm>
          <a:prstGeom prst="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78290" y="1645920"/>
            <a:ext cx="206882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51CF66"/>
                </a:solidFill>
                <a:latin typeface="微软雅黑"/>
              </a:defRPr>
            </a:pPr>
            <a:r>
              <a:t>先建认知再辅助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78290" y="2103120"/>
            <a:ext cx="2068829" cy="18288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78290" y="2240280"/>
            <a:ext cx="2068829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BBBBCC"/>
                </a:solidFill>
                <a:latin typeface="微软雅黑"/>
              </a:defRPr>
            </a:pPr>
            <a:r>
              <a:t>越不了解的领域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BBBBCC"/>
                </a:solidFill>
                <a:latin typeface="微软雅黑"/>
              </a:defRPr>
            </a:pPr>
            <a:r>
              <a:t>越要先建立认知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BBBBCC"/>
                </a:solidFill>
                <a:latin typeface="微软雅黑"/>
              </a:defRPr>
            </a:pPr>
            <a:r>
              <a:t>不了解的东西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BBBBCC"/>
                </a:solidFill>
                <a:latin typeface="微软雅黑"/>
              </a:defRPr>
            </a:pPr>
            <a:r>
              <a:t>AI 输出看起来越合理越危险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5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430000" y="182880"/>
            <a:ext cx="365760" cy="365760"/>
          </a:xfrm>
          <a:prstGeom prst="rect">
            <a:avLst/>
          </a:prstGeom>
          <a:solidFill>
            <a:srgbClr val="1E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95760" y="457200"/>
            <a:ext cx="182880" cy="182880"/>
          </a:xfrm>
          <a:prstGeom prst="rect">
            <a:avLst/>
          </a:prstGeom>
          <a:solidFill>
            <a:srgbClr val="00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2000" b="1">
                <a:solidFill>
                  <a:srgbClr val="1E2D50"/>
                </a:solidFill>
                <a:latin typeface="微软雅黑"/>
              </a:defRPr>
            </a:pPr>
            <a: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286000"/>
            <a:ext cx="8869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800" b="1">
                <a:solidFill>
                  <a:srgbClr val="00D2FF"/>
                </a:solidFill>
                <a:latin typeface="微软雅黑"/>
              </a:defRPr>
            </a:pPr>
            <a:r>
              <a:t>规范先行，代码自动。</a:t>
            </a:r>
            <a:br/>
            <a:r>
              <a:t>从"写代码的人"变成"设计系统的人"。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5669280"/>
            <a:ext cx="210312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888899"/>
                </a:solidFill>
                <a:latin typeface="微软雅黑"/>
              </a:defRPr>
            </a:pPr>
            <a:r>
              <a:t>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66928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BBBBCC"/>
                </a:solidFill>
                <a:latin typeface="微软雅黑"/>
              </a:defRPr>
            </a:pPr>
            <a:r>
              <a:t>感谢聆听  |  Q&amp;A 交流时间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