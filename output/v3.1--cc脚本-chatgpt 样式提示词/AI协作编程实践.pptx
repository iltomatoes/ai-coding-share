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286000"/>
            <a:ext cx="54864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4000" b="1">
                <a:solidFill>
                  <a:srgbClr val="1E293B"/>
                </a:solidFill>
                <a:latin typeface="微软雅黑"/>
              </a:defRPr>
            </a:pPr>
            <a:r>
              <a:t>Java 开发中的 AI 协作编程实践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749039"/>
            <a:ext cx="27432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64748B"/>
                </a:solidFill>
                <a:latin typeface="微软雅黑"/>
              </a:defRPr>
            </a:pPr>
            <a:r>
              <a:t>从真实项目说起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94A3B8"/>
                </a:solidFill>
                <a:latin typeface="微软雅黑"/>
              </a:defRPr>
            </a:pPr>
            <a:r>
              <a:t>演讲人 /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关于这次分享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三个真实 Java 项目的 AI 协作编程经历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有成功的喜悦，也有翻车的教训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目标：听完之后，你能带走一些可以马上用的东西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0" y="1371600"/>
            <a:ext cx="54864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2563EB"/>
                </a:solidFill>
                <a:latin typeface="微软雅黑"/>
              </a:defRPr>
            </a:pPr>
            <a:r>
              <a:t>第一部分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1E293B"/>
                </a:solidFill>
                <a:latin typeface="微软雅黑"/>
              </a:defRPr>
            </a:pPr>
            <a:r>
              <a:t>从真实项目说起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56616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4748B"/>
                </a:solidFill>
                <a:latin typeface="微软雅黑"/>
              </a:defRPr>
            </a:pPr>
            <a:r>
              <a:t>两个案例，两种结局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案例一：aip-server 项目概览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AI 智能平台后端服务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1800" b="0">
                <a:solidFill>
                  <a:srgbClr val="64748B"/>
                </a:solidFill>
                <a:latin typeface="微软雅黑"/>
              </a:defRPr>
            </a:pPr>
            <a:r>
              <a:t>    ◦ 企业级智能体管理、知识库、数据分析平台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100 个 Controller · 11 个业务模块 · 2394 次提交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技术栈：Spring Boot 2.7 + MyBatis Plus + PostgreSQL + Java 17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多数据源：PostgreSQL + Neo4j + Dremio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案例一：聚焦 logic/tool 技能工具模块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49527" y="1828800"/>
            <a:ext cx="29260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9527" y="210312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563EB"/>
                </a:solidFill>
                <a:latin typeface="微软雅黑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0967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个 Controller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LtCodeRepo / LtMcp / LtExtensionPlugin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LtOpenapi / LtTaskflow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1828800"/>
            <a:ext cx="29260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807" y="210312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563EB"/>
                </a:solidFill>
                <a:latin typeface="微软雅黑"/>
              </a:defRPr>
            </a:pPr>
            <a:r>
              <a:t>~80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247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个 API 端点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6087" y="1828800"/>
            <a:ext cx="29260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6087" y="210312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563EB"/>
                </a:solidFill>
                <a:latin typeface="微软雅黑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7527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个核心实体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49527" y="4206240"/>
            <a:ext cx="29260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9527" y="4480559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563EB"/>
                </a:solidFill>
                <a:latin typeface="微软雅黑"/>
              </a:defRPr>
            </a:pPr>
            <a: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0967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个数据库迁移版本</a:t>
            </a:r>
          </a:p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v2.1.0 → v2.2.14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案例一：协作模式 — 人与 AI 的分工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人设计原型 → 人设计表结构（AI 参与讨论）→ AI 编码 → 人评审 &amp; 测试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1E293B"/>
                </a:solidFill>
                <a:latin typeface="微软雅黑"/>
              </a:defRPr>
            </a:pPr>
          </a:p>
          <a:p>
            <a:pPr algn="l">
              <a:spcAft>
                <a:spcPts val="600"/>
              </a:spcAft>
              <a:defRPr sz="2200" b="1">
                <a:solidFill>
                  <a:srgbClr val="2563EB"/>
                </a:solidFill>
                <a:latin typeface="微软雅黑"/>
              </a:defRPr>
            </a:pPr>
            <a:r>
              <a:t>关键原则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人负责"定方向"（设计、评审、验收）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AI 负责"跑量"（编码实现）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及时评审，小步验证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5200" b="1">
                <a:solidFill>
                  <a:srgbClr val="2563EB"/>
                </a:solidFill>
                <a:latin typeface="微软雅黑"/>
              </a:defRPr>
            </a:pPr>
            <a:r>
              <a:t>5 天 80 个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0">
                <a:solidFill>
                  <a:srgbClr val="64748B"/>
                </a:solidFill>
                <a:latin typeface="微软雅黑"/>
              </a:defRPr>
            </a:pPr>
            <a:r>
              <a:t>29 次提交（3月4-11日）· 13 次 fix 占 45% · 效率提升 2-4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502920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2563EB"/>
                </a:solidFill>
                <a:latin typeface="微软雅黑"/>
              </a:defRPr>
            </a:pPr>
            <a:r>
              <a:t>设计到位 + 边界清晰 = AI 效率拉满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0">
                <a:solidFill>
                  <a:srgbClr val="64748B"/>
                </a:solidFill>
                <a:latin typeface="微软雅黑"/>
              </a:defRPr>
            </a:pPr>
            <a:r>
              <a:t>表结构设计清晰 → AI 有明确边界</a:t>
            </a:r>
            <a:br/>
            <a:r>
              <a:t>及时评审，小步验证</a:t>
            </a:r>
            <a:br/>
            <a:r>
              <a:t>人把控方向，AI 堆砌工作量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502920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案例二：A2A 适配器 — 项目背景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开发 A2A 协议适配器（aip-gateway 的 a2a-wrapper 插件）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64748B"/>
                </a:solidFill>
                <a:latin typeface="微软雅黑"/>
              </a:defRPr>
            </a:pPr>
            <a:r>
              <a:t>• 相对陌生的领域，没有深入调研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让 AI 根据 A2A 协议文档直接编码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DC2626"/>
                </a:solidFill>
                <a:latin typeface="微软雅黑"/>
              </a:defRPr>
            </a:pPr>
            <a:r>
              <a:t>⚠ 关键问题：自己对 A2A 不了解，无法判断 AI 输出是否正确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案例二：发生了什么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3017520"/>
            <a:ext cx="981425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88036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54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微软雅黑"/>
              </a:defRPr>
            </a:pPr>
            <a:r>
              <a:t>第1天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让 AI 编码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" y="3474720"/>
            <a:ext cx="219456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3611879"/>
            <a:ext cx="20116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根据 A2A 协议文档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直接编码</a:t>
            </a:r>
          </a:p>
        </p:txBody>
      </p:sp>
      <p:sp>
        <p:nvSpPr>
          <p:cNvPr id="9" name="Oval 8"/>
          <p:cNvSpPr/>
          <p:nvPr/>
        </p:nvSpPr>
        <p:spPr>
          <a:xfrm>
            <a:off x="4322978" y="288036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5738" y="1554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微软雅黑"/>
              </a:defRPr>
            </a:pPr>
            <a:r>
              <a:t>第1-2周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大量产出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2858" y="3474720"/>
            <a:ext cx="219456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4298" y="3611879"/>
            <a:ext cx="20116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46 次提交 · 16 天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无法验证正确性</a:t>
            </a:r>
          </a:p>
        </p:txBody>
      </p:sp>
      <p:sp>
        <p:nvSpPr>
          <p:cNvPr id="13" name="Oval 12"/>
          <p:cNvSpPr/>
          <p:nvPr/>
        </p:nvSpPr>
        <p:spPr>
          <a:xfrm>
            <a:off x="7594396" y="288036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7156" y="1554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微软雅黑"/>
              </a:defRPr>
            </a:pPr>
            <a:r>
              <a:t>转折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发现官方 SDK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34276" y="3474720"/>
            <a:ext cx="219456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5716" y="3611879"/>
            <a:ext cx="20116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a2aproject/a2a-java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有 Spring WebFlux 示例</a:t>
            </a:r>
          </a:p>
        </p:txBody>
      </p:sp>
      <p:sp>
        <p:nvSpPr>
          <p:cNvPr id="17" name="Oval 16"/>
          <p:cNvSpPr/>
          <p:nvPr/>
        </p:nvSpPr>
        <p:spPr>
          <a:xfrm>
            <a:off x="10865815" y="288036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88575" y="155448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微软雅黑"/>
              </a:defRPr>
            </a:pPr>
            <a:r>
              <a:t>推倒重来</a:t>
            </a:r>
          </a:p>
          <a:p>
            <a:pPr algn="ctr">
              <a:spcAft>
                <a:spcPts val="200"/>
              </a:spcAft>
              <a:defRPr sz="1200" b="0">
                <a:solidFill>
                  <a:srgbClr val="64748B"/>
                </a:solidFill>
                <a:latin typeface="微软雅黑"/>
              </a:defRPr>
            </a:pPr>
            <a:r>
              <a:t>SDK 3 天搞定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05695" y="3474720"/>
            <a:ext cx="2194560" cy="2103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7135" y="3611879"/>
            <a:ext cx="2011679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141,026 行删除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1,786 行新增</a:t>
            </a:r>
          </a:p>
          <a:p>
            <a:pPr algn="ctr">
              <a:spcAft>
                <a:spcPts val="200"/>
              </a:spcAft>
              <a:defRPr sz="1300" b="0">
                <a:solidFill>
                  <a:srgbClr val="64748B"/>
                </a:solidFill>
                <a:latin typeface="微软雅黑"/>
              </a:defRPr>
            </a:pPr>
            <a:r>
              <a:t>代码缩减 98.7%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案例二：翻车现场（一）— 造轮子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645920"/>
            <a:ext cx="4572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AI 自研实现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从零编码，看似完整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代码量大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无法验证正确性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4572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EA580C"/>
                </a:solidFill>
                <a:latin typeface="微软雅黑"/>
              </a:defRPr>
            </a:pPr>
            <a:r>
              <a:t>官方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3 天完成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代码少一个数量级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稳定性有保障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案例二：翻车现场（二）— 更多教训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3088538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645920"/>
            <a:ext cx="3088538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783080"/>
            <a:ext cx="2814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2563EB"/>
                </a:solidFill>
                <a:latin typeface="微软雅黑"/>
              </a:defRPr>
            </a:pPr>
            <a:r>
              <a:t>SQL 版本号错误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86000"/>
            <a:ext cx="28142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生成 V2.2.14 而非 V2.2.13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没有先查看现有版本文件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数据库迁移执行失败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1578" y="1645920"/>
            <a:ext cx="3088538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1578" y="1645920"/>
            <a:ext cx="3088538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8738" y="1783080"/>
            <a:ext cx="2814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EA580C"/>
                </a:solidFill>
                <a:latin typeface="微软雅黑"/>
              </a:defRPr>
            </a:pPr>
            <a:r>
              <a:t>修改已冻结的 Flyway 脚本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8738" y="2286000"/>
            <a:ext cx="28142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创建补丁 SQL 时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AI 修改了已冻结的 init.sql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已部署环境报错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4436" y="1645920"/>
            <a:ext cx="3088538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14436" y="1645920"/>
            <a:ext cx="3088538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1596" y="1783080"/>
            <a:ext cx="2814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DC2626"/>
                </a:solidFill>
                <a:latin typeface="微软雅黑"/>
              </a:defRPr>
            </a:pPr>
            <a:r>
              <a:t>权限过滤理解偏差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596" y="2286000"/>
            <a:ext cx="28142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AI 保留不该有的后端逻辑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"前端可见性控制权限"策略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理解不深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DC2626"/>
                </a:solidFill>
                <a:latin typeface="微软雅黑"/>
              </a:defRPr>
            </a:pPr>
            <a:r>
              <a:t>方向错了，效率越高代价越大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0">
                <a:solidFill>
                  <a:srgbClr val="64748B"/>
                </a:solidFill>
                <a:latin typeface="微软雅黑"/>
              </a:defRPr>
            </a:pPr>
            <a:r>
              <a:t>对领域不了解 → 没有先建立认知 → 盲目信任 AI → AI 高效跑偏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502920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Part 1 收尾：两个案例的对比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645920"/>
            <a:ext cx="45720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6A34A"/>
                </a:solidFill>
                <a:latin typeface="微软雅黑"/>
              </a:defRPr>
            </a:pPr>
            <a:r>
              <a:t>✅ aip-server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设计清晰 + 边界明确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人定方向，AI 跑量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一周搞定，质量可靠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45720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DC2626"/>
                </a:solidFill>
                <a:latin typeface="微软雅黑"/>
              </a:defRPr>
            </a:pPr>
            <a:r>
              <a:t>❌ A2A 适配器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方向不明 + 盲目信任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没有调研就动手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17 天返工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0" y="1371600"/>
            <a:ext cx="54864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2563EB"/>
                </a:solidFill>
                <a:latin typeface="微软雅黑"/>
              </a:defRPr>
            </a:pPr>
            <a: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1E293B"/>
                </a:solidFill>
                <a:latin typeface="微软雅黑"/>
              </a:defRPr>
            </a:pPr>
            <a:r>
              <a:t>反思——从案例到洞察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56616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从案例中看到了什么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aip-server 成功：人给了清晰的设计和边界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A2A 失败：人没有给方向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核心观察：AI 的效率是确定的，不确定的是人的引导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同一个 AI，同一个开发者，结果天壤之别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AI 的潜力与边界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645920"/>
            <a:ext cx="4572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潜力 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编码效率提升 2-4 倍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擅长重复性工作、模式化代码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趋势明确，只会越来越强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4572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EA580C"/>
                </a:solidFill>
                <a:latin typeface="微软雅黑"/>
              </a:defRPr>
            </a:pPr>
            <a:r>
              <a:t>边界 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不了解领域背景时容易跑偏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缺乏全局视角，可能局部最优全局灾难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不会主动质疑你的设计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核心洞察：把最擅长的事交给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DC2626"/>
                </a:solidFill>
                <a:latin typeface="微软雅黑"/>
              </a:defRPr>
            </a:pPr>
            <a:r>
              <a:t>⚠ 常见想法：先把不擅长的交给 AI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实际经验：先把最擅长的交给 AI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擅长 = 你能准确验收 → 质量有保障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这些工作对个人无成长价值，属于纯工作量堆叠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释放时间 → 投入到研究、设计、架构等创造性工作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角色转变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过去：设计 → 编码 → 测试（全自己做）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现在：设计 → AI 编码 → 评审测试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从"写代码的人"变成"设计系统的人"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陷阱：AI 会"PUA"你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永远自信满满，即使方向错误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语气笃定、逻辑自洽，很容易被"说服"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不会犹豫、不会说"我不确定"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A2A 翻车：AI 全程自信地造了一个轮子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权限过滤翻车：AI 的理由听起来"完全合理"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EA580C"/>
                </a:solidFill>
                <a:latin typeface="微软雅黑"/>
              </a:defRPr>
            </a:pPr>
            <a:r>
              <a:t>我们需要一套系统化的方法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0">
                <a:solidFill>
                  <a:srgbClr val="64748B"/>
                </a:solidFill>
                <a:latin typeface="微软雅黑"/>
              </a:defRPr>
            </a:pPr>
            <a:r>
              <a:t>把擅长的事交给 AI → 但 AI 会 PUA 你 → 靠个人判断力够吗？</a:t>
            </a:r>
            <a:br/>
            <a:r>
              <a:t>单靠经验不可持续、不可复制 → 团队协作呢？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502920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0" y="1371600"/>
            <a:ext cx="54864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2563EB"/>
                </a:solidFill>
                <a:latin typeface="微软雅黑"/>
              </a:defRPr>
            </a:pPr>
            <a:r>
              <a:t>第三部分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1E293B"/>
                </a:solidFill>
                <a:latin typeface="微软雅黑"/>
              </a:defRPr>
            </a:pPr>
            <a:r>
              <a:t>系统化提升 — SDD 与 Harness 实践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56616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什么是 SDD（规范驱动开发）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SDD = Specification-Driven Development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传统开发：规范是文档，人看文档写代码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AI 编程：规范是"AI 的行为边界"，直接决定输出质量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没有规范 = 新员工自由发挥（不可控）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AI 就是那个"超级新员工"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SDD 在 AI 编程中的三层体现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3088538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645920"/>
            <a:ext cx="3088538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783080"/>
            <a:ext cx="2814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2563EB"/>
                </a:solidFill>
                <a:latin typeface="微软雅黑"/>
              </a:defRPr>
            </a:pPr>
            <a:r>
              <a:t>项目级规范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86000"/>
            <a:ext cx="28142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CLAUDE.md + rules/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所有会话共享，每次自动加载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= 员工手册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1578" y="1645920"/>
            <a:ext cx="3088538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1578" y="1645920"/>
            <a:ext cx="3088538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8738" y="1783080"/>
            <a:ext cx="2814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EA580C"/>
                </a:solidFill>
                <a:latin typeface="微软雅黑"/>
              </a:defRPr>
            </a:pPr>
            <a:r>
              <a:t>任务级规范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8738" y="2286000"/>
            <a:ext cx="28142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Plan、PRD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特定功能的约束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= 任务说明书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4436" y="1645920"/>
            <a:ext cx="3088538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14436" y="1645920"/>
            <a:ext cx="3088538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1596" y="1783080"/>
            <a:ext cx="2814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6A34A"/>
                </a:solidFill>
                <a:latin typeface="微软雅黑"/>
              </a:defRPr>
            </a:pPr>
            <a:r>
              <a:t>会话级引导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596" y="2286000"/>
            <a:ext cx="28142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对话中的约束和纠正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实时交互中补充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= 日常工作指导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案例：智能体门户项目（aip-portal）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49527" y="1828800"/>
            <a:ext cx="29260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49527" y="210312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563EB"/>
                </a:solidFill>
                <a:latin typeface="微软雅黑"/>
              </a:defRPr>
            </a:pPr>
            <a:r>
              <a:t>259次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0967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总提交数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807" y="1828800"/>
            <a:ext cx="29260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32807" y="210312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563EB"/>
                </a:solidFill>
                <a:latin typeface="微软雅黑"/>
              </a:defRPr>
            </a:pPr>
            <a:r>
              <a:t>72天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247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活跃开发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6087" y="1828800"/>
            <a:ext cx="29260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6087" y="2103120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563EB"/>
                </a:solidFill>
                <a:latin typeface="微软雅黑"/>
              </a:defRPr>
            </a:pPr>
            <a:r>
              <a:t>281个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7527" y="292608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Java 文件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49527" y="4206240"/>
            <a:ext cx="29260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49527" y="4480559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563EB"/>
                </a:solidFill>
                <a:latin typeface="微软雅黑"/>
              </a:defRPr>
            </a:pPr>
            <a:r>
              <a:t>7个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0967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业务模块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32807" y="4206240"/>
            <a:ext cx="29260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2807" y="4480559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563EB"/>
                </a:solidFill>
                <a:latin typeface="微软雅黑"/>
              </a:defRPr>
            </a:pPr>
            <a:r>
              <a:t>4人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4247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协作开发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6087" y="4206240"/>
            <a:ext cx="2926080" cy="2011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6087" y="4480559"/>
            <a:ext cx="29260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2563EB"/>
                </a:solidFill>
                <a:latin typeface="微软雅黑"/>
              </a:defRPr>
            </a:pPr>
            <a:r>
              <a:t>24个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7527" y="5303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Worktree 并行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Rules 演化总览：从混乱到精炼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554480"/>
            <a:ext cx="9814255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737360"/>
            <a:ext cx="92656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264KB  |          ╱╲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~200KB |         ╱  \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|        ╱    \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|       ╱      \   ← paths: **.java 全部加载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|      ╱        \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~50KB |     ╱          \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|    ╱            \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272行 |___╱______________╲___________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    P1   P2    P2.5  P3    P4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Phase 1: 什么都放（5487 行）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Phase 2: 越加越多（24 个文件，~264KB）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Phase 2.5: 发现根因（paths 导致全部加载）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Phase 3: 痛定思痛（参考文档移至 docs/）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Phase 4: 精炼到位（272 行，压缩 95%）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Rules 演化：Phase 1-2 — 混乱与膨胀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645920"/>
            <a:ext cx="45720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DC2626"/>
                </a:solidFill>
                <a:latin typeface="微软雅黑"/>
              </a:defRPr>
            </a:pPr>
            <a:r>
              <a:t>Phase 1（5487 行 20 个文件）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把所有规范都塞进去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Token 消耗巨大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AI 抓不住重点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4572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EA580C"/>
                </a:solidFill>
                <a:latin typeface="微软雅黑"/>
              </a:defRPr>
            </a:pPr>
            <a:r>
              <a:t>Phase 2（~6000+ 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踩坑就加规则，越加越多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Token 爆炸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恶性循环：犯错→加规则→再犯错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Rules 演化：Phase 3-4 — 清理与精炼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645920"/>
            <a:ext cx="4572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Phase 3（删掉 2714 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意识到规范不是越多越好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rules/ 是 token 预算管理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详细文档移到 docs/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45720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6A34A"/>
                </a:solidFill>
                <a:latin typeface="微软雅黑"/>
              </a:defRPr>
            </a:pPr>
            <a:r>
              <a:t>Phase 4（272 行，压缩 95%）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只保留 AI 必须知道的约束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稳定后维护成本极低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Rules 最终形态对比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645920"/>
            <a:ext cx="457200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Before（Phase 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所有规范堆在一个目录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每次会话全部加载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5487 行 20 个文件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457200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EA580C"/>
                </a:solidFill>
                <a:latin typeface="微软雅黑"/>
              </a:defRPr>
            </a:pPr>
            <a:r>
              <a:t>After（Phase 4）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核心约束 272 行自动加载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详细规范 docs/ 按需引用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ARCHITECTURE.md(124行)</a:t>
            </a:r>
            <a:br/>
            <a:r>
              <a:t>+ CODE-STYLE.md(14行)</a:t>
            </a:r>
            <a:br/>
            <a:r>
              <a:t>+ testing.md(134行)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Rules 演化的关键经验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rules/ 是 token 预算管理，不是 wiki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规范不是越多越好，而是越精炼越好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每次踩坑都是完善规范的机会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仅 9 天完成重构（04-01 至 04-09），之后趋于稳定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SDD 落地：CLAUDE.md — 极简导航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aip-portal 的 CLAUDE.md 只有 23 行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项目定位（一句话）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文档索引（指向 rules/ 和 docs/）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常用 Maven 命令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不在 CLAUDE.md 里堆砌内容——它是导航页，不是百科全书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SDD 落地：ARCHITECTURE.md — 架构约束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124 行，包含核心架构约定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Maven 模块划分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SQL 版本管理策略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分页查询统一方案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AI 每次会话都知道项目的核心架构约定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SDD 落地：CODE-STYLE.md — 编码规范索引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仅 14 行，不在 rules 里放编码细节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索引到 docs/code-style/ 下的 8 个专题文档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核心约束 → 自动加载（每次会话）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详细规范 → 按需加载（AI 自行查阅）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什么是 Harness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2247823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645920"/>
            <a:ext cx="2247823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783080"/>
            <a:ext cx="197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2563EB"/>
                </a:solidFill>
                <a:latin typeface="微软雅黑"/>
              </a:defRPr>
            </a:pPr>
            <a:r>
              <a:t>规范文件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86000"/>
            <a:ext cx="19735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CLAUDE.md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rules/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0863" y="1645920"/>
            <a:ext cx="2247823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10863" y="1645920"/>
            <a:ext cx="2247823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1783080"/>
            <a:ext cx="197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EA580C"/>
                </a:solidFill>
                <a:latin typeface="微软雅黑"/>
              </a:defRPr>
            </a:pPr>
            <a:r>
              <a:t>权限配置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2286000"/>
            <a:ext cx="19735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settings.json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自动化授权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645920"/>
            <a:ext cx="2247823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645920"/>
            <a:ext cx="2247823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7" y="1783080"/>
            <a:ext cx="197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6A34A"/>
                </a:solidFill>
                <a:latin typeface="微软雅黑"/>
              </a:defRPr>
            </a:pPr>
            <a:r>
              <a:t>自定义技能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2286000"/>
            <a:ext cx="19735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Skills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工作流配置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5151" y="1645920"/>
            <a:ext cx="2247823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5151" y="1645920"/>
            <a:ext cx="2247823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2311" y="1783080"/>
            <a:ext cx="197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64748B"/>
                </a:solidFill>
                <a:latin typeface="微软雅黑"/>
              </a:defRPr>
            </a:pPr>
            <a:r>
              <a:t>工作流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2311" y="2286000"/>
            <a:ext cx="19735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Plan、Worktree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Agent Team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Harness 的三大支柱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上下文工程：给 AI 正确的信息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架构约束：让 AI 在框架内工作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熵管理：防止混乱累积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目标：让 AI 在你的项目里工作得又快又准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混乱期的表现（aip-portal 教训）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AI 每次会话都在"重新认识项目"，重复犯错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rules 膨胀到 6000+ 行，AI 反而更"懵"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犯错→加规则→再犯错→恶性循环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settings.local.json 累积 58 条允许规则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DC2626"/>
                </a:solidFill>
                <a:latin typeface="微软雅黑"/>
              </a:defRPr>
            </a:pPr>
            <a:r>
              <a:t>⚠ 没有 Harness 的 AI 编程，靠的是个人"手感"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转折的四个关键动作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2247823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645920"/>
            <a:ext cx="2247823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783080"/>
            <a:ext cx="197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2563EB"/>
                </a:solidFill>
                <a:latin typeface="微软雅黑"/>
              </a:defRPr>
            </a:pPr>
            <a:r>
              <a:t>规范精简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86000"/>
            <a:ext cx="19735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6000+ 行 → 272 行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大清理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0863" y="1645920"/>
            <a:ext cx="2247823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10863" y="1645920"/>
            <a:ext cx="2247823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1783080"/>
            <a:ext cx="197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2563EB"/>
                </a:solidFill>
                <a:latin typeface="微软雅黑"/>
              </a:defRPr>
            </a:pPr>
            <a:r>
              <a:t>分层架构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2286000"/>
            <a:ext cx="19735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rules/ 核心约束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docs/ 按需引用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645920"/>
            <a:ext cx="2247823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1645920"/>
            <a:ext cx="2247823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0167" y="1783080"/>
            <a:ext cx="197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6A34A"/>
                </a:solidFill>
                <a:latin typeface="微软雅黑"/>
              </a:defRPr>
            </a:pPr>
            <a:r>
              <a:t>复盘机制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0167" y="2286000"/>
            <a:ext cx="19735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踩坑不只是修 bug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而是完善规范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5151" y="1645920"/>
            <a:ext cx="2247823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5151" y="1645920"/>
            <a:ext cx="2247823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92311" y="1783080"/>
            <a:ext cx="19735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EA580C"/>
                </a:solidFill>
                <a:latin typeface="微软雅黑"/>
              </a:defRPr>
            </a:pPr>
            <a:r>
              <a:t>权限收敛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2311" y="2286000"/>
            <a:ext cx="1973503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只保留必要权限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减少误操作风险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知识体系三层架构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554480"/>
            <a:ext cx="9814255" cy="4572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737360"/>
            <a:ext cx="92656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🌐 全局层 (~/.claude/)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└─ 通用规则、偏好设置、MCP 工具配置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└─ 所有项目共享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📁 项目层 (项目 .claude/)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├─ CLAUDE.md (23行) — 项目导航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├─ rules/ (272行) — 核心约束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│   ├─ ARCHITECTURE.md (124行)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│   ├─ CODE-STYLE.md (14行)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│   └─ testing.md (134行)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└─ settings.local.json — 权限配置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💬 会话层 (对话中)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└─ 临时约束、特定任务指导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  <a:r>
              <a:t>   └─ 一次性使用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200">
                <a:solidFill>
                  <a:srgbClr val="1E293B"/>
                </a:solidFill>
                <a:latin typeface="Consolas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系统化之后的变化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AI 编码准确率稳定提升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重复性错误逐步减少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新会话快速上手（知识已沉淀在 Harness 中）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rules 相关提交集中在 4 月初（仅 9 天）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Harness 到了稳定期后，维护成本很低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补充案例：aip-gateway — 系统化的开发流程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59 个 Java 文件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AMG 核心模块仅 2 天完成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设计文档迭代 9 轮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总提交 209 次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Day 1 就搭建好 Harness，全程无混乱期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项目对比：被动建设 vs 主动建设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645920"/>
          <a:ext cx="98142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1418"/>
                <a:gridCol w="3271418"/>
                <a:gridCol w="3271419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维度</a:t>
                      </a:r>
                    </a:p>
                  </a:txBody>
                  <a:tcPr marL="137160" marT="73152" marB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aip-portal（被动）</a:t>
                      </a:r>
                    </a:p>
                  </a:txBody>
                  <a:tcPr marL="137160" marT="73152" marB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aip-gateway（主动）</a:t>
                      </a:r>
                    </a:p>
                  </a:txBody>
                  <a:tcPr marL="137160" marT="73152" marB="73152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微软雅黑"/>
                        </a:defRPr>
                      </a:pPr>
                      <a:r>
                        <a:t>Harness 建设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先踩坑再补规范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Day 1 就建规范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微软雅黑"/>
                        </a:defRPr>
                      </a:pPr>
                      <a:r>
                        <a:t>混乱期</a:t>
                      </a:r>
                    </a:p>
                  </a:txBody>
                  <a:tcPr marL="137160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约 2 个月</a:t>
                      </a:r>
                    </a:p>
                  </a:txBody>
                  <a:tcPr marL="137160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基本没有</a:t>
                      </a:r>
                    </a:p>
                  </a:txBody>
                  <a:tcPr marL="137160" marT="73152" marB="73152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微软雅黑"/>
                        </a:defRPr>
                      </a:pPr>
                      <a:r>
                        <a:t>配置风格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分层（rules + docs）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集中（单文件 CLAUDE.md）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微软雅黑"/>
                        </a:defRPr>
                      </a:pPr>
                      <a:r>
                        <a:t>提交数</a:t>
                      </a:r>
                    </a:p>
                  </a:txBody>
                  <a:tcPr marL="137160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259 次</a:t>
                      </a:r>
                    </a:p>
                  </a:txBody>
                  <a:tcPr marL="137160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209 次</a:t>
                      </a:r>
                    </a:p>
                  </a:txBody>
                  <a:tcPr marL="137160" marT="73152" marB="73152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188720" y="1371600"/>
            <a:ext cx="54864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2563EB"/>
                </a:solidFill>
                <a:latin typeface="微软雅黑"/>
              </a:defRPr>
            </a:pPr>
            <a:r>
              <a:t>第四部分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37744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1E293B"/>
                </a:solidFill>
                <a:latin typeface="微软雅黑"/>
              </a:defRPr>
            </a:pPr>
            <a:r>
              <a:t>工具链与实战技巧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566160"/>
            <a:ext cx="365760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Claude Code — AI 编程终端工具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直接在终端工作，与项目代码零距离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支持读取文件、编辑代码、执行命令，全流程闭环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自动加载项目 CLAUDE.md 和 rules/，理解项目上下文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支持 Plan 模式、Worktree 并行、Agent Team 协作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cc-switch — 配置切换工具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快速切换不同的 Claude Code 配置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不同项目需要不同配置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复杂任务用强模型，简单任务用快模型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团队成员共享配置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技巧一：小步快跑，持续验证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设计 → 实现 → 测试，每完成一个模块就验证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AI 生成快 → 错误积累也快 → 一次贪多反而更慢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2000" b="0">
                <a:solidFill>
                  <a:srgbClr val="1E293B"/>
                </a:solidFill>
                <a:latin typeface="微软雅黑"/>
              </a:defRPr>
            </a:pPr>
            <a:r>
              <a:t>• 遇到问题再"磨刀"，不提前过度设计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DC2626"/>
                </a:solidFill>
                <a:latin typeface="微软雅黑"/>
              </a:defRPr>
            </a:pPr>
            <a:r>
              <a:t>⚠ aip-portal 早期一次做大模块导致批量返工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技巧二：先建立认知，再让 AI 干活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645920"/>
            <a:ext cx="457200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6A34A"/>
                </a:solidFill>
                <a:latin typeface="微软雅黑"/>
              </a:defRPr>
            </a:pPr>
            <a:r>
              <a:t>2 小时调研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先调研 A2A 官方仓库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发现官方 SDK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3 天搞定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572000" cy="438912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457200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DC2626"/>
                </a:solidFill>
                <a:latin typeface="微软雅黑"/>
              </a:defRPr>
            </a:pPr>
            <a:r>
              <a:t>17 天返工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不了解协议就动手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AI 造了一个轮子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E293B"/>
                </a:solidFill>
                <a:latin typeface="微软雅黑"/>
              </a:defRPr>
            </a:pPr>
            <a:r>
              <a:t>• 推倒重来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协作模式选择矩阵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645920"/>
          <a:ext cx="98142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1418"/>
                <a:gridCol w="3271418"/>
                <a:gridCol w="3271419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 marL="137160" marT="73152" marB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推荐模式</a:t>
                      </a:r>
                    </a:p>
                  </a:txBody>
                  <a:tcPr marL="137160" marT="73152" marB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6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marL="137160" marT="73152" marB="73152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微软雅黑"/>
                        </a:defRPr>
                      </a:pPr>
                      <a:r>
                        <a:t>明确小任务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直接对话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给清楚需求，AI 直接做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微软雅黑"/>
                        </a:defRPr>
                      </a:pPr>
                      <a:r>
                        <a:t>复杂功能开发</a:t>
                      </a:r>
                    </a:p>
                  </a:txBody>
                  <a:tcPr marL="137160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Plan 模式</a:t>
                      </a:r>
                    </a:p>
                  </a:txBody>
                  <a:tcPr marL="137160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先让 AI 规划，确认后再执行</a:t>
                      </a:r>
                    </a:p>
                  </a:txBody>
                  <a:tcPr marL="137160" marT="73152" marB="73152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微软雅黑"/>
                        </a:defRPr>
                      </a:pPr>
                      <a:r>
                        <a:t>多任务并行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Worktree + Team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隔离开发，互不干扰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微软雅黑"/>
                        </a:defRPr>
                      </a:pPr>
                      <a:r>
                        <a:t>新领域探索</a:t>
                      </a:r>
                    </a:p>
                  </a:txBody>
                  <a:tcPr marL="137160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调研先行</a:t>
                      </a:r>
                    </a:p>
                  </a:txBody>
                  <a:tcPr marL="137160" marT="73152" marB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先让 AI 帮你建认知</a:t>
                      </a:r>
                    </a:p>
                  </a:txBody>
                  <a:tcPr marL="137160" marT="73152" marB="73152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563EB"/>
                          </a:solidFill>
                          <a:latin typeface="微软雅黑"/>
                        </a:defRPr>
                      </a:pPr>
                      <a:r>
                        <a:t>代码评审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只读模式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AI 读代码，人做决策</a:t>
                      </a:r>
                    </a:p>
                  </a:txBody>
                  <a:tcPr marL="137160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快速行动建议 — 新手起步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2563EB"/>
                </a:solidFill>
                <a:latin typeface="微软雅黑"/>
              </a:defRPr>
            </a:pPr>
            <a:r>
              <a:t>Step 1：从一个小项目或小模块开始</a:t>
            </a:r>
          </a:p>
          <a:p>
            <a:pPr algn="l">
              <a:spcAft>
                <a:spcPts val="600"/>
              </a:spcAft>
              <a:defRPr sz="2200" b="1">
                <a:solidFill>
                  <a:srgbClr val="2563EB"/>
                </a:solidFill>
                <a:latin typeface="微软雅黑"/>
              </a:defRPr>
            </a:pPr>
            <a:r>
              <a:t>Step 2：用好 CLAUDE.md（3 行就够）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1800" b="0">
                <a:solidFill>
                  <a:srgbClr val="64748B"/>
                </a:solidFill>
                <a:latin typeface="微软雅黑"/>
              </a:defRPr>
            </a:pPr>
            <a:r>
              <a:t>    ◦ 项目是什么 + 技术栈 + 核心约定</a:t>
            </a:r>
          </a:p>
          <a:p>
            <a:pPr algn="l">
              <a:spcAft>
                <a:spcPts val="600"/>
              </a:spcAft>
              <a:defRPr sz="2200" b="1">
                <a:solidFill>
                  <a:srgbClr val="2563EB"/>
                </a:solidFill>
                <a:latin typeface="微软雅黑"/>
              </a:defRPr>
            </a:pPr>
            <a:r>
              <a:t>Step 3：养成"设计 → AI 实现 → 验证"的习惯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快速行动建议 — 进阶提升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200" b="1">
                <a:solidFill>
                  <a:srgbClr val="2563EB"/>
                </a:solidFill>
                <a:latin typeface="微软雅黑"/>
              </a:defRPr>
            </a:pPr>
            <a:r>
              <a:t>搭建项目级 Harness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1800" b="0">
                <a:solidFill>
                  <a:srgbClr val="64748B"/>
                </a:solidFill>
                <a:latin typeface="微软雅黑"/>
              </a:defRPr>
            </a:pPr>
            <a:r>
              <a:t>    ◦ CLAUDE.md + rules/ARCHITECTURE.md + docs/</a:t>
            </a:r>
          </a:p>
          <a:p>
            <a:pPr algn="l">
              <a:spcAft>
                <a:spcPts val="600"/>
              </a:spcAft>
              <a:defRPr sz="2200" b="1">
                <a:solidFill>
                  <a:srgbClr val="2563EB"/>
                </a:solidFill>
                <a:latin typeface="微软雅黑"/>
              </a:defRPr>
            </a:pPr>
            <a:r>
              <a:t>尝试 Worktree 并行开发</a:t>
            </a:r>
          </a:p>
          <a:p>
            <a:pPr algn="l">
              <a:lnSpc>
                <a:spcPts val="2800"/>
              </a:lnSpc>
              <a:spcAft>
                <a:spcPts val="600"/>
              </a:spcAft>
              <a:defRPr sz="1800" b="0">
                <a:solidFill>
                  <a:srgbClr val="64748B"/>
                </a:solidFill>
                <a:latin typeface="微软雅黑"/>
              </a:defRPr>
            </a:pPr>
            <a:r>
              <a:t>    ◦ aip-portal 用了 24 个 worktree 并行</a:t>
            </a:r>
          </a:p>
          <a:p>
            <a:pPr algn="l">
              <a:spcAft>
                <a:spcPts val="600"/>
              </a:spcAft>
              <a:defRPr sz="2200" b="1">
                <a:solidFill>
                  <a:srgbClr val="2563EB"/>
                </a:solidFill>
                <a:latin typeface="微软雅黑"/>
              </a:defRPr>
            </a:pPr>
            <a:r>
              <a:t>建立复盘习惯：踩坑 → 补规范 → 定期精简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快速行动建议 — 观望者入门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3088538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1645920"/>
            <a:ext cx="3088538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783080"/>
            <a:ext cx="2814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6A34A"/>
                </a:solidFill>
                <a:latin typeface="微软雅黑"/>
              </a:defRPr>
            </a:pPr>
            <a:r>
              <a:t>让 AI 写单元测试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86000"/>
            <a:ext cx="28142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最小场景起步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感受效率提升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51578" y="1645920"/>
            <a:ext cx="3088538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1578" y="1645920"/>
            <a:ext cx="3088538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8738" y="1783080"/>
            <a:ext cx="2814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2563EB"/>
                </a:solidFill>
                <a:latin typeface="微软雅黑"/>
              </a:defRPr>
            </a:pPr>
            <a:r>
              <a:t>让 AI 做代码评审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8738" y="2286000"/>
            <a:ext cx="28142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不需要写代码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也能体验 AI 协作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4436" y="1645920"/>
            <a:ext cx="3088538" cy="41148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14436" y="1645920"/>
            <a:ext cx="3088538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1596" y="1783080"/>
            <a:ext cx="281421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EA580C"/>
                </a:solidFill>
                <a:latin typeface="微软雅黑"/>
              </a:defRPr>
            </a:pPr>
            <a:r>
              <a:t>让 AI 写 CRUD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1596" y="2286000"/>
            <a:ext cx="2814218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最常见的开发任务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64748B"/>
                </a:solidFill>
                <a:latin typeface="微软雅黑"/>
              </a:defRPr>
            </a:pPr>
            <a:r>
              <a:t>最容易上手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731520"/>
            <a:ext cx="98142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1E293B"/>
                </a:solidFill>
                <a:latin typeface="微软雅黑"/>
              </a:defRPr>
            </a:pPr>
            <a:r>
              <a:t>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1188720" y="1325880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645920"/>
            <a:ext cx="98142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AI 效率确定，不确定的是人的引导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把最擅长的事交给 AI，释放时间做更有价值的事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用 SDD + Harness 系统化地驾驭 AI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2563EB"/>
                </a:solidFill>
                <a:latin typeface="微软雅黑"/>
              </a:defRPr>
            </a:pPr>
            <a:r>
              <a:t>▸ 从"写代码的人"变成"设计系统的人"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2563EB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9319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000" b="0">
                <a:solidFill>
                  <a:srgbClr val="64748B"/>
                </a:solidFill>
                <a:latin typeface="微软雅黑"/>
              </a:defRPr>
            </a:pPr>
            <a:r>
              <a:t>Q &amp; A 交流时间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5029200"/>
            <a:ext cx="210312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6309360"/>
            <a:ext cx="9814255" cy="45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6355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000" b="0">
                <a:solidFill>
                  <a:srgbClr val="94A3B8"/>
                </a:solidFill>
                <a:latin typeface="微软雅黑"/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