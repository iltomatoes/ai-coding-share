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开发中的 AI 协作编程实践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从真实项目说起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演讲人 / 2026年4月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内部交流分享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3886200"/>
            <a:ext cx="73152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关于这次分享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325880"/>
            <a:ext cx="502920" cy="502920"/>
          </a:xfrm>
          <a:prstGeom prst="ellipse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12801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三个真实 Java 项目的 AI 协作编程经历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2194560"/>
            <a:ext cx="502920" cy="502920"/>
          </a:xfrm>
          <a:prstGeom prst="ellipse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🎢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有成功的喜悦，也有翻车的教训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" y="3063240"/>
            <a:ext cx="502920" cy="502920"/>
          </a:xfrm>
          <a:prstGeom prst="ellipse">
            <a:avLst/>
          </a:prstGeom>
          <a:solidFill>
            <a:srgbClr val="161B22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0175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目标：听完之后，你能带走一些可以马上用的东西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74320" y="4160520"/>
            <a:ext cx="859536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1605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 90 分钟  |  鼓励随时提问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0"/>
            <a:ext cx="73152" cy="3200400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400" kern="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从真实项目说起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两个案例，两种结局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案例一：aip-server 项目概览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3383280" cy="2926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aip-server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20116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智能平台后端服务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企业级智能体管理、知识库、数据分析平台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31920" y="1188720"/>
            <a:ext cx="493776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3931920" y="1188720"/>
            <a:ext cx="54864" cy="777240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0" y="1188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pPr algn="l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 Controller</a:t>
            </a:r>
            <a:pPr algn="l" indent="0" marL="0">
              <a:buNone/>
            </a:pPr>
            <a:r>
              <a:rPr lang="en-US" sz="1400" dirty="0">
                <a:solidFill>
                  <a:srgbClr val="30363D"/>
                </a:solidFill>
              </a:rPr>
              <a:t>   |   </a:t>
            </a:r>
            <a:pPr algn="l" indent="0" marL="0">
              <a:buNone/>
            </a:pPr>
            <a:r>
              <a:rPr lang="en-US" sz="28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pPr algn="l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个业务模块</a:t>
            </a:r>
            <a:pPr algn="l" indent="0" marL="0">
              <a:buNone/>
            </a:pPr>
            <a:r>
              <a:rPr lang="en-US" sz="1400" dirty="0">
                <a:solidFill>
                  <a:srgbClr val="30363D"/>
                </a:solidFill>
              </a:rPr>
              <a:t>   |   </a:t>
            </a:r>
            <a:pPr algn="l" indent="0" marL="0">
              <a:buNone/>
            </a:pPr>
            <a:r>
              <a:rPr lang="en-US" sz="28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2394</a:t>
            </a:r>
            <a:pPr algn="l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次提交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931920" y="2148840"/>
            <a:ext cx="493776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3931920" y="2148840"/>
            <a:ext cx="54864" cy="7772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21488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技术栈：Spring Boot 2.7.18 + MyBatis Plus 3.4.2 + PostgreSQL + Java 17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931920" y="3108960"/>
            <a:ext cx="493776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Shape 11"/>
          <p:cNvSpPr/>
          <p:nvPr/>
        </p:nvSpPr>
        <p:spPr>
          <a:xfrm>
            <a:off x="3931920" y="3108960"/>
            <a:ext cx="54864" cy="77724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0" y="3108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多数据源：PostgreSQL + Neo4j + Dremio  |  Feign 微服务调用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聚焦技能工具模块（logic/tool）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 Controller，约 80 个 API 端点，8 个核心实体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1691640"/>
            <a:ext cx="1627632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691640"/>
            <a:ext cx="1627632" cy="54864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92024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代码库管理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LtCodeRepoController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05256" y="3383280"/>
            <a:ext cx="365760" cy="365760"/>
          </a:xfrm>
          <a:prstGeom prst="ellipse">
            <a:avLst/>
          </a:prstGeom>
          <a:solidFill>
            <a:srgbClr val="2F81F7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29968" y="1691640"/>
            <a:ext cx="1627632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2029968" y="1691640"/>
            <a:ext cx="1627632" cy="54864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2" name="Text 10"/>
          <p:cNvSpPr/>
          <p:nvPr/>
        </p:nvSpPr>
        <p:spPr>
          <a:xfrm>
            <a:off x="2121408" y="192024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服务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21408" y="256032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LtMcpController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60904" y="3383280"/>
            <a:ext cx="365760" cy="365760"/>
          </a:xfrm>
          <a:prstGeom prst="ellipse">
            <a:avLst/>
          </a:prstGeom>
          <a:solidFill>
            <a:srgbClr val="2F81F7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660904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85616" y="1691640"/>
            <a:ext cx="1627632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Shape 15"/>
          <p:cNvSpPr/>
          <p:nvPr/>
        </p:nvSpPr>
        <p:spPr>
          <a:xfrm>
            <a:off x="3785616" y="1691640"/>
            <a:ext cx="1627632" cy="54864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8" name="Text 16"/>
          <p:cNvSpPr/>
          <p:nvPr/>
        </p:nvSpPr>
        <p:spPr>
          <a:xfrm>
            <a:off x="3877056" y="192024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扩展插件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77056" y="256032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LtExtensionPluginController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16552" y="3383280"/>
            <a:ext cx="365760" cy="365760"/>
          </a:xfrm>
          <a:prstGeom prst="ellipse">
            <a:avLst/>
          </a:prstGeom>
          <a:solidFill>
            <a:srgbClr val="2F81F7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416552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541264" y="1691640"/>
            <a:ext cx="1627632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3" name="Shape 21"/>
          <p:cNvSpPr/>
          <p:nvPr/>
        </p:nvSpPr>
        <p:spPr>
          <a:xfrm>
            <a:off x="5541264" y="1691640"/>
            <a:ext cx="1627632" cy="54864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4" name="Text 22"/>
          <p:cNvSpPr/>
          <p:nvPr/>
        </p:nvSpPr>
        <p:spPr>
          <a:xfrm>
            <a:off x="5632704" y="192024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OpenAPI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32704" y="256032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LtOpenapiController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3383280"/>
            <a:ext cx="365760" cy="365760"/>
          </a:xfrm>
          <a:prstGeom prst="ellipse">
            <a:avLst/>
          </a:prstGeom>
          <a:solidFill>
            <a:srgbClr val="2F81F7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296912" y="1691640"/>
            <a:ext cx="1627632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9" name="Shape 27"/>
          <p:cNvSpPr/>
          <p:nvPr/>
        </p:nvSpPr>
        <p:spPr>
          <a:xfrm>
            <a:off x="7296912" y="1691640"/>
            <a:ext cx="1627632" cy="54864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30" name="Text 28"/>
          <p:cNvSpPr/>
          <p:nvPr/>
        </p:nvSpPr>
        <p:spPr>
          <a:xfrm>
            <a:off x="7388352" y="192024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88352" y="256032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LtTaskflowController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27848" y="3383280"/>
            <a:ext cx="365760" cy="365760"/>
          </a:xfrm>
          <a:prstGeom prst="ellipse">
            <a:avLst/>
          </a:prstGeom>
          <a:solidFill>
            <a:srgbClr val="2F81F7">
              <a:alpha val="3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92784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协作模式 — 人与 AI 的分工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691640" cy="594360"/>
          </a:xfrm>
          <a:prstGeom prst="rect">
            <a:avLst>
              <a:gd name="adj" fmla="val 6154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🧑 人设计原型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17420" y="1440180"/>
            <a:ext cx="320040" cy="0"/>
          </a:xfrm>
          <a:prstGeom prst="line">
            <a:avLst/>
          </a:prstGeom>
          <a:noFill/>
          <a:ln w="25400">
            <a:solidFill>
              <a:srgbClr val="E3B3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46020" y="1367028"/>
            <a:ext cx="91440" cy="146304"/>
          </a:xfrm>
          <a:prstGeom prst="line">
            <a:avLst/>
          </a:prstGeom>
          <a:noFill/>
          <a:ln w="25400">
            <a:solidFill>
              <a:srgbClr val="E3B3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1143000"/>
            <a:ext cx="1691640" cy="594360"/>
          </a:xfrm>
          <a:prstGeom prst="rect">
            <a:avLst>
              <a:gd name="adj" fmla="val 6154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14300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🧑 人设计表结构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(AI参与)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6260" y="1440180"/>
            <a:ext cx="320040" cy="0"/>
          </a:xfrm>
          <a:prstGeom prst="line">
            <a:avLst/>
          </a:prstGeom>
          <a:noFill/>
          <a:ln w="25400">
            <a:solidFill>
              <a:srgbClr val="E3B3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4860" y="1367028"/>
            <a:ext cx="91440" cy="146304"/>
          </a:xfrm>
          <a:prstGeom prst="line">
            <a:avLst/>
          </a:prstGeom>
          <a:noFill/>
          <a:ln w="25400">
            <a:solidFill>
              <a:srgbClr val="E3B34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43000"/>
            <a:ext cx="1691640" cy="594360"/>
          </a:xfrm>
          <a:prstGeom prst="rect">
            <a:avLst>
              <a:gd name="adj" fmla="val 6154"/>
            </a:avLst>
          </a:prstGeom>
          <a:solidFill>
            <a:srgbClr val="1A3A1A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4300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AI编码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15100" y="1440180"/>
            <a:ext cx="320040" cy="0"/>
          </a:xfrm>
          <a:prstGeom prst="line">
            <a:avLst/>
          </a:prstGeom>
          <a:noFill/>
          <a:ln w="25400">
            <a:solidFill>
              <a:srgbClr val="E3B3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43700" y="1367028"/>
            <a:ext cx="91440" cy="146304"/>
          </a:xfrm>
          <a:prstGeom prst="line">
            <a:avLst/>
          </a:prstGeom>
          <a:noFill/>
          <a:ln w="25400">
            <a:solidFill>
              <a:srgbClr val="E3B3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03720" y="1143000"/>
            <a:ext cx="1691640" cy="594360"/>
          </a:xfrm>
          <a:prstGeom prst="rect">
            <a:avLst>
              <a:gd name="adj" fmla="val 6154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114300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🧑 人评审&amp;测试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377440"/>
            <a:ext cx="2468880" cy="502920"/>
          </a:xfrm>
          <a:prstGeom prst="rect">
            <a:avLst>
              <a:gd name="adj" fmla="val 727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3774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人负责定方向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26517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把控架构与边界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377440"/>
            <a:ext cx="2468880" cy="502920"/>
          </a:xfrm>
          <a:prstGeom prst="rect">
            <a:avLst>
              <a:gd name="adj" fmla="val 727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23774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AI负责跑量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91840" y="26517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批量编码与实现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2377440"/>
            <a:ext cx="2468880" cy="502920"/>
          </a:xfrm>
          <a:prstGeom prst="rect">
            <a:avLst>
              <a:gd name="adj" fmla="val 727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23774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及时评审小步验证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35040" y="26517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每步提交检查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14884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57200" y="3383280"/>
            <a:ext cx="8229600" cy="502920"/>
          </a:xfrm>
          <a:prstGeom prst="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核心要点：人在决策位，AI在执行位，评审是安全阀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关键成果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840480" cy="1005840"/>
          </a:xfrm>
          <a:prstGeom prst="rect">
            <a:avLst>
              <a:gd name="adj" fmla="val 4545"/>
            </a:avLst>
          </a:prstGeom>
          <a:solidFill>
            <a:srgbClr val="161B22"/>
          </a:solidFill>
          <a:ln w="2540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5天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4592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~80个API端点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快速交付，从0到完整API层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868680"/>
            <a:ext cx="3840480" cy="1005840"/>
          </a:xfrm>
          <a:prstGeom prst="rect">
            <a:avLst>
              <a:gd name="adj" fmla="val 4545"/>
            </a:avLst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9601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2-4倍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12648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相比传统开发模式的速度飞跃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8229600" cy="685800"/>
          </a:xfrm>
          <a:prstGeom prst="rect">
            <a:avLst>
              <a:gd name="adj" fmla="val 5333"/>
            </a:avLst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40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13次fix提交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48840" y="22402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(45%)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17520" y="2350008"/>
            <a:ext cx="0" cy="45720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2402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AI有小错漏，但人评审捕获并修复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258775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评审机制是质量的保障线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2560320" cy="594360"/>
          </a:xfrm>
          <a:prstGeom prst="rect">
            <a:avLst>
              <a:gd name="adj" fmla="val 6154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 16个数据库迁移版本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59359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数据结构演进完整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3246120"/>
            <a:ext cx="2560320" cy="594360"/>
          </a:xfrm>
          <a:prstGeom prst="rect">
            <a:avLst>
              <a:gd name="adj" fmla="val 6154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 8个核心实体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83280" y="359359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领域模型清晰稳定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3246120"/>
            <a:ext cx="2560320" cy="594360"/>
          </a:xfrm>
          <a:prstGeom prst="rect">
            <a:avLst>
              <a:gd name="adj" fmla="val 6154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 评审后更新CLAUDE.md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17920" y="359359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知识持续沉淀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案例一：小结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188720"/>
            <a:ext cx="7772400" cy="1097280"/>
          </a:xfrm>
          <a:prstGeom prst="rect">
            <a:avLst>
              <a:gd name="adj" fmla="val 4167"/>
            </a:avLst>
          </a:prstGeom>
          <a:solidFill>
            <a:srgbClr val="161B22"/>
          </a:solidFill>
          <a:ln w="2540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设计到位 + 边界清晰 = AI 效率拉满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366760" y="16002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2560320" cy="1188720"/>
          </a:xfrm>
          <a:prstGeom prst="rect">
            <a:avLst>
              <a:gd name="adj" fmla="val 307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679192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 表结构设计清晰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2990088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AI有明确边界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3264408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清晰的领域模型和表结构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为AI提供了明确的编码边界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2606040"/>
            <a:ext cx="2560320" cy="1188720"/>
          </a:xfrm>
          <a:prstGeom prst="rect">
            <a:avLst>
              <a:gd name="adj" fmla="val 307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2679192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 及时评审小步验证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1568" y="2990088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质量可控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01568" y="3264408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每次提交都进行评审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小步迭代确保方向正确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606040"/>
            <a:ext cx="2560320" cy="1188720"/>
          </a:xfrm>
          <a:prstGeom prst="rect">
            <a:avLst>
              <a:gd name="adj" fmla="val 307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2679192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 人把控方向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36208" y="2990088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AI堆砌工作量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36208" y="3264408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人做决策，AI做执行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分工明确效率最大化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案例二：A2A 适配器 — 一场代价惨痛的返工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114800" cy="3474720"/>
          </a:xfrm>
          <a:prstGeom prst="rect">
            <a:avLst>
              <a:gd name="adj" fmla="val 105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背景信息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749040" cy="0"/>
          </a:xfrm>
          <a:prstGeom prst="line">
            <a:avLst/>
          </a:prstGeom>
          <a:noFill/>
          <a:ln w="12700">
            <a:solidFill>
              <a:srgbClr val="2F81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 A2A协议适配器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实现Agent与Agent之间的通信协议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 aip-gateway a2a-wrapper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770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网关服务中的A2A协议封装模块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 陌生领域未调研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6393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对A2A协议生态缺乏前期调研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868680"/>
            <a:ext cx="3840480" cy="3474720"/>
          </a:xfrm>
          <a:prstGeom prst="rect">
            <a:avLst>
              <a:gd name="adj" fmla="val 1053"/>
            </a:avLst>
          </a:prstGeom>
          <a:solidFill>
            <a:srgbClr val="1F0D0D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 错误决策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120640" y="1508760"/>
            <a:ext cx="3291840" cy="0"/>
          </a:xfrm>
          <a:prstGeom prst="line">
            <a:avLst/>
          </a:prstGeom>
          <a:noFill/>
          <a:ln w="12700">
            <a:solidFill>
              <a:srgbClr val="F851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74920" y="1691640"/>
            <a:ext cx="3383280" cy="914400"/>
          </a:xfrm>
          <a:prstGeom prst="rect">
            <a:avLst>
              <a:gd name="adj" fmla="val 3000"/>
            </a:avLst>
          </a:prstGeom>
          <a:solidFill>
            <a:srgbClr val="2A1212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让AI根据协议文档直接编码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66360" y="2103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在陌生领域直接让AI编码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没有先调研现有生态和工具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74920" y="2788920"/>
            <a:ext cx="3383280" cy="914400"/>
          </a:xfrm>
          <a:prstGeom prst="rect">
            <a:avLst>
              <a:gd name="adj" fmla="val 3000"/>
            </a:avLst>
          </a:prstGeom>
          <a:solidFill>
            <a:srgbClr val="2A1212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2834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 无法判断AI输出正确性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6636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领域知识不足导致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无法有效评审AI的产出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526280"/>
            <a:ext cx="8229600" cy="457200"/>
          </a:xfrm>
          <a:prstGeom prst="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教训：陌生领域务必先调研，再决定是否让AI编码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发生了什么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033272"/>
            <a:ext cx="0" cy="310896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" y="960120"/>
            <a:ext cx="164592" cy="16459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8686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65960" y="868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让AI编码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65960" y="1170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拿到协议文档直接开始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32104" y="1737360"/>
            <a:ext cx="164592" cy="164592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16459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65960" y="1645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AI高效产出46次提交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65960" y="19476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看似高效实则偏离方向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2104" y="2514600"/>
            <a:ext cx="164592" cy="164592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无法判断正确性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724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领域知识不足无法评审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2104" y="3291840"/>
            <a:ext cx="164592" cy="164592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3200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发现官方SDK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5021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A2A协议已有成熟SDK工具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2104" y="4069080"/>
            <a:ext cx="164592" cy="16459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3977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65960" y="3977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用SDK搞定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965960" y="42793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基于官方SDK快速完成适配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0720" y="868680"/>
            <a:ext cx="3200400" cy="2560320"/>
          </a:xfrm>
          <a:prstGeom prst="rect">
            <a:avLst>
              <a:gd name="adj" fmla="val 1786"/>
            </a:avLst>
          </a:prstGeom>
          <a:solidFill>
            <a:srgbClr val="1F0D0D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10515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141,026行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943600" y="1554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943600" y="18745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1,786行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6035040" y="2560320"/>
            <a:ext cx="2651760" cy="640080"/>
          </a:xfrm>
          <a:prstGeom prst="rect">
            <a:avLst>
              <a:gd name="adj" fmla="val 4286"/>
            </a:avLst>
          </a:prstGeom>
          <a:solidFill>
            <a:srgbClr val="2A121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2560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代码量缩减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35040" y="28803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98.7%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457200" y="4160520"/>
            <a:ext cx="8229600" cy="777240"/>
          </a:xfrm>
          <a:prstGeom prst="rect">
            <a:avLst>
              <a:gd name="adj" fmla="val 4706"/>
            </a:avLst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160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核心教训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737360" y="416052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在陌生领域，先调研再行动。盲目让AI编码 = 高效地做错事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141,026行无用代码的代价，验证了"方向比速度更重要"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翻车现场（一）— AI 造了个轮子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749040" cy="2377440"/>
          </a:xfrm>
          <a:prstGeom prst="rect">
            <a:avLst>
              <a:gd name="adj" fmla="val 1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374904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207008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自研方案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1527048"/>
            <a:ext cx="352958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从零编码，全程自信输出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16天，46次提交，141,026行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看似完整，实则弯路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749040" cy="2377440"/>
          </a:xfrm>
          <a:prstGeom prst="rect">
            <a:avLst>
              <a:gd name="adj" fmla="val 1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0"/>
            <a:ext cx="374904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4864608" y="1207008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官方 SDK 方案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64608" y="1527048"/>
            <a:ext cx="352958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a2aproject/a2a-java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3天完成，仅 1,786行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稳定性、兼容性保障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7863840" cy="640080"/>
          </a:xfrm>
          <a:prstGeom prst="rect">
            <a:avLst>
              <a:gd name="adj" fmla="val 4286"/>
            </a:avLst>
          </a:prstGeom>
          <a:solidFill>
            <a:srgbClr val="2D1A0A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867912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AI不会主动告诉你有更好方案，方向是你定的AI不负责纠偏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翻车现场（二）— 三个小案例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468880" cy="2286000"/>
          </a:xfrm>
          <a:prstGeom prst="rect">
            <a:avLst>
              <a:gd name="adj" fmla="val 12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246888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207008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SQL版本号错误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527048"/>
            <a:ext cx="2249424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生成了V2.2.14而非V2.2.13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没有查现有版本文件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迁移执行失败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468880" cy="2286000"/>
          </a:xfrm>
          <a:prstGeom prst="rect">
            <a:avLst>
              <a:gd name="adj" fmla="val 12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097280"/>
            <a:ext cx="246888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9" name="Text 7"/>
          <p:cNvSpPr/>
          <p:nvPr/>
        </p:nvSpPr>
        <p:spPr>
          <a:xfrm>
            <a:off x="3493008" y="1207008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修改已冻结脚本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93008" y="1527048"/>
            <a:ext cx="2249424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改了V2.2.13__init.sql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部署环境摘要不一致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复盘：已冻结脚本严禁修改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468880" cy="2286000"/>
          </a:xfrm>
          <a:prstGeom prst="rect">
            <a:avLst>
              <a:gd name="adj" fmla="val 12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097280"/>
            <a:ext cx="246888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3" name="Text 11"/>
          <p:cNvSpPr/>
          <p:nvPr/>
        </p:nvSpPr>
        <p:spPr>
          <a:xfrm>
            <a:off x="6236208" y="1207008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权限过滤偏差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36208" y="1527048"/>
            <a:ext cx="2249424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应交给前端的逻辑留在后端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多了不必要的权限检查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复盘：用户级权限交给前端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案例二：小结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方向错了，效率越高代价越大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2743200"/>
            <a:ext cx="1737360" cy="640080"/>
          </a:xfrm>
          <a:prstGeom prst="rect">
            <a:avLst>
              <a:gd name="adj" fmla="val 4286"/>
            </a:avLst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对领域不了解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48840" y="2926080"/>
            <a:ext cx="457200" cy="27432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2743200"/>
            <a:ext cx="1737360" cy="640080"/>
          </a:xfrm>
          <a:prstGeom prst="rect">
            <a:avLst>
              <a:gd name="adj" fmla="val 4286"/>
            </a:avLst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2743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没有先建立认知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2926080"/>
            <a:ext cx="457200" cy="27432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2743200"/>
            <a:ext cx="1737360" cy="640080"/>
          </a:xfrm>
          <a:prstGeom prst="rect">
            <a:avLst>
              <a:gd name="adj" fmla="val 4286"/>
            </a:avLst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743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盲目信任AI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37960" y="2926080"/>
            <a:ext cx="457200" cy="27432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95160" y="2743200"/>
            <a:ext cx="1737360" cy="640080"/>
          </a:xfrm>
          <a:prstGeom prst="rect">
            <a:avLst>
              <a:gd name="adj" fmla="val 4286"/>
            </a:avLst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2743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AI高效跑偏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两个案例，两种结局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749040" cy="2377440"/>
          </a:xfrm>
          <a:prstGeom prst="rect">
            <a:avLst>
              <a:gd name="adj" fmla="val 1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374904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207008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aip-server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1527048"/>
            <a:ext cx="352958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设计清晰 + 边界明确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人定方向，AI跑量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5天80接口，质量可靠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749040" cy="2377440"/>
          </a:xfrm>
          <a:prstGeom prst="rect">
            <a:avLst>
              <a:gd name="adj" fmla="val 1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0"/>
            <a:ext cx="374904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9" name="Text 7"/>
          <p:cNvSpPr/>
          <p:nvPr/>
        </p:nvSpPr>
        <p:spPr>
          <a:xfrm>
            <a:off x="4864608" y="1207008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A2A适配器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64608" y="1527048"/>
            <a:ext cx="352958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方向不明 + 盲目信任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没调研就动手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16天返工，98.7%废弃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什么时候该信任AI？如何系统地让AI编程越来越高效？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548640"/>
            <a:ext cx="73152" cy="3474720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从案例到洞察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36576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从案例中看到了什么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200400" cy="0"/>
          </a:xfrm>
          <a:prstGeom prst="line">
            <a:avLst/>
          </a:prstGeom>
          <a:noFill/>
          <a:ln w="25400">
            <a:solidFill>
              <a:srgbClr val="E3B3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aip-server 成功：人给了清晰设计和边界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 失败：人没有给方向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的效率是确定的，不确定的是人的引导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 AI，同一个开发者，结果天壤之别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的潜力与边界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200400" cy="0"/>
          </a:xfrm>
          <a:prstGeom prst="line">
            <a:avLst/>
          </a:prstGeom>
          <a:noFill/>
          <a:ln w="25400">
            <a:solidFill>
              <a:srgbClr val="E3B3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25603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潜力 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编码效率提升 2-4 倍
</a:t>
            </a:r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擅长重复性工作和模式化代码
</a:t>
            </a:r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趋势明确，只会越来越强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256032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43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 ⚠️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64592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不了解领域背景时容易跑偏
</a:t>
            </a:r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缺乏全局视角，局部最优全局灾难
</a:t>
            </a:r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不会主动质疑你的设计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是最强执行者，但不是合格的架构师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核心洞察：把最擅长的事交给 AI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200400" cy="0"/>
          </a:xfrm>
          <a:prstGeom prst="line">
            <a:avLst/>
          </a:prstGeom>
          <a:noFill/>
          <a:ln w="25400">
            <a:solidFill>
              <a:srgbClr val="E3B3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常见想法：先把不擅长的交给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51560"/>
            <a:ext cx="402336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0515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实际经验：先把最擅长的事交给 AI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57400"/>
            <a:ext cx="804672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574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擅长 = 你能准确验收、质量保障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804672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06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这些工作无成长价值，纯工作量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804672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546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释放时间，投入创造性工作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aip-server 例证：表结构是我擅长的 → AI 编码我能准确评审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角色转变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200400" cy="0"/>
          </a:xfrm>
          <a:prstGeom prst="line">
            <a:avLst/>
          </a:prstGeom>
          <a:noFill/>
          <a:ln w="25400">
            <a:solidFill>
              <a:srgbClr val="E3B3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1430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 ✍️  →  编码 💻  →  测试 🧪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0" y="1143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(全自己做)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1031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 ✍️  →  </a:t>
            </a:r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AI编码 🤖</a:t>
            </a:r>
            <a:pPr algn="ctr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 评审测试 🔍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82296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从'码农'变成'系统架构师'——你画图纸，AI盖楼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陷阱：AI 会'PUA'你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200400" cy="0"/>
          </a:xfrm>
          <a:prstGeom prst="line">
            <a:avLst/>
          </a:prstGeom>
          <a:noFill/>
          <a:ln w="25400">
            <a:solidFill>
              <a:srgbClr val="F8514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永远自信满满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即使方向错误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517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10972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语气笃定逻辑自洽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容易被说服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097280"/>
            <a:ext cx="26517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10972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不会犹豫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不会说我不确定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688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A2A：AI 全程自信造轮子，46 次提交无犹豫
</a:t>
            </a:r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权限过滤：AI 保留逻辑的理由听起来完全合理，但缺失业务上下文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关键问题：怎么让 AI 稳定输出高质量代码？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200400" cy="0"/>
          </a:xfrm>
          <a:prstGeom prst="line">
            <a:avLst/>
          </a:prstGeom>
          <a:noFill/>
          <a:ln w="25400">
            <a:solidFill>
              <a:srgbClr val="E3B3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2F81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把擅长的事交给 AI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804672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37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 AI 会 PUA 你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804672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23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靠个人判断力够吗？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8B94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单靠经验，不可持续不可复制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E6ED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团队协作、项目复杂怎么办？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我们需要一套系统化的方法 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463040" cy="0"/>
          </a:xfrm>
          <a:prstGeom prst="line">
            <a:avLst/>
          </a:prstGeom>
          <a:noFill/>
          <a:ln w="25400">
            <a:solidFill>
              <a:srgbClr val="E3B3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系统化提升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与 Harness 实践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4023360"/>
            <a:ext cx="27432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SDD？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2540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= Specification-Driven Development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先写说明书，再让AI写代码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4023360" cy="868680"/>
          </a:xfrm>
          <a:prstGeom prst="roundRect">
            <a:avLst>
              <a:gd name="adj" fmla="val 6316"/>
            </a:avLst>
          </a:prstGeom>
          <a:solidFill>
            <a:srgbClr val="1A0505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8483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氛围编程
</a:t>
            </a:r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凭感觉 → AI猜着写 → 修几小时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2057400"/>
            <a:ext cx="4023360" cy="868680"/>
          </a:xfrm>
          <a:prstGeom prst="roundRect">
            <a:avLst>
              <a:gd name="adj" fmla="val 6316"/>
            </a:avLst>
          </a:prstGeom>
          <a:solidFill>
            <a:srgbClr val="0D2B15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08483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SDD
</a:t>
            </a:r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规范第一，代码第二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06324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 是建筑图纸    AI 是施工队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61188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6118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目标与价值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0320" y="361188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36118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上下文约束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61188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6118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功能逻辑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361188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36118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验证标准(TDD基因)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四阶段工作流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9552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Specify
</a:t>
            </a:r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编写规范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377440" y="7772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23160" y="79552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🏗️ Plan
</a:t>
            </a:r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设计方案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0" y="7772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79552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✂️ Task
</a:t>
            </a:r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拆分任务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7772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79552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Implement
</a:t>
            </a:r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自动编码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94560" y="1188720"/>
            <a:ext cx="182880" cy="0"/>
          </a:xfrm>
          <a:prstGeom prst="line">
            <a:avLst/>
          </a:prstGeom>
          <a:noFill/>
          <a:ln w="25400">
            <a:solidFill>
              <a:srgbClr val="2F81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1188720"/>
            <a:ext cx="182880" cy="0"/>
          </a:xfrm>
          <a:prstGeom prst="line">
            <a:avLst/>
          </a:prstGeom>
          <a:noFill/>
          <a:ln w="25400">
            <a:solidFill>
              <a:srgbClr val="2F81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188720"/>
            <a:ext cx="182880" cy="0"/>
          </a:xfrm>
          <a:prstGeom prst="line">
            <a:avLst/>
          </a:prstGeom>
          <a:noFill/>
          <a:ln w="25400">
            <a:solidFill>
              <a:srgbClr val="2F81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182880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1828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🔮 可预测性
</a:t>
            </a:r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输出可控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182880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1828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高质量(TDD)
</a:t>
            </a:r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内置测试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260604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2606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易维护
</a:t>
            </a:r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规范即文档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260604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2606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ROI答疑
</a:t>
            </a:r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给新同事讲&gt;5分钟就写Spec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1828800"/>
            <a:ext cx="4480560" cy="1417320"/>
          </a:xfrm>
          <a:prstGeom prst="roundRect">
            <a:avLst>
              <a:gd name="adj" fmla="val 38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874520"/>
            <a:ext cx="42976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核心流程
</a:t>
            </a:r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Specify — 用自然语言描述需求
</a:t>
            </a:r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Plan — 让AI基于规范设计方案
</a:t>
            </a:r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Task — 将方案拆分为可执行任务
</a:t>
            </a:r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Implement — Agent 自动完成编码
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2900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0D284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从'码农'变成'系统架构师'——你画图纸，AI盖楼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案例：智能体消息网关 aip-gateway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AMG 核心模块定位
</a:t>
            </a:r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Message Gateway — 智能体消息的统一入口与路由枢纽
</a:t>
            </a:r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连接多个 AI 智能体，处理消息分发、协议转换、插件扩展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0" y="73152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0" y="7772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
</a:t>
            </a:r>
            <a:pPr algn="l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WebFlux
</a:t>
            </a:r>
            <a:pPr algn="l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R2DBC (Reactive SQL)
</a:t>
            </a:r>
            <a:pPr algn="l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Reactive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2560320" cy="82296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9339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209
</a:t>
            </a:r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次提交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108960" y="1965960"/>
            <a:ext cx="2560320" cy="82296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99339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584
</a:t>
            </a:r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个Java文件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852160" y="1965960"/>
            <a:ext cx="2560320" cy="82296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99339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
</a:t>
            </a:r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个插件模块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0D2B15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AMG 核心 </a:t>
            </a:r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59个文件</a:t>
            </a:r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|  </a:t>
            </a:r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仅2天完成</a:t>
            </a:r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|  </a:t>
            </a:r>
            <a:pPr algn="ctr"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→ v1.9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实践：从PRD到代码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25400">
            <a:solidFill>
              <a:srgbClr val="E3B3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49808"/>
            <a:ext cx="19202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qoder 编写PRD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468880" y="7315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25400">
            <a:solidFill>
              <a:srgbClr val="2F81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14600" y="749808"/>
            <a:ext cx="19202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转化为技术Spec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4796行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7315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749808"/>
            <a:ext cx="19202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多轮审阅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v1→v1.9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7315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25400">
            <a:solidFill>
              <a:srgbClr val="E6ED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749808"/>
            <a:ext cx="17373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Team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10058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80560" y="10058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75120" y="10058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" y="1920240"/>
            <a:ext cx="2560320" cy="1005840"/>
          </a:xfrm>
          <a:prstGeom prst="roundRect">
            <a:avLst>
              <a:gd name="adj" fmla="val 545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9659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规范先行
</a:t>
            </a:r>
            <a:pPr algn="l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4796行技术Spec覆盖架构、数据模型、API、插件机制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108960" y="1920240"/>
            <a:ext cx="2560320" cy="1005840"/>
          </a:xfrm>
          <a:prstGeom prst="roundRect">
            <a:avLst>
              <a:gd name="adj" fmla="val 545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9659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审阅到位
</a:t>
            </a:r>
            <a:pPr algn="l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9轮迭代，三轮审阅纠正架构/技术栈/数据模型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52160" y="1920240"/>
            <a:ext cx="2560320" cy="1005840"/>
          </a:xfrm>
          <a:prstGeom prst="roundRect">
            <a:avLst>
              <a:gd name="adj" fmla="val 545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19659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代码自动
</a:t>
            </a:r>
            <a:pPr algn="l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Team 按Spec拆分任务，自动完成编码实现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0D284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规范先行 → 审阅到位 → 代码自动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 的九轮迭代（v1.0 → v1.9）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005840"/>
            <a:ext cx="0" cy="2560320"/>
          </a:xfrm>
          <a:prstGeom prst="line">
            <a:avLst/>
          </a:prstGeom>
          <a:noFill/>
          <a:ln w="25400">
            <a:solidFill>
              <a:srgbClr val="2F81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1872" y="1005840"/>
            <a:ext cx="219456" cy="219456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868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v1.0 - v1.2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097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基础框架搭建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61872" y="1600200"/>
            <a:ext cx="219456" cy="219456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463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v1.3 - v1.5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审阅反馈修正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61872" y="2194560"/>
            <a:ext cx="219456" cy="219456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2057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重大定位调整!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261872" y="2788920"/>
            <a:ext cx="219456" cy="219456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2651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v1.7 - v1.8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2880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技术栈修正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261872" y="3383280"/>
            <a:ext cx="219456" cy="21945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8" name="Text 16"/>
          <p:cNvSpPr/>
          <p:nvPr/>
        </p:nvSpPr>
        <p:spPr>
          <a:xfrm>
            <a:off x="1554480" y="3246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3474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综合修复 &amp; 定稿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73152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 w="190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777240"/>
            <a:ext cx="3840480" cy="320040"/>
          </a:xfrm>
          <a:prstGeom prst="roundRect">
            <a:avLst>
              <a:gd name="adj" fmla="val 14286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777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--oneline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123444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a1b2c3d </a:t>
            </a:r>
            <a:pPr algn="l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feat: 初始Spec v1.0框架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155448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e4f5g6h </a:t>
            </a:r>
            <a:pPr algn="l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refactor: v1.3 审阅修正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187452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i7j8k9l </a:t>
            </a:r>
            <a:pPr algn="l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fix: v1.5 数据模型修正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219456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m0n1o2p </a:t>
            </a:r>
            <a:pPr algn="l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refactor: v1.6 重大定位调整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251460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q3r4s5t </a:t>
            </a:r>
            <a:pPr algn="l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fix: v1.7 技术栈API修正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283464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u6v7w8x </a:t>
            </a:r>
            <a:pPr algn="l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fix: v1.8 R2DBC兼容修正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315468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y9z0a1b </a:t>
            </a:r>
            <a:pPr algn="l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feat: v1.9 综合修复定稿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三轮审阅，发现了什么？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457200"/>
          </a:xfrm>
          <a:prstGeom prst="rect">
            <a:avLst>
              <a:gd name="adj" fmla="val 6000"/>
            </a:avLst>
          </a:prstGeom>
          <a:solidFill>
            <a:srgbClr val="162436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00584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76272" y="100584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原始设计（跑偏）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76672" y="100584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审阅修正（纠偏）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7863840" cy="594360"/>
          </a:xfrm>
          <a:prstGeom prst="rect">
            <a:avLst>
              <a:gd name="adj" fmla="val 4615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463040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架构定位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76272" y="1463040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AMG定位偏移被设计成独立服务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76672" y="1463040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重新定位为数字员工门户消息层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093976"/>
            <a:ext cx="7863840" cy="594360"/>
          </a:xfrm>
          <a:prstGeom prst="rect">
            <a:avLst>
              <a:gd name="adj" fmla="val 4615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093976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76272" y="2093976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误用Spring Boot 3.x API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76672" y="2093976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修正为2.7.17与现有网关一致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724912"/>
            <a:ext cx="7863840" cy="594360"/>
          </a:xfrm>
          <a:prstGeom prst="rect">
            <a:avLst>
              <a:gd name="adj" fmla="val 4615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724912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数据模型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76272" y="2724912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三层关系模型表述不清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76672" y="2724912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明确de_catalog→digital_employee→ops_channel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538728"/>
            <a:ext cx="7863840" cy="502920"/>
          </a:xfrm>
          <a:prstGeom prst="rect">
            <a:avLst>
              <a:gd name="adj" fmla="val 10909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5387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审阅不是走形式，每次审阅都在防止'AI高效跑偏'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" y="4133088"/>
            <a:ext cx="7863840" cy="411480"/>
          </a:xfrm>
          <a:prstGeom prst="rect">
            <a:avLst>
              <a:gd name="adj" fmla="val 13333"/>
            </a:avLst>
          </a:prstGeom>
          <a:solidFill>
            <a:srgbClr val="2D1A0A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13308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回扣Part2—这就是系统化地防止AI PUA你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成果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2540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
</a:t>
            </a:r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个Java文件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0" y="73152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7772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仅2天
</a:t>
            </a:r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完成核心代码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035040" y="73152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25400">
            <a:solidFill>
              <a:srgbClr val="E3B3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0" y="7772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13,093
</a:t>
            </a:r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行代码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A0505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031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aip-server
</a:t>
            </a:r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靠经验 — 个人能力驱动
</a:t>
            </a:r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不可复制，依赖个人水平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20574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0D2B15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1031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aip-gateway
</a:t>
            </a:r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 SDD — 方法论驱动
</a:t>
            </a:r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可复制，流程保障质量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0D2847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规范先行，代码自动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Harness Engineering？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= Model + Harness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模型是马 Harness是缰绳——光有马不行还需要驾驭系统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= 给AI烈马套上缰绳的马具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不是限制AI的能力，而是让AI的能力在正确方向上释放——约束即驾驭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794760" cy="1051560"/>
          </a:xfrm>
          <a:prstGeom prst="rect">
            <a:avLst>
              <a:gd name="adj" fmla="val 260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331720"/>
            <a:ext cx="379476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441448"/>
            <a:ext cx="3575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Guides 前馈控制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2761488"/>
            <a:ext cx="3575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行动前设好规则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CLAUDE.md 代码规范 架构决策 权限分级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高速公路护栏类比——提前规划路线边界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2331720"/>
            <a:ext cx="3794760" cy="1051560"/>
          </a:xfrm>
          <a:prstGeom prst="rect">
            <a:avLst>
              <a:gd name="adj" fmla="val 260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2331720"/>
            <a:ext cx="379476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4818888" y="2441448"/>
            <a:ext cx="3575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Sensors 反馈控制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18888" y="2761488"/>
            <a:ext cx="3575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做完后检测对不对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 Sonar代码扫描 CI流水线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安检门类比——事后检测偏差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7863840" cy="411480"/>
          </a:xfrm>
          <a:prstGeom prst="rect">
            <a:avLst>
              <a:gd name="adj" fmla="val 8889"/>
            </a:avLst>
          </a:prstGeom>
          <a:solidFill>
            <a:srgbClr val="2D1A0A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204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好的Harness = Guides + Sensors    防患于未然 + 亡羊补牢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069080"/>
            <a:ext cx="2560320" cy="320040"/>
          </a:xfrm>
          <a:prstGeom prst="rect">
            <a:avLst>
              <a:gd name="adj" fmla="val 857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069080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</a:t>
            </a:r>
            <a:pPr algn="ctr" indent="0" marL="0">
              <a:buNone/>
            </a:pPr>
            <a:r>
              <a:rPr lang="en-US" sz="1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项目级 </a:t>
            </a:r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全局规则 项目骨架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91840" y="4069080"/>
            <a:ext cx="2560320" cy="320040"/>
          </a:xfrm>
          <a:prstGeom prst="rect">
            <a:avLst>
              <a:gd name="adj" fmla="val 857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4069080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</a:t>
            </a:r>
            <a:pPr algn="ctr" indent="0" marL="0">
              <a:buNone/>
            </a:pPr>
            <a:r>
              <a:rPr lang="en-US" sz="1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任务级 </a:t>
            </a:r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当前任务的约束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0" y="4069080"/>
            <a:ext cx="2560320" cy="320040"/>
          </a:xfrm>
          <a:prstGeom prst="rect">
            <a:avLst>
              <a:gd name="adj" fmla="val 857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16752" y="4069080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</a:t>
            </a:r>
            <a:pPr algn="ctr" indent="0" marL="0">
              <a:buNone/>
            </a:pPr>
            <a:r>
              <a:rPr lang="en-US" sz="1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会话级 </a:t>
            </a:r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本次对话的即时指令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9544" y="4160520"/>
            <a:ext cx="73152" cy="13716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2744" y="4160520"/>
            <a:ext cx="73152" cy="13716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462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约束先行 — 规则靠自动化强制执行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是怎么"长"出来的？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1143000" cy="502920"/>
          </a:xfrm>
          <a:prstGeom prst="rect">
            <a:avLst>
              <a:gd name="adj" fmla="val 5455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①让AI做任务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72768" y="1069848"/>
            <a:ext cx="164592" cy="164592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914400"/>
            <a:ext cx="1143000" cy="502920"/>
          </a:xfrm>
          <a:prstGeom prst="rect">
            <a:avLst>
              <a:gd name="adj" fmla="val 5455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47088" y="9144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②观察输出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99816" y="1069848"/>
            <a:ext cx="164592" cy="164592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74136" y="914400"/>
            <a:ext cx="1143000" cy="502920"/>
          </a:xfrm>
          <a:prstGeom prst="rect">
            <a:avLst>
              <a:gd name="adj" fmla="val 5455"/>
            </a:avLst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74136" y="9144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③发现问题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26864" y="1069848"/>
            <a:ext cx="164592" cy="164592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01184" y="914400"/>
            <a:ext cx="1143000" cy="502920"/>
          </a:xfrm>
          <a:prstGeom prst="rect">
            <a:avLst>
              <a:gd name="adj" fmla="val 5455"/>
            </a:avLst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9144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④分析根因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53912" y="1069848"/>
            <a:ext cx="164592" cy="164592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28232" y="914400"/>
            <a:ext cx="1143000" cy="502920"/>
          </a:xfrm>
          <a:prstGeom prst="rect">
            <a:avLst>
              <a:gd name="adj" fmla="val 5455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9144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⑤添加最小约束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80960" y="1069848"/>
            <a:ext cx="164592" cy="164592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914400"/>
            <a:ext cx="1143000" cy="502920"/>
          </a:xfrm>
          <a:prstGeom prst="rect">
            <a:avLst>
              <a:gd name="adj" fmla="val 5455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9144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⑥验证效果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208008" y="9601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回到①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1600200"/>
            <a:ext cx="2560320" cy="1143000"/>
          </a:xfrm>
          <a:prstGeom prst="rect">
            <a:avLst>
              <a:gd name="adj" fmla="val 24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1600200"/>
            <a:ext cx="256032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170992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" y="2029968"/>
            <a:ext cx="23408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刚创建 / 单模块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CLAUDE.md 3-10行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项目启动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1600200"/>
            <a:ext cx="2560320" cy="1143000"/>
          </a:xfrm>
          <a:prstGeom prst="rect">
            <a:avLst>
              <a:gd name="adj" fmla="val 24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3280" y="1600200"/>
            <a:ext cx="2560320" cy="3657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7" name="Text 25"/>
          <p:cNvSpPr/>
          <p:nvPr/>
        </p:nvSpPr>
        <p:spPr>
          <a:xfrm>
            <a:off x="3493008" y="170992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生长期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93008" y="2029968"/>
            <a:ext cx="23408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多模块 / 多人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分层文档 + 架构约束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AI犯结构性错误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1600200"/>
            <a:ext cx="2560320" cy="1143000"/>
          </a:xfrm>
          <a:prstGeom prst="rect">
            <a:avLst>
              <a:gd name="adj" fmla="val 24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1600200"/>
            <a:ext cx="256032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1" name="Text 29"/>
          <p:cNvSpPr/>
          <p:nvPr/>
        </p:nvSpPr>
        <p:spPr>
          <a:xfrm>
            <a:off x="6236208" y="170992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成熟期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36208" y="2029968"/>
            <a:ext cx="23408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复杂系统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自动化检查 + 反馈循环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单次对话无法完成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2926080"/>
            <a:ext cx="7863840" cy="502920"/>
          </a:xfrm>
          <a:prstGeom prst="rect">
            <a:avLst>
              <a:gd name="adj" fmla="val 5455"/>
            </a:avLst>
          </a:prstGeom>
          <a:solidFill>
            <a:srgbClr val="2D1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2999232"/>
            <a:ext cx="7589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不要一步到位——每条规则应有具体"事故"作为来源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35204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接下来的aip-portal案例就是这套方法论的真实演绎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案例：aip-portal 智能体门户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594360"/>
          </a:xfrm>
          <a:prstGeom prst="rect">
            <a:avLst>
              <a:gd name="adj" fmla="val 461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914400"/>
            <a:ext cx="78638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024128"/>
            <a:ext cx="7644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 Agent 管理平台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1344168"/>
            <a:ext cx="76443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统一管理数字员工、Agent注册、技能编排、消息通道、运营监控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2.7.18 + MyBatis Plus + PostgreSQL + Java 17  |  Maven多模块 + Feign + 多数据源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1463040" cy="1097280"/>
          </a:xfrm>
          <a:prstGeom prst="rect">
            <a:avLst>
              <a:gd name="adj" fmla="val 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次提交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40280" y="2194560"/>
            <a:ext cx="1463040" cy="1097280"/>
          </a:xfrm>
          <a:prstGeom prst="rect">
            <a:avLst>
              <a:gd name="adj" fmla="val 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24028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天开发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0" y="2194560"/>
            <a:ext cx="1463040" cy="1097280"/>
          </a:xfrm>
          <a:prstGeom prst="rect">
            <a:avLst>
              <a:gd name="adj" fmla="val 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84048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个Java文件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40680" y="2194560"/>
            <a:ext cx="1463040" cy="1097280"/>
          </a:xfrm>
          <a:prstGeom prst="rect">
            <a:avLst>
              <a:gd name="adj" fmla="val 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4068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个文档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40880" y="2194560"/>
            <a:ext cx="1463040" cy="1097280"/>
          </a:xfrm>
          <a:prstGeom prst="rect">
            <a:avLst>
              <a:gd name="adj" fmla="val 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04088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人协作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520440"/>
            <a:ext cx="7863840" cy="365760"/>
          </a:xfrm>
          <a:prstGeom prst="rect">
            <a:avLst>
              <a:gd name="adj" fmla="val 10000"/>
            </a:avLst>
          </a:prstGeom>
          <a:solidFill>
            <a:srgbClr val="2D1A0A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这个项目经历了 Harness 从无到有的完整演化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 的演化：从混乱到精炼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5487 → 6000 → 3300 → 272  压缩率 95%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7280" y="1590507"/>
            <a:ext cx="1280160" cy="2341413"/>
          </a:xfrm>
          <a:prstGeom prst="rect">
            <a:avLst>
              <a:gd name="adj" fmla="val 2143"/>
            </a:avLst>
          </a:prstGeom>
          <a:solidFill>
            <a:srgbClr val="E3B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16187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5487行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40050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88920" y="1371600"/>
            <a:ext cx="1280160" cy="2560320"/>
          </a:xfrm>
          <a:prstGeom prst="rect">
            <a:avLst>
              <a:gd name="adj" fmla="val 2143"/>
            </a:avLst>
          </a:prstGeom>
          <a:solidFill>
            <a:srgbClr val="F851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097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~6000行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88920" y="40050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3017520"/>
            <a:ext cx="1280160" cy="411480"/>
          </a:xfrm>
          <a:prstGeom prst="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30175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32186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paths: **.java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0" y="40050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2.5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2523744"/>
            <a:ext cx="1280160" cy="1408176"/>
          </a:xfrm>
          <a:prstGeom prst="rect">
            <a:avLst>
              <a:gd name="adj" fmla="val 2143"/>
            </a:avLst>
          </a:prstGeom>
          <a:solidFill>
            <a:srgbClr val="E3B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22494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~3300行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72200" y="40050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63840" y="3749040"/>
            <a:ext cx="1280160" cy="182880"/>
          </a:xfrm>
          <a:prstGeom prst="rect">
            <a:avLst>
              <a:gd name="adj" fmla="val 15000"/>
            </a:avLst>
          </a:prstGeom>
          <a:solidFill>
            <a:srgbClr val="3FB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34747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272行 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0" y="40050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3931920"/>
            <a:ext cx="731520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1-2：混乱与膨胀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3794760" cy="2148840"/>
          </a:xfrm>
          <a:prstGeom prst="rect">
            <a:avLst>
              <a:gd name="adj" fmla="val 127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68680"/>
            <a:ext cx="3794760" cy="3657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978408"/>
            <a:ext cx="3575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 — 什么都往里放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1298448"/>
            <a:ext cx="357530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5487行 20文件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Token消耗大 关键规则被淹没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9808" y="1645920"/>
            <a:ext cx="3575304" cy="365760"/>
          </a:xfrm>
          <a:prstGeom prst="rect">
            <a:avLst>
              <a:gd name="adj" fmla="val 7500"/>
            </a:avLst>
          </a:prstGeom>
          <a:solidFill>
            <a:srgbClr val="161B22"/>
          </a:solidFill>
          <a:ln w="9525">
            <a:solidFill>
              <a:srgbClr val="2F81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459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V2.2.14→V2.2.13</a:t>
            </a:r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→约束: </a:t>
            </a:r>
            <a:pPr algn="l" indent="0" marL="0">
              <a:buNone/>
            </a:pPr>
            <a:r>
              <a:rPr lang="en-US" sz="9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涉及版本号先查已有文件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2057400"/>
            <a:ext cx="3575304" cy="365760"/>
          </a:xfrm>
          <a:prstGeom prst="rect">
            <a:avLst>
              <a:gd name="adj" fmla="val 7500"/>
            </a:avLst>
          </a:prstGeom>
          <a:solidFill>
            <a:srgbClr val="161B22"/>
          </a:solidFill>
          <a:ln w="9525">
            <a:solidFill>
              <a:srgbClr val="2F81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0574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修改已冻结脚本</a:t>
            </a:r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→约束: </a:t>
            </a:r>
            <a:pPr algn="l" indent="0" marL="0">
              <a:buNone/>
            </a:pPr>
            <a:r>
              <a:rPr lang="en-US" sz="9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已冻结脚本严禁修改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2468880"/>
            <a:ext cx="3575304" cy="365760"/>
          </a:xfrm>
          <a:prstGeom prst="rect">
            <a:avLst>
              <a:gd name="adj" fmla="val 7500"/>
            </a:avLst>
          </a:prstGeom>
          <a:solidFill>
            <a:srgbClr val="161B22"/>
          </a:solidFill>
          <a:ln w="9525">
            <a:solidFill>
              <a:srgbClr val="2F81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4688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权限过滤偏差</a:t>
            </a:r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→约束: </a:t>
            </a:r>
            <a:pPr algn="l" indent="0" marL="0">
              <a:buNone/>
            </a:pPr>
            <a:r>
              <a:rPr lang="en-US" sz="9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用户级权限判断交给前端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868680"/>
            <a:ext cx="3794760" cy="2148840"/>
          </a:xfrm>
          <a:prstGeom prst="rect">
            <a:avLst>
              <a:gd name="adj" fmla="val 127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868680"/>
            <a:ext cx="379476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5" name="Text 13"/>
          <p:cNvSpPr/>
          <p:nvPr/>
        </p:nvSpPr>
        <p:spPr>
          <a:xfrm>
            <a:off x="4818888" y="978408"/>
            <a:ext cx="3575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 — 踩坑就加越加越多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18888" y="1298448"/>
            <a:ext cx="357530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~6000+行 24文件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Token爆炸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每犯一个错就加一条规则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规则之间相互矛盾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7863840" cy="502920"/>
          </a:xfrm>
          <a:prstGeom prst="rect">
            <a:avLst>
              <a:gd name="adj" fmla="val 5455"/>
            </a:avLst>
          </a:prstGeom>
          <a:solidFill>
            <a:srgbClr val="2D1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273552"/>
            <a:ext cx="7589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恶性循环   犯错 → 加规则 → 再犯错 → 再加规则 ……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3-4：清理与精炼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3794760" cy="1645920"/>
          </a:xfrm>
          <a:prstGeom prst="rect">
            <a:avLst>
              <a:gd name="adj" fmla="val 1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68680"/>
            <a:ext cx="3794760" cy="3657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978408"/>
            <a:ext cx="3575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 — 删掉2714行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1298448"/>
            <a:ext cx="357530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意识到规范不是越多越好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rules是token预算管理不是wiki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文档移 docs/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只保留AI每次必须看到的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868680"/>
            <a:ext cx="3794760" cy="1645920"/>
          </a:xfrm>
          <a:prstGeom prst="rect">
            <a:avLst>
              <a:gd name="adj" fmla="val 1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868680"/>
            <a:ext cx="379476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4818888" y="978408"/>
            <a:ext cx="3575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4 — 最终272行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18888" y="1298448"/>
            <a:ext cx="357530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压缩率 95%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只保留AI必须知道的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质量稳定 Token可控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从5487→272 精炼到极致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7863840" cy="457200"/>
          </a:xfrm>
          <a:prstGeom prst="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43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04-01 </a:t>
            </a:r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15184" y="27432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24912" y="2743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04-01 </a:t>
            </a:r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62856" y="27432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72584" y="2743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04-02 </a:t>
            </a:r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10528" y="27432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0256" y="2743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04-09 </a:t>
            </a:r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规范移docs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246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仅9天完成重构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最终形态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3794760" cy="1371600"/>
          </a:xfrm>
          <a:prstGeom prst="rect">
            <a:avLst>
              <a:gd name="adj" fmla="val 2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914400"/>
            <a:ext cx="379476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024128"/>
            <a:ext cx="3575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 — 混乱状态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1344168"/>
            <a:ext cx="35753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5487行 20文件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所有规范堆在一个目录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每次全部加载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3794760" cy="1371600"/>
          </a:xfrm>
          <a:prstGeom prst="rect">
            <a:avLst>
              <a:gd name="adj" fmla="val 2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914400"/>
            <a:ext cx="379476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4818888" y="1024128"/>
            <a:ext cx="3575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 — 三层架构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18888" y="1344168"/>
            <a:ext cx="35753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CLAUDE.md (23行) 项目导航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.claude/rules/ ARCHITECTURE.md(124行)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+ CODE-STYLE.md(14行) + testing.md(134行)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18888" y="2011680"/>
            <a:ext cx="3575304" cy="228600"/>
          </a:xfrm>
          <a:prstGeom prst="rect">
            <a:avLst>
              <a:gd name="adj" fmla="val 8000"/>
            </a:avLst>
          </a:prstGeom>
          <a:solidFill>
            <a:srgbClr val="161B22"/>
          </a:solidFill>
          <a:ln w="6350">
            <a:solidFill>
              <a:srgbClr val="7EE7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2011680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docs/code-style/ 8文档 838行 按需引用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468880"/>
            <a:ext cx="7863840" cy="594360"/>
          </a:xfrm>
          <a:prstGeom prst="rect">
            <a:avLst>
              <a:gd name="adj" fmla="val 7692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46888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核心约束 → 自动加载（每次会话）</a:t>
            </a:r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|    </a:t>
            </a:r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详细规范 → 按需加载（AI自行查阅）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246120"/>
            <a:ext cx="2468880" cy="731520"/>
          </a:xfrm>
          <a:prstGeom prst="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246120"/>
            <a:ext cx="2468880" cy="45720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355848"/>
            <a:ext cx="22494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CLAUDE.md
</a:t>
            </a:r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23行 项目导航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06040" y="32918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3246120"/>
            <a:ext cx="2468880" cy="731520"/>
          </a:xfrm>
          <a:prstGeom prst="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3246120"/>
            <a:ext cx="2468880" cy="4572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1" name="Text 19"/>
          <p:cNvSpPr/>
          <p:nvPr/>
        </p:nvSpPr>
        <p:spPr>
          <a:xfrm>
            <a:off x="3401568" y="3355848"/>
            <a:ext cx="22494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rules/
</a:t>
            </a:r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272行 必须知道的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32918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0" y="3246120"/>
            <a:ext cx="2468880" cy="731520"/>
          </a:xfrm>
          <a:prstGeom prst="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3246120"/>
            <a:ext cx="246888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5" name="Text 23"/>
          <p:cNvSpPr/>
          <p:nvPr/>
        </p:nvSpPr>
        <p:spPr>
          <a:xfrm>
            <a:off x="6053328" y="3355848"/>
            <a:ext cx="22494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docs/
</a:t>
            </a:r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838行 按需引用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909560" y="32918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 演化的关键经验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3840480" cy="502920"/>
          </a:xfrm>
          <a:prstGeom prst="rect">
            <a:avLst>
              <a:gd name="adj" fmla="val 5455"/>
            </a:avLst>
          </a:prstGeom>
          <a:solidFill>
            <a:srgbClr val="161B22"/>
          </a:solidFill>
          <a:ln w="9525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914400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rules/是token预算管理不是wiki — 每一行要有价值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3840480" cy="502920"/>
          </a:xfrm>
          <a:prstGeom prst="rect">
            <a:avLst>
              <a:gd name="adj" fmla="val 5455"/>
            </a:avLst>
          </a:prstGeom>
          <a:solidFill>
            <a:srgbClr val="161B22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508760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规范不是越多越好越精炼越好 — 少即是多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3840480" cy="502920"/>
          </a:xfrm>
          <a:prstGeom prst="rect">
            <a:avLst>
              <a:gd name="adj" fmla="val 5455"/>
            </a:avLst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103120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每次踩坑是完善规范的机会 — 复盘驱动改进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3749040" cy="1645920"/>
          </a:xfrm>
          <a:prstGeom prst="rect">
            <a:avLst>
              <a:gd name="adj" fmla="val 1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914400"/>
            <a:ext cx="374904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1024128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Bad Constraints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64608" y="1344168"/>
            <a:ext cx="352958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"写高质量代码" — AI看到和没看到一样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"注意异常处理" — 模糊不可操作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"保持代码整洁" — 无法指导行为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651760"/>
            <a:ext cx="3749040" cy="1645920"/>
          </a:xfrm>
          <a:prstGeom prst="rect">
            <a:avLst>
              <a:gd name="adj" fmla="val 1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651760"/>
            <a:ext cx="374904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5" name="Text 13"/>
          <p:cNvSpPr/>
          <p:nvPr/>
        </p:nvSpPr>
        <p:spPr>
          <a:xfrm>
            <a:off x="4864608" y="2761488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Good Constraints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64608" y="3081528"/>
            <a:ext cx="352958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"@RequiredArgsConstructor不用@Autowired" — 具体可验证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"HTTP错误格式{code,message,timestamp}" — 有模板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"已冻结脚本严禁修改所有变更只走新建补丁" — 有明确来源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7863840" cy="411480"/>
          </a:xfrm>
          <a:prstGeom prst="rect">
            <a:avLst>
              <a:gd name="adj" fmla="val 8889"/>
            </a:avLst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7490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错误现象 → 根因分析 → 期望行为 → 最小约束文本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演化的下一步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Guides层初步完成  </a:t>
            </a:r>
            <a:pPr algn="l" indent="0" marL="0">
              <a:buNone/>
            </a:pPr>
            <a:r>
              <a:rPr lang="en-US" sz="1600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Sensors层正在演进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1645920"/>
            <a:ext cx="8595360" cy="502920"/>
          </a:xfrm>
          <a:prstGeom prst="rect">
            <a:avLst/>
          </a:prstGeom>
          <a:solidFill>
            <a:srgbClr val="1A3A2A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</a:t>
            </a:r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已尝试 Karate 接口场景测试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2331720"/>
            <a:ext cx="274320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468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🧪 </a:t>
            </a:r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2926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单元+集成测试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通过才合并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2331720"/>
            <a:ext cx="274320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468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</a:t>
            </a:r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Sonar代码扫描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37560" y="2926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规范·重复·Bug·安全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331720"/>
            <a:ext cx="274320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468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🔄 </a:t>
            </a:r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CI流水线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63640" y="2926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测试+Sonar+构建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8595360" cy="685800"/>
          </a:xfrm>
          <a:prstGeom prst="rect">
            <a:avLst/>
          </a:prstGeom>
          <a:solidFill>
            <a:srgbClr val="0D2240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Guides</a:t>
            </a:r>
            <a:pPr algn="ctr"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让人读规则  </a:t>
            </a:r>
            <a:pPr algn="ctr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Sensors</a:t>
            </a:r>
            <a:pPr algn="ctr"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让机器自动执行规则</a:t>
            </a:r>
            <a:pPr algn="ctr" indent="0" marL="0">
              <a:buNone/>
            </a:pPr>
            <a:r>
              <a:rPr lang="en-US" sz="1500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——两者结合才是完整闭环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成熟期全景——完整闭环长什么样？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3931920" cy="1417320"/>
          </a:xfrm>
          <a:prstGeom prst="rect">
            <a:avLst/>
          </a:prstGeom>
          <a:solidFill>
            <a:srgbClr val="0D2240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046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Guides层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CLAUDE.md + rules/  |  分层文档 + 架构约束  |  权限分级 + 编码规范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37760" y="731520"/>
            <a:ext cx="3931920" cy="1417320"/>
          </a:xfrm>
          <a:prstGeom prst="rect">
            <a:avLst/>
          </a:prstGeom>
          <a:solidFill>
            <a:srgbClr val="1A3A2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8046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Sensors层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4920" y="11430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 JUnit/Karate  |  Sonar扫描  |  ArchUnit架构检查  |  CI流水线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2194560"/>
            <a:ext cx="3657600" cy="320040"/>
          </a:xfrm>
          <a:prstGeom prst="rect">
            <a:avLst/>
          </a:prstGeom>
          <a:solidFill>
            <a:srgbClr val="3A2A0A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犯错 → 根因 → 添加约束/检查 → 永远不再犯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201168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31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🏗️ </a:t>
            </a:r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ArchUnit</a:t>
            </a:r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架构守护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68880" y="2331720"/>
            <a:ext cx="201168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2331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</a:t>
            </a:r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Sonar</a:t>
            </a:r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代码扫描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331720"/>
            <a:ext cx="201168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331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🧪 </a:t>
            </a:r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Karate</a:t>
            </a:r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接口测试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0" y="2331720"/>
            <a:ext cx="201168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2331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🔄 </a:t>
            </a:r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</a:t>
            </a:r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自动流水线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3063240"/>
            <a:ext cx="20116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063240"/>
            <a:ext cx="2011680" cy="54864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172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34107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88个AGENTS.md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百万行零人工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68880" y="3063240"/>
            <a:ext cx="20116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68880" y="3063240"/>
            <a:ext cx="2011680" cy="54864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5" name="Text 23"/>
          <p:cNvSpPr/>
          <p:nvPr/>
        </p:nvSpPr>
        <p:spPr>
          <a:xfrm>
            <a:off x="2560320" y="3172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LangChain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60320" y="34107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52.8%→66.5%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063240"/>
            <a:ext cx="20116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3063240"/>
            <a:ext cx="2011680" cy="54864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172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34107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生成评估分离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0" y="3063240"/>
            <a:ext cx="20116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0" y="3063240"/>
            <a:ext cx="2011680" cy="54864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33" name="Text 31"/>
          <p:cNvSpPr/>
          <p:nvPr/>
        </p:nvSpPr>
        <p:spPr>
          <a:xfrm>
            <a:off x="6949440" y="3172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49440" y="34107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约束优于提示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反馈循环·分层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自动化一切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069080"/>
            <a:ext cx="8595360" cy="502920"/>
          </a:xfrm>
          <a:prstGeom prst="rect">
            <a:avLst/>
          </a:prstGeom>
          <a:solidFill>
            <a:srgbClr val="0D2240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从"人读规则"到"机器自动执行规则"——这才是完整的Harness闭环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cc-switch — Claude Code 配置切换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7863840" cy="502920"/>
          </a:xfrm>
          <a:prstGeom prst="rect">
            <a:avLst>
              <a:gd name="adj" fmla="val 9091"/>
            </a:avLst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cc-switch</a:t>
            </a:r>
            <a:pPr algn="ctr"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一键切换 Claude Code 的 </a:t>
            </a:r>
            <a:pPr algn="ctr" indent="0" marL="0">
              <a:buNone/>
            </a:pPr>
            <a:r>
              <a:rPr lang="en-US" sz="15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/ 权限 / 配置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560320" cy="2286000"/>
          </a:xfrm>
          <a:prstGeom prst="rect">
            <a:avLst>
              <a:gd name="adj" fmla="val 12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256032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89280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不同项目需要不同配置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212848"/>
            <a:ext cx="2340864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Java项目需要编码规范约束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前端项目侧重组件约定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一键切换无需手动改配置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783080"/>
            <a:ext cx="2560320" cy="2286000"/>
          </a:xfrm>
          <a:prstGeom prst="rect">
            <a:avLst>
              <a:gd name="adj" fmla="val 12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783080"/>
            <a:ext cx="256032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89280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复杂任务用强模型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简单任务用快模型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47288" y="2212848"/>
            <a:ext cx="2340864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架构设计用最强模型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日常修改用快模型省钱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灵活匹配任务复杂度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783080"/>
            <a:ext cx="2560320" cy="2286000"/>
          </a:xfrm>
          <a:prstGeom prst="rect">
            <a:avLst>
              <a:gd name="adj" fmla="val 12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783080"/>
            <a:ext cx="2560320" cy="3657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5" name="Text 13"/>
          <p:cNvSpPr/>
          <p:nvPr/>
        </p:nvSpPr>
        <p:spPr>
          <a:xfrm>
            <a:off x="6144768" y="189280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团队成员共享配置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44768" y="2212848"/>
            <a:ext cx="2340864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统一模型和权限策略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新人无需自行配置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团队规范一键生效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0"/>
            <a:ext cx="73152" cy="3200400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400" kern="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工具链与实战技巧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可以立即带走的东西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技巧一：小步快跑，持续验证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965960" y="1005840"/>
            <a:ext cx="1371600" cy="502920"/>
          </a:xfrm>
          <a:prstGeom prst="rect">
            <a:avLst>
              <a:gd name="adj" fmla="val 5455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65960" y="1005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383280" y="1143000"/>
            <a:ext cx="457200" cy="22860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86200" y="1005840"/>
            <a:ext cx="1371600" cy="502920"/>
          </a:xfrm>
          <a:prstGeom prst="rect">
            <a:avLst>
              <a:gd name="adj" fmla="val 5455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86200" y="1005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1143000"/>
            <a:ext cx="457200" cy="22860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06440" y="1005840"/>
            <a:ext cx="1371600" cy="502920"/>
          </a:xfrm>
          <a:prstGeom prst="rect">
            <a:avLst>
              <a:gd name="adj" fmla="val 5455"/>
            </a:avLst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6440" y="1005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82512" y="1554480"/>
            <a:ext cx="228600" cy="320040"/>
          </a:xfrm>
          <a:prstGeom prst="down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42032" y="1874520"/>
            <a:ext cx="4059936" cy="36576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13" name="Shape 11"/>
          <p:cNvSpPr/>
          <p:nvPr/>
        </p:nvSpPr>
        <p:spPr>
          <a:xfrm>
            <a:off x="2542032" y="1600200"/>
            <a:ext cx="228600" cy="320040"/>
          </a:xfrm>
          <a:prstGeom prst="up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212848"/>
            <a:ext cx="109728" cy="109728"/>
          </a:xfrm>
          <a:prstGeom prst="oval">
            <a:avLst/>
          </a:prstGeom>
          <a:solidFill>
            <a:srgbClr val="F85149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2103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AI生成快，错误也快，贪多更慢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2624328"/>
            <a:ext cx="109728" cy="109728"/>
          </a:xfrm>
          <a:prstGeom prst="oval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25146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每完成模块就验证，不让错误堆积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3035808"/>
            <a:ext cx="109728" cy="109728"/>
          </a:xfrm>
          <a:prstGeom prst="oval">
            <a:avLst/>
          </a:prstGeom>
          <a:solidFill>
            <a:srgbClr val="E3B341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29260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遇到问题再磨刀，不提前过度设计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3520440"/>
            <a:ext cx="7863840" cy="640080"/>
          </a:xfrm>
          <a:prstGeom prst="rect">
            <a:avLst>
              <a:gd name="adj" fmla="val 4286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5204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教训：</a:t>
            </a:r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aip-portal早期一次做大模块导致批量返工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技巧二：先建立认知，再让AI干活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7863840" cy="685800"/>
          </a:xfrm>
          <a:prstGeom prst="rect">
            <a:avLst>
              <a:gd name="adj" fmla="val 6667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你的认知边界 = AI效率上限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749040" cy="2103120"/>
          </a:xfrm>
          <a:prstGeom prst="rect">
            <a:avLst>
              <a:gd name="adj" fmla="val 1739"/>
            </a:avLst>
          </a:prstGeom>
          <a:solidFill>
            <a:srgbClr val="2D1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20240"/>
            <a:ext cx="3749040" cy="4572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✘ </a:t>
            </a:r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不了解领域直接干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 项目
</a:t>
            </a: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天 → </a:t>
            </a:r>
            <a:pPr indent="0" marL="0">
              <a:buNone/>
            </a:pPr>
            <a:r>
              <a:rPr lang="en-US" sz="15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141,026 行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全部废弃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17720" y="1920240"/>
            <a:ext cx="3749040" cy="2103120"/>
          </a:xfrm>
          <a:prstGeom prst="rect">
            <a:avLst>
              <a:gd name="adj" fmla="val 1739"/>
            </a:avLst>
          </a:prstGeom>
          <a:solidFill>
            <a:srgbClr val="0A2E14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920240"/>
            <a:ext cx="374904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057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</a:t>
            </a:r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先调研2小时再编码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00600" y="26060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SDK 项目
</a:t>
            </a: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天 → </a:t>
            </a:r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1,786 行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全部可用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7863840" cy="411480"/>
          </a:xfrm>
          <a:prstGeom prst="rect">
            <a:avLst>
              <a:gd name="adj" fmla="val 6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新领域先让AI帮你调研梳理认知，再编码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技巧三：协作模式选择矩阵</a:t>
            </a:r>
            <a:endParaRPr lang="en-US" sz="24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78638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29260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场景类型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推荐模式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明确小任务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81F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直接对话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给清楚需求，AI直接做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复杂功能开发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81F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Plan模式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先让AI规划，确认后执行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多任务并行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81F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Worktree+Agent Team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隔离开发，互不干扰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新领域探索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81F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调研先行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先让AI帮你建认知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代码评审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81F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只读模式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AI读代码，人做决策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02920" y="1527048"/>
            <a:ext cx="164592" cy="164592"/>
          </a:xfrm>
          <a:prstGeom prst="oval">
            <a:avLst/>
          </a:prstGeom>
          <a:solidFill>
            <a:srgbClr val="3FB950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2029968"/>
            <a:ext cx="164592" cy="164592"/>
          </a:xfrm>
          <a:prstGeom prst="oval">
            <a:avLst/>
          </a:prstGeom>
          <a:solidFill>
            <a:srgbClr val="2F81F7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532888"/>
            <a:ext cx="164592" cy="164592"/>
          </a:xfrm>
          <a:prstGeom prst="oval">
            <a:avLst/>
          </a:prstGeom>
          <a:solidFill>
            <a:srgbClr val="E3B341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3035808"/>
            <a:ext cx="164592" cy="164592"/>
          </a:xfrm>
          <a:prstGeom prst="oval">
            <a:avLst/>
          </a:prstGeom>
          <a:solidFill>
            <a:srgbClr val="3FB950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3538728"/>
            <a:ext cx="164592" cy="164592"/>
          </a:xfrm>
          <a:prstGeom prst="oval">
            <a:avLst/>
          </a:prstGeom>
          <a:solidFill>
            <a:srgbClr val="2F81F7"/>
          </a:solidFill>
          <a:ln/>
        </p:spPr>
      </p:sp>
      <p:sp>
        <p:nvSpPr>
          <p:cNvPr id="9" name="Shape 6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技巧二：先建立认知，再让AI干活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731520"/>
          </a:xfrm>
          <a:prstGeom prst="rect">
            <a:avLst>
              <a:gd name="adj" fmla="val 6250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你的认知边界 = AI效率上限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794760" cy="2011680"/>
          </a:xfrm>
          <a:prstGeom prst="rect">
            <a:avLst>
              <a:gd name="adj" fmla="val 1364"/>
            </a:avLst>
          </a:prstGeom>
          <a:solidFill>
            <a:srgbClr val="2D1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48840"/>
            <a:ext cx="3794760" cy="4572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✘ </a:t>
            </a:r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不了解领域直接干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 项目
</a:t>
            </a: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天 → </a:t>
            </a:r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141,026 行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全部废弃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2148840"/>
            <a:ext cx="3794760" cy="2011680"/>
          </a:xfrm>
          <a:prstGeom prst="rect">
            <a:avLst>
              <a:gd name="adj" fmla="val 1364"/>
            </a:avLst>
          </a:prstGeom>
          <a:solidFill>
            <a:srgbClr val="0A2E14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2148840"/>
            <a:ext cx="379476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22860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</a:t>
            </a:r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先调研2小时再编码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278892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SDK 项目
</a:t>
            </a: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天 → </a:t>
            </a:r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1,786 行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全部可用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7863840" cy="411480"/>
          </a:xfrm>
          <a:prstGeom prst="rect">
            <a:avLst>
              <a:gd name="adj" fmla="val 6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3434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新领域先让AI帮你调研梳理认知，再编码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技巧三：协作模式选择矩阵</a:t>
            </a:r>
            <a:endParaRPr lang="en-US" sz="24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29260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场景类型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推荐模式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明确小任务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81F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直接对话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需求清晰、范围小，直接描述让AI实现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复杂功能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81F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Plan模式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先让AI出方案再逐步实现，防止方向偏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多任务并行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81F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Worktree + Agent团队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多个worktree隔离，Agent并行推进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新领域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81F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调研先行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先让AI调研梳理认知，再编码实现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代码评审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81F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只读模式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AI不修改代码，只输出评审意见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02920" y="1572768"/>
            <a:ext cx="164592" cy="164592"/>
          </a:xfrm>
          <a:prstGeom prst="oval">
            <a:avLst/>
          </a:prstGeom>
          <a:solidFill>
            <a:srgbClr val="3FB950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2075688"/>
            <a:ext cx="164592" cy="164592"/>
          </a:xfrm>
          <a:prstGeom prst="oval">
            <a:avLst/>
          </a:prstGeom>
          <a:solidFill>
            <a:srgbClr val="2F81F7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578608"/>
            <a:ext cx="164592" cy="164592"/>
          </a:xfrm>
          <a:prstGeom prst="oval">
            <a:avLst/>
          </a:prstGeom>
          <a:solidFill>
            <a:srgbClr val="E3B341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3081528"/>
            <a:ext cx="164592" cy="164592"/>
          </a:xfrm>
          <a:prstGeom prst="oval">
            <a:avLst/>
          </a:prstGeom>
          <a:solidFill>
            <a:srgbClr val="3FB950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3584448"/>
            <a:ext cx="164592" cy="164592"/>
          </a:xfrm>
          <a:prstGeom prst="oval">
            <a:avLst/>
          </a:prstGeom>
          <a:solidFill>
            <a:srgbClr val="2F81F7"/>
          </a:solidFill>
          <a:ln/>
        </p:spPr>
      </p:sp>
      <p:sp>
        <p:nvSpPr>
          <p:cNvPr id="9" name="Shape 6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立即可用：新手入门三步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2560320" cy="3474720"/>
          </a:xfrm>
          <a:prstGeom prst="rect">
            <a:avLst>
              <a:gd name="adj" fmla="val 107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05840"/>
            <a:ext cx="2560320" cy="45720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1188720"/>
            <a:ext cx="365760" cy="365760"/>
          </a:xfrm>
          <a:prstGeom prst="oval">
            <a:avLst/>
          </a:prstGeom>
          <a:solidFill>
            <a:srgbClr val="2F81F7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164592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从一个小模块开始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148840"/>
            <a:ext cx="23408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不要一上来就让AI改整个项目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选一个简单、边界清晰的模块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比如：一个CRUD接口、一个工具类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005840"/>
            <a:ext cx="2560320" cy="3474720"/>
          </a:xfrm>
          <a:prstGeom prst="rect">
            <a:avLst>
              <a:gd name="adj" fmla="val 107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005840"/>
            <a:ext cx="256032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1188720"/>
            <a:ext cx="365760" cy="365760"/>
          </a:xfrm>
          <a:prstGeom prst="oval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93008" y="164592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写好第一个 CLAUDE.md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93008" y="2148840"/>
            <a:ext cx="2340864" cy="2194560"/>
          </a:xfrm>
          <a:prstGeom prst="rect">
            <a:avLst>
              <a:gd name="adj" fmla="val 833"/>
            </a:avLst>
          </a:prstGeom>
          <a:solidFill>
            <a:srgbClr val="0D1117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7872" y="2240280"/>
            <a:ext cx="22311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CLAUDE.md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F8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技术栈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Java17 + SpringBoot2.7
+ MyBatisPlus + PostgreSQL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F8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约定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分页: TypedSearchParam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PageResult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API返回: Result&lt;T&gt;包装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560320" cy="3474720"/>
          </a:xfrm>
          <a:prstGeom prst="rect">
            <a:avLst>
              <a:gd name="adj" fmla="val 107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005840"/>
            <a:ext cx="2560320" cy="4572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8" name="Shape 16"/>
          <p:cNvSpPr/>
          <p:nvPr/>
        </p:nvSpPr>
        <p:spPr>
          <a:xfrm>
            <a:off x="7223760" y="1188720"/>
            <a:ext cx="365760" cy="365760"/>
          </a:xfrm>
          <a:prstGeom prst="oval">
            <a:avLst/>
          </a:prstGeom>
          <a:solidFill>
            <a:srgbClr val="E3B341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36208" y="164592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养成 设计→AI实现→验证 的习惯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6208" y="2148840"/>
            <a:ext cx="23408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先想清楚要什么，再让AI干活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AI输出后必须验证，不要盲信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形成闭环：设计→实现→验证→调整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进阶：搭建项目级 Harness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1143000"/>
          </a:xfrm>
          <a:prstGeom prst="rect">
            <a:avLst>
              <a:gd name="adj" fmla="val 24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05840"/>
            <a:ext cx="54864" cy="1143000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17320"/>
            <a:ext cx="320040" cy="320040"/>
          </a:xfrm>
          <a:prstGeom prst="oval">
            <a:avLst/>
          </a:prstGeom>
          <a:solidFill>
            <a:srgbClr val="2F81F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1155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搭建 Harness 分层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508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CLAUDE.md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20-30行核心导航</a:t>
            </a:r>
            <a:pPr indent="0" marL="0">
              <a:buNone/>
            </a:pPr>
            <a:r>
              <a:rPr lang="en-US" sz="1200" dirty="0">
                <a:solidFill>
                  <a:srgbClr val="303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|  </a:t>
            </a:r>
            <a:pPr indent="0" marL="0">
              <a:buNone/>
            </a:pPr>
            <a:r>
              <a:rPr lang="en-US" sz="13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rules/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架构约束</a:t>
            </a:r>
            <a:pPr indent="0" marL="0">
              <a:buNone/>
            </a:pPr>
            <a:r>
              <a:rPr lang="en-US" sz="1200" dirty="0">
                <a:solidFill>
                  <a:srgbClr val="303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|  </a:t>
            </a:r>
            <a:pPr indent="0" marL="0">
              <a:buNone/>
            </a:pPr>
            <a:r>
              <a:rPr lang="en-US" sz="13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docs/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详细规范按需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7863840" cy="1143000"/>
          </a:xfrm>
          <a:prstGeom prst="rect">
            <a:avLst>
              <a:gd name="adj" fmla="val 24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331720"/>
            <a:ext cx="54864" cy="11430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2743200"/>
            <a:ext cx="320040" cy="320040"/>
          </a:xfrm>
          <a:prstGeom prst="oval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4414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尝试 Worktree 并行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8346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2-4 个 worktree 同时推进不同功能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在各自分支独立工作，互不干扰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7863840" cy="1143000"/>
          </a:xfrm>
          <a:prstGeom prst="rect">
            <a:avLst>
              <a:gd name="adj" fmla="val 24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657600"/>
            <a:ext cx="54864" cy="114300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4069080"/>
            <a:ext cx="320040" cy="320040"/>
          </a:xfrm>
          <a:prstGeom prst="oval">
            <a:avLst/>
          </a:prstGeom>
          <a:solidFill>
            <a:srgbClr val="E3B341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069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7673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建立复盘习惯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1605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踩坑 → 补规范 → 定期精简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每次出问题后补一条 rule，每月清理冗余规则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给观望者：从一个最小场景开始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2560320" cy="2560320"/>
          </a:xfrm>
          <a:prstGeom prst="rect">
            <a:avLst>
              <a:gd name="adj" fmla="val 1071"/>
            </a:avLst>
          </a:prstGeom>
          <a:solidFill>
            <a:srgbClr val="0A2E14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05840"/>
            <a:ext cx="256032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18872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FB95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🧪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49808" y="16916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让AI写单元测试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240280"/>
            <a:ext cx="234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最低风险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AI只生成测试代码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不影响业务逻辑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005840"/>
            <a:ext cx="2560320" cy="2560320"/>
          </a:xfrm>
          <a:prstGeom prst="rect">
            <a:avLst>
              <a:gd name="adj" fmla="val 1071"/>
            </a:avLst>
          </a:prstGeom>
          <a:solidFill>
            <a:srgbClr val="0A2E14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005840"/>
            <a:ext cx="256032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3493008" y="118872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FB95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93008" y="16916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让AI做代码评审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93008" y="2240280"/>
            <a:ext cx="234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只读模式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风险为零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还能学到新视角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560320" cy="2560320"/>
          </a:xfrm>
          <a:prstGeom prst="rect">
            <a:avLst>
              <a:gd name="adj" fmla="val 1071"/>
            </a:avLst>
          </a:prstGeom>
          <a:solidFill>
            <a:srgbClr val="0A2E14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005840"/>
            <a:ext cx="256032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118872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FB95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36208" y="16916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让AI写CRUD接口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36208" y="2240280"/>
            <a:ext cx="234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快速体验效率提升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最常见的需求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模板化程度高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7863840" cy="457200"/>
          </a:xfrm>
          <a:prstGeom prst="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94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感受到效率提升后，自然扩大使用范围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822960"/>
          </a:xfrm>
          <a:prstGeom prst="rect">
            <a:avLst>
              <a:gd name="adj" fmla="val 3333"/>
            </a:avLst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05840"/>
            <a:ext cx="54864" cy="822960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234440"/>
            <a:ext cx="365760" cy="365760"/>
          </a:xfrm>
          <a:prstGeom prst="oval">
            <a:avLst/>
          </a:prstGeom>
          <a:solidFill>
            <a:srgbClr val="2F81F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0058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效率确定性不确定的是人的引导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7863840" cy="822960"/>
          </a:xfrm>
          <a:prstGeom prst="rect">
            <a:avLst>
              <a:gd name="adj" fmla="val 3333"/>
            </a:avLst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965960"/>
            <a:ext cx="54864" cy="822960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2194560"/>
            <a:ext cx="365760" cy="365760"/>
          </a:xfrm>
          <a:prstGeom prst="oval">
            <a:avLst/>
          </a:prstGeom>
          <a:solidFill>
            <a:srgbClr val="2F81F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19659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把最擅长的事交给AI，释放时间做更有价值的事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7863840" cy="822960"/>
          </a:xfrm>
          <a:prstGeom prst="rect">
            <a:avLst>
              <a:gd name="adj" fmla="val 3333"/>
            </a:avLst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54864" cy="822960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3154680"/>
            <a:ext cx="365760" cy="365760"/>
          </a:xfrm>
          <a:prstGeom prst="oval">
            <a:avLst/>
          </a:prstGeom>
          <a:solidFill>
            <a:srgbClr val="2F81F7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29260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SDD + Harness 系统化驾驭 AI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3886200"/>
            <a:ext cx="7863840" cy="822960"/>
          </a:xfrm>
          <a:prstGeom prst="rect">
            <a:avLst>
              <a:gd name="adj" fmla="val 3333"/>
            </a:avLst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886200"/>
            <a:ext cx="54864" cy="822960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114800"/>
            <a:ext cx="365760" cy="365760"/>
          </a:xfrm>
          <a:prstGeom prst="oval">
            <a:avLst/>
          </a:prstGeom>
          <a:solidFill>
            <a:srgbClr val="2F81F7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38862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从码农变成系统架构师——你画图纸，AI盖楼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6459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29260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2788920"/>
            <a:ext cx="2743200" cy="36576"/>
          </a:xfrm>
          <a:prstGeom prst="rect">
            <a:avLst/>
          </a:prstGeom>
          <a:solidFill>
            <a:srgbClr val="2F81F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开发中的 AI 协作编程实践</dc:title>
  <dc:subject>PptxGenJS Presentation</dc:subject>
  <dc:creator>eric</dc:creator>
  <cp:lastModifiedBy>eric</cp:lastModifiedBy>
  <cp:revision>1</cp:revision>
  <dcterms:created xsi:type="dcterms:W3CDTF">2026-04-15T07:38:17Z</dcterms:created>
  <dcterms:modified xsi:type="dcterms:W3CDTF">2026-04-15T07:38:17Z</dcterms:modified>
</cp:coreProperties>
</file>