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1003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F81F7"/>
                </a:solidFill>
              </a:rPr>
              <a:t>Java 开发中的 AI 协作编程实践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3060000"/>
            <a:ext cx="1003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B949E"/>
                </a:solidFill>
              </a:rPr>
              <a:t>从真实项目说起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5040000"/>
            <a:ext cx="1003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演讲人 / 2026年4月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3200" y="631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内部交流分享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关于这次分享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26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🏗  三个真实 Java 项目的 AI 协作编程经历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2052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🎢  有成功的喜悦，也有翻车的教训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844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🎯  目标：听完之后，你能带走一些可以马上用的东西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5958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3B341"/>
                </a:solidFill>
              </a:rPr>
              <a:t>预计 90 分钟 | 鼓励随时提问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F81F7"/>
                </a:solidFill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252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从真实项目说起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6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两个案例，两种结局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案例一：aip-server 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07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81F7"/>
                </a:solidFill>
              </a:rPr>
              <a:t>aip-server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36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</a:rPr>
              <a:t>AI 智能平台后端服务</a:t>
            </a:r>
          </a:p>
          <a:p>
            <a:pPr algn="l"/>
            <a:r>
              <a:rPr sz="1400" b="0">
                <a:solidFill>
                  <a:srgbClr val="E6EDF3"/>
                </a:solidFill>
              </a:rPr>
              <a:t>企业级智能体管理、知识库、数据分析平台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0" y="1007999"/>
            <a:ext cx="6145200" cy="115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0" y="1007999"/>
            <a:ext cx="6145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8000" y="1151999"/>
            <a:ext cx="59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</a:rPr>
              <a:t>100 个 Controller | 11 个业务模块 | 2394 次提交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0" y="2340000"/>
            <a:ext cx="6145200" cy="115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0" y="2340000"/>
            <a:ext cx="6145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08000" y="2484000"/>
            <a:ext cx="59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</a:rPr>
              <a:t>技术栈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8000" y="2772000"/>
            <a:ext cx="5929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Spring Boot 2.7.18 + MyBatis Plus 3.4.2</a:t>
            </a:r>
          </a:p>
          <a:p>
            <a:pPr algn="l"/>
            <a:r>
              <a:rPr sz="1100" b="0">
                <a:solidFill>
                  <a:srgbClr val="8B949E"/>
                </a:solidFill>
              </a:rPr>
              <a:t>+ PostgreSQL + Java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0" y="3671999"/>
            <a:ext cx="6145200" cy="115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0" y="3671999"/>
            <a:ext cx="6145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8000" y="3815999"/>
            <a:ext cx="59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</a:rPr>
              <a:t>多数据源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8000" y="4103999"/>
            <a:ext cx="5929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PostgreSQL + Neo4j + Dremio</a:t>
            </a:r>
          </a:p>
          <a:p>
            <a:pPr algn="l"/>
            <a:r>
              <a:rPr sz="1100" b="0">
                <a:solidFill>
                  <a:srgbClr val="8B949E"/>
                </a:solidFill>
              </a:rPr>
              <a:t>Feign 微服务调用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聚焦技能工具模块（logic/tool）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864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5 个 Controller，约 80 个 API 端点，8 个核心实体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620000"/>
            <a:ext cx="1980000" cy="18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8000" y="1620000"/>
            <a:ext cx="198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1764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代码库管理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2052000"/>
            <a:ext cx="1764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LtCodeRepo</a:t>
            </a:r>
          </a:p>
          <a:p>
            <a:pPr algn="l"/>
            <a:r>
              <a:rPr sz="900" b="0">
                <a:solidFill>
                  <a:srgbClr val="8B949E"/>
                </a:solidFill>
              </a:rP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4000" y="1620000"/>
            <a:ext cx="1980000" cy="18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44000" y="1620000"/>
            <a:ext cx="198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2000" y="1764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MCP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000" y="2052000"/>
            <a:ext cx="1764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LtMcp</a:t>
            </a:r>
          </a:p>
          <a:p>
            <a:pPr algn="l"/>
            <a:r>
              <a:rPr sz="900" b="0">
                <a:solidFill>
                  <a:srgbClr val="8B949E"/>
                </a:solidFill>
              </a:rPr>
              <a:t>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620000"/>
            <a:ext cx="1980000" cy="18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0000" y="1620000"/>
            <a:ext cx="198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00" y="1764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扩展插件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00" y="2052000"/>
            <a:ext cx="1764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LtExtensionPlugin</a:t>
            </a:r>
          </a:p>
          <a:p>
            <a:pPr algn="l"/>
            <a:r>
              <a:rPr sz="900" b="0">
                <a:solidFill>
                  <a:srgbClr val="8B949E"/>
                </a:solidFill>
              </a:rPr>
              <a:t>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6000" y="1620000"/>
            <a:ext cx="1980000" cy="18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6000" y="1620000"/>
            <a:ext cx="198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4000" y="1764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OpenAPI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4000" y="2052000"/>
            <a:ext cx="1764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LtOpenapi</a:t>
            </a:r>
          </a:p>
          <a:p>
            <a:pPr algn="l"/>
            <a:r>
              <a:rPr sz="900" b="0">
                <a:solidFill>
                  <a:srgbClr val="8B949E"/>
                </a:solidFill>
              </a:rPr>
              <a:t>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2000" y="1620000"/>
            <a:ext cx="1980000" cy="18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32000" y="1620000"/>
            <a:ext cx="198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0000" y="1764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0000" y="2052000"/>
            <a:ext cx="1764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LtTaskflow</a:t>
            </a:r>
          </a:p>
          <a:p>
            <a:pPr algn="l"/>
            <a:r>
              <a:rPr sz="900" b="0">
                <a:solidFill>
                  <a:srgbClr val="8B949E"/>
                </a:solidFill>
              </a:rPr>
              <a:t>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协作模式 — 人与 AI 的分工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2160000" cy="79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</a:rPr>
              <a:t>🧑 人设计原型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36000" y="1511999"/>
            <a:ext cx="324000" cy="251999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32000" y="1260000"/>
            <a:ext cx="2160000" cy="79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</a:rPr>
              <a:t>🧑 人设计表结构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328000" y="1511999"/>
            <a:ext cx="324000" cy="251999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24000" y="1260000"/>
            <a:ext cx="2160000" cy="792000"/>
          </a:xfrm>
          <a:prstGeom prst="roundRect">
            <a:avLst/>
          </a:prstGeom>
          <a:solidFill>
            <a:srgbClr val="0A2E14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</a:rPr>
              <a:t>🤖 AI 编码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20000" y="1511999"/>
            <a:ext cx="324000" cy="251999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16000" y="1260000"/>
            <a:ext cx="2160000" cy="79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</a:rPr>
              <a:t>🧑 人评审 &amp; 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2124000"/>
            <a:ext cx="19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AI参与讨论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3060000"/>
            <a:ext cx="945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✅ 人负责“定方向”（设计、评审、验收）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8000" y="3492000"/>
            <a:ext cx="945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✅ AI 负责“跑量”（编码实现）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8000" y="3924000"/>
            <a:ext cx="945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✅ 及时评审，小步验证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关键成果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07999"/>
            <a:ext cx="504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08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81F7"/>
                </a:solidFill>
              </a:rPr>
              <a:t>5天 完成 ~80个 API 端点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12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29次提交，3月4-11日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48000" y="1007999"/>
            <a:ext cx="504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8000" y="108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81F7"/>
                </a:solidFill>
              </a:rPr>
              <a:t>效率提升 2-4倍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8000" y="1512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对比传统开发估计值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16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13次 fix 提交（卢45%） — AI代码有小错漏，但人在评审中及时捕获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808000"/>
            <a:ext cx="1017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B950"/>
                </a:solidFill>
              </a:rPr>
              <a:t>✅ 16 个数据库迁移版本，表结构清晰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3240000"/>
            <a:ext cx="1017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B950"/>
                </a:solidFill>
              </a:rPr>
              <a:t>✅ 8 个核心实体，边界明确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672000"/>
            <a:ext cx="1017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B950"/>
                </a:solidFill>
              </a:rPr>
              <a:t>✅ 评审后更新 CLAUDE.md，持续改进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440000"/>
            <a:ext cx="1003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F81F7"/>
                </a:solidFill>
              </a:rPr>
              <a:t>设计到位 + 边界清晰 = AI 效率拉满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2880000"/>
            <a:ext cx="93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FB950"/>
                </a:solidFill>
              </a:rPr>
              <a:t>✅ 表结构设计清晰 → AI 有明确边界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3456000"/>
            <a:ext cx="93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FB950"/>
                </a:solidFill>
              </a:rPr>
              <a:t>✅ 及时评审，小步验证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4032000"/>
            <a:ext cx="93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FB950"/>
                </a:solidFill>
              </a:rPr>
              <a:t>✅ 人把控方向，AI 堆砌工作量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案例二：A2A 适配器（一场代价惨痛的返工）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</a:rPr>
              <a:t>背景信息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440000"/>
            <a:ext cx="52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• 需求：开发 A2A（Agent-to-Agent）协议适配器</a:t>
            </a:r>
          </a:p>
          <a:p>
            <a:pPr algn="l"/>
            <a:r>
              <a:rPr sz="1300" b="0">
                <a:solidFill>
                  <a:srgbClr val="E6EDF3"/>
                </a:solidFill>
              </a:rPr>
              <a:t>• 所在项目：aip-gateway 的 a2a-wrapper 插件</a:t>
            </a:r>
          </a:p>
          <a:p>
            <a:pPr algn="l"/>
            <a:r>
              <a:rPr sz="1300" b="0">
                <a:solidFill>
                  <a:srgbClr val="E6EDF3"/>
                </a:solidFill>
              </a:rPr>
              <a:t>• 背景：相对陌生的领域，没有深入调研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0000" y="1080000"/>
            <a:ext cx="5425200" cy="25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0" y="1080000"/>
            <a:ext cx="54252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8000" y="1224000"/>
            <a:ext cx="520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</a:rPr>
              <a:t>⚠️ 关键问题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8000" y="1512000"/>
            <a:ext cx="5209200" cy="2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协作方式：让 AI 根据协议文档直接编码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自己对 A2A 不了解，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无法判断 AI 输出是否正确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发生了什么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</a:rPr>
              <a:t>🟢 第1天：让 AI 根据 A2A 协议文档直接编码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72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5149"/>
                </a:solidFill>
              </a:rPr>
              <a:t>🔴 第1-2周：AI “高效”产出大量代码（46次提交，16天）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3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5149"/>
                </a:solidFill>
              </a:rPr>
              <a:t>🔴 关键问题：无法判断 AI 输出是否符合协议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024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5149"/>
                </a:solidFill>
              </a:rPr>
              <a:t>🔴 深入调研：发现有官方 Java SDK（a2aproject/a2a-java）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67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</a:rPr>
              <a:t>🟢 推倒重来：用 SDK 3天搞定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1440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85149"/>
                </a:solidFill>
              </a:rPr>
              <a:t>141,026行 → 1,786行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0" y="234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85149"/>
                </a:solidFill>
              </a:rPr>
              <a:t>代码量缩减 98.7%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翻车现场（一）— AI 造了个轮子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0400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504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</a:rPr>
              <a:t>❌ 自研方案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48240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从零开始编码，全程自信输出</a:t>
            </a:r>
          </a:p>
          <a:p>
            <a:pPr algn="l"/>
            <a:r>
              <a:rPr sz="1200" b="0">
                <a:solidFill>
                  <a:srgbClr val="8B949E"/>
                </a:solidFill>
              </a:rPr>
              <a:t>16天，46次提交，141,026行代码</a:t>
            </a:r>
          </a:p>
          <a:p>
            <a:pPr algn="l"/>
            <a:r>
              <a:rPr sz="1200" b="0">
                <a:solidFill>
                  <a:srgbClr val="8B949E"/>
                </a:solidFill>
              </a:rPr>
              <a:t>看似完整，实则走弯路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1080000"/>
            <a:ext cx="56052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0000" y="1080000"/>
            <a:ext cx="56052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000" y="122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✅ 官方 SDK 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512000"/>
            <a:ext cx="53892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发现 a2aproject/a2a-java</a:t>
            </a:r>
          </a:p>
          <a:p>
            <a:pPr algn="l"/>
            <a:r>
              <a:rPr sz="1200" b="0">
                <a:solidFill>
                  <a:srgbClr val="8B949E"/>
                </a:solidFill>
              </a:rPr>
              <a:t>3天完成，仅 1,786行</a:t>
            </a:r>
          </a:p>
          <a:p>
            <a:pPr algn="l"/>
            <a:r>
              <a:rPr sz="1200" b="0">
                <a:solidFill>
                  <a:srgbClr val="8B949E"/>
                </a:solidFill>
              </a:rPr>
              <a:t>稳定性、兼容性有保障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" y="3420000"/>
            <a:ext cx="10897200" cy="720000"/>
          </a:xfrm>
          <a:prstGeom prst="rect">
            <a:avLst/>
          </a:prstGeom>
          <a:solidFill>
            <a:srgbClr val="2D1A0A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00" y="3491999"/>
            <a:ext cx="1053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3B341"/>
                </a:solidFill>
              </a:rPr>
              <a:t>⚠️ AI 不会主动告诉你“有更好的方案”，方向是你定的，AI 不负责纠偏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翻车现场（二）— 三个小案例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3420000" cy="28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152000"/>
            <a:ext cx="342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SQL 版本号错误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84000"/>
            <a:ext cx="3204000" cy="23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生成了V2.2.14而非V2.2.13</a:t>
            </a:r>
          </a:p>
          <a:p>
            <a:pPr algn="l"/>
            <a:r>
              <a:rPr sz="1100" b="0">
                <a:solidFill>
                  <a:srgbClr val="E6EDF3"/>
                </a:solidFill>
              </a:rPr>
              <a:t>没有先查现有版本文件</a:t>
            </a:r>
          </a:p>
          <a:p>
            <a:pPr algn="l"/>
            <a:r>
              <a:rPr sz="1100" b="0">
                <a:solidFill>
                  <a:srgbClr val="E6EDF3"/>
                </a:solidFill>
              </a:rPr>
              <a:t>数据库迁移执行失败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8000" y="1152000"/>
            <a:ext cx="3420000" cy="28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48000" y="1152000"/>
            <a:ext cx="342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修改已冻结脚本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6000" y="1584000"/>
            <a:ext cx="3204000" cy="23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修改了已冻结的V2.2.13__init.sql</a:t>
            </a:r>
          </a:p>
          <a:p>
            <a:pPr algn="l"/>
            <a:r>
              <a:rPr sz="1100" b="0">
                <a:solidFill>
                  <a:srgbClr val="E6EDF3"/>
                </a:solidFill>
              </a:rPr>
              <a:t>已部署环境文件摘要不一致</a:t>
            </a:r>
          </a:p>
          <a:p>
            <a:pPr algn="l"/>
            <a:r>
              <a:rPr sz="1100" b="0">
                <a:solidFill>
                  <a:srgbClr val="E6EDF3"/>
                </a:solidFill>
              </a:rPr>
              <a:t>复盘：Flyway已冻结脚本严禁修改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000" y="1152000"/>
            <a:ext cx="3420000" cy="28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8000" y="1152000"/>
            <a:ext cx="342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权限过滤偏差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6000" y="1584000"/>
            <a:ext cx="3204000" cy="23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</a:rPr>
              <a:t>把应交给前端的逻辑保留在后端</a:t>
            </a:r>
          </a:p>
          <a:p>
            <a:pPr algn="l"/>
            <a:r>
              <a:rPr sz="1100" b="0">
                <a:solidFill>
                  <a:srgbClr val="E6EDF3"/>
                </a:solidFill>
              </a:rPr>
              <a:t>后端多了不必要的权限检查</a:t>
            </a:r>
          </a:p>
          <a:p>
            <a:pPr algn="l"/>
            <a:r>
              <a:rPr sz="1100" b="0">
                <a:solidFill>
                  <a:srgbClr val="E6EDF3"/>
                </a:solidFill>
              </a:rPr>
              <a:t>复盘：用户级权限判断交给前端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26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5149"/>
                </a:solidFill>
              </a:rPr>
              <a:t>方向错了，效率越高代价越大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6600" y="2880000"/>
            <a:ext cx="216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B341"/>
                </a:solidFill>
              </a:rPr>
              <a:t>对领域不了解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0600" y="3060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66600" y="2880000"/>
            <a:ext cx="216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B341"/>
                </a:solidFill>
              </a:rPr>
              <a:t>没有先建立认知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80600" y="3060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6600" y="2880000"/>
            <a:ext cx="216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5149"/>
                </a:solidFill>
              </a:rPr>
              <a:t>盲目信任 AI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80600" y="3060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66600" y="2880000"/>
            <a:ext cx="216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5149"/>
                </a:solidFill>
              </a:rPr>
              <a:t>AI 高效跑偏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两个案例，两种结局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040000" cy="234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50400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</a:rPr>
              <a:t>✅ aip-server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4824000" cy="18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设计清晰 + 边界明确</a:t>
            </a:r>
          </a:p>
          <a:p>
            <a:pPr algn="l"/>
            <a:r>
              <a:rPr sz="1300" b="0">
                <a:solidFill>
                  <a:srgbClr val="E6EDF3"/>
                </a:solidFill>
              </a:rPr>
              <a:t>人定方向，AI 跑量</a:t>
            </a:r>
          </a:p>
          <a:p>
            <a:pPr algn="l"/>
            <a:r>
              <a:rPr sz="1300" b="0">
                <a:solidFill>
                  <a:srgbClr val="E6EDF3"/>
                </a:solidFill>
              </a:rPr>
              <a:t>5天，80个接口，质量可靠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1080000"/>
            <a:ext cx="5605200" cy="234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0000" y="1080000"/>
            <a:ext cx="56052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000" y="122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5149"/>
                </a:solidFill>
              </a:rPr>
              <a:t>❌ A2A 适配器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512000"/>
            <a:ext cx="5389200" cy="18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方向不明 + 盲目信任</a:t>
            </a:r>
          </a:p>
          <a:p>
            <a:pPr algn="l"/>
            <a:r>
              <a:rPr sz="1300" b="0">
                <a:solidFill>
                  <a:srgbClr val="E6EDF3"/>
                </a:solidFill>
              </a:rPr>
              <a:t>没有调研就动手</a:t>
            </a:r>
          </a:p>
          <a:p>
            <a:pPr algn="l"/>
            <a:r>
              <a:rPr sz="1300" b="0">
                <a:solidFill>
                  <a:srgbClr val="E6EDF3"/>
                </a:solidFill>
              </a:rPr>
              <a:t>16天返工，98.7%代码废弃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414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81F7"/>
                </a:solidFill>
              </a:rPr>
              <a:t>什么时候该信任 AI？如何系统地让 AI 编程越来越高效？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F81F7"/>
                </a:solidFill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252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6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从案例到洞察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从案例中看到了什么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B950"/>
                </a:solidFill>
              </a:rPr>
              <a:t>aip-server 成功：人给了清晰的设计和边界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440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5149"/>
                </a:solidFill>
              </a:rPr>
              <a:t>A2A 失败：人没有给方向，AI 高效跑偏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340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F81F7"/>
                </a:solidFill>
              </a:rPr>
              <a:t>AI 的效率是确定的，不确定的是人的引导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同一个 AI，同一个开发者，结果天壤之别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AI 的潜力与边界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0400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50400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</a:rPr>
              <a:t>✅ 潜力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48240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• 编码效率提升 2-4 倍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• 擅长重复性工作、模式化代码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• 趋势明确，只会越来越强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1080000"/>
            <a:ext cx="56052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0000" y="1080000"/>
            <a:ext cx="5605200" cy="9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000" y="122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B341"/>
                </a:solidFill>
              </a:rPr>
              <a:t>⚠️ 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512000"/>
            <a:ext cx="53892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• 不了解领域背景时容易跑偏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• 缺乏全局视角，可能“局部最优、全局灾难”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• 不会主动质疑你的设计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78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F81F7"/>
                </a:solidFill>
              </a:rPr>
              <a:t>AI 是最强执行者，但不是合格的架构师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核心洞察：把最擅长的事交给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5149"/>
                </a:solidFill>
              </a:rPr>
              <a:t>❌ 常见想法：先把不擅长的交给 AI，自己做好擅长的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44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B950"/>
                </a:solidFill>
              </a:rPr>
              <a:t>✅ 实际经验：先把最擅长的事交给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8000" y="1980000"/>
            <a:ext cx="10177200" cy="648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8000" y="1980000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6000" y="2124000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  1. 擅长 = 你能准确验收 → 质量有保障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000" y="2772000"/>
            <a:ext cx="10177200" cy="648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8000" y="2772000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6000" y="2916000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  2. 这些工作对个人无成长价值，属于纯工作量堆叠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000" y="3564000"/>
            <a:ext cx="10177200" cy="648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8000" y="3564000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000" y="3708000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  3. 释放时间 → 投入到研究、设计、架构等创造性工作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50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aip-server 案例：表结构是我擅长的 → AI 编码我能准确评审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角色转变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26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</a:rPr>
              <a:t>过去：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0000" y="1260000"/>
            <a:ext cx="252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</a:rPr>
              <a:t>设计 ✍️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54000" y="1440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0000" y="1260000"/>
            <a:ext cx="252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</a:rPr>
              <a:t>编码 💻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614000" y="1440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0000" y="1260000"/>
            <a:ext cx="252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</a:rPr>
              <a:t>测试 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000" y="136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全自己做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52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现在：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0000" y="2520000"/>
            <a:ext cx="252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81F7"/>
                </a:solidFill>
              </a:rPr>
              <a:t>设计 ✍️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54000" y="2700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40000" y="2520000"/>
            <a:ext cx="2520000" cy="648000"/>
          </a:xfrm>
          <a:prstGeom prst="roundRect">
            <a:avLst/>
          </a:prstGeom>
          <a:solidFill>
            <a:srgbClr val="0A2E14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</a:rPr>
              <a:t>AI 编码 🤖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14000" y="2700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0000" y="2520000"/>
            <a:ext cx="2520000" cy="648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81F7"/>
                </a:solidFill>
              </a:rPr>
              <a:t>评审测试 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000" y="262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B950"/>
                </a:solidFill>
              </a:rPr>
              <a:t>AI分担编码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14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F81F7"/>
                </a:solidFill>
              </a:rPr>
              <a:t>从“写代码的人”变成“设计系统的人”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⚠️ 陷阱：AI 会“PUA”你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34200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152000"/>
            <a:ext cx="342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</a:rPr>
              <a:t>永远自信满满，即使方向错误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8000" y="1152000"/>
            <a:ext cx="34200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48000" y="1152000"/>
            <a:ext cx="342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</a:rPr>
              <a:t>语气笃定、逻辑自洽，很容易被“说服”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8000" y="1152000"/>
            <a:ext cx="34200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48000" y="1152000"/>
            <a:ext cx="342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</a:rPr>
              <a:t>不会犹豫，不会说“我不确定”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2700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</a:rPr>
              <a:t>案例回扣：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3168000"/>
            <a:ext cx="1017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A2A：AI全程自信地造了一个轮子，46次提交，没有任何犹豫</a:t>
            </a:r>
          </a:p>
          <a:p>
            <a:pPr algn="l"/>
            <a:r>
              <a:rPr sz="1200" b="0">
                <a:solidFill>
                  <a:srgbClr val="8B949E"/>
                </a:solidFill>
              </a:rPr>
              <a:t>权限过滤：AI保留这些逻辑时的理由“完全合理”，但缺失了业务上下文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关键问题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6600" y="1080000"/>
            <a:ext cx="8640000" cy="54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</a:rPr>
              <a:t>把擅长的事交给 AI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52600" y="1638000"/>
            <a:ext cx="288000" cy="180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76600" y="1871999"/>
            <a:ext cx="8640000" cy="54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</a:rPr>
              <a:t>但 AI 会 PUA 你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52600" y="2429999"/>
            <a:ext cx="288000" cy="180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6600" y="2663998"/>
            <a:ext cx="8640000" cy="54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</a:rPr>
              <a:t>靠个人判断力够吗？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52600" y="3221998"/>
            <a:ext cx="288000" cy="180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76600" y="3455997"/>
            <a:ext cx="8640000" cy="54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</a:rPr>
              <a:t>单靠经验 → 不可持续、不可复制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52600" y="4013997"/>
            <a:ext cx="288000" cy="180000"/>
          </a:xfrm>
          <a:prstGeom prst="down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76600" y="4247996"/>
            <a:ext cx="8640000" cy="54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</a:rPr>
              <a:t>团队协作？项目复杂了怎么办？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86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我们需要一套系统化的方法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F81F7"/>
                </a:solidFill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252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系统化提升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6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SDD 与 Harness 实践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什么是 SDD？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10897200" cy="7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1089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81F7"/>
                </a:solidFill>
              </a:rPr>
              <a:t>SDD = Specification-Driven Development（规范驱动开发）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传统开发：规范是文档，人看文档写代码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448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AI 编程：规范是“AI 的行为边界”，直接决定输出质量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3168000"/>
            <a:ext cx="1017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5149"/>
                </a:solidFill>
              </a:rPr>
              <a:t>😵 没有规范 = 新员工自由发挥（不可控）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3671999"/>
            <a:ext cx="1017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B950"/>
                </a:solidFill>
              </a:rPr>
              <a:t>😊 有规范 = 新员工按章办事（可预期）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4175998"/>
            <a:ext cx="1017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F81F7"/>
                </a:solidFill>
              </a:rPr>
              <a:t>🤖 AI 就是那个“超级新员工”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SDD 三层体现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108972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1089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81F7"/>
                </a:solidFill>
              </a:rPr>
              <a:t>📋 项目级规范  |  CLAUDE.md、rules/ = 员工手册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10681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所有会话共享，每次自动加载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2448000"/>
            <a:ext cx="108972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" y="2448000"/>
            <a:ext cx="10897200" cy="9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000" y="2592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341"/>
                </a:solidFill>
              </a:rPr>
              <a:t>📝 任务级规范  |  Plan、PRD、Spec = 任务说明书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880000"/>
            <a:ext cx="10681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特定功能的约束，一次性使用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" y="3816000"/>
            <a:ext cx="108972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3816000"/>
            <a:ext cx="108972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3960000"/>
            <a:ext cx="1068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💬 会话级引导  |  对话中的约束和纠正 = 日常工作指导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" y="4248000"/>
            <a:ext cx="10681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实时交互中补充的临时约束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案例项目：aip-gateway 智能体消息网关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864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AMG（Agent Message Gateway）核心模块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368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Apache ShenYu 2.6.1 + Spring WebFlux + R2DBC + Redis Reactive（响应式全链路）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872000"/>
            <a:ext cx="252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944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209次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44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4000" y="1872000"/>
            <a:ext cx="252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4000" y="1944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584个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4000" y="244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Java文件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1872000"/>
            <a:ext cx="252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0" y="1944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18个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244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插件模块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6000" y="1872000"/>
            <a:ext cx="252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6000" y="1944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4个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6000" y="244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支持协议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342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81F7"/>
                </a:solidFill>
              </a:rPr>
              <a:t>AMG核心模块：59个Java文件 | 2天完成 | 设计文档从 v1 迭代到 v1.9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SDD 实践：从 PRD 到代码的完整流程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2000" y="1260000"/>
            <a:ext cx="2232000" cy="72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1F7"/>
                </a:solidFill>
              </a:rPr>
              <a:t>📝 编写PRD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2087999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人定义需求边界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00000" y="1476000"/>
            <a:ext cx="324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96000" y="1260000"/>
            <a:ext cx="2232000" cy="72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1F7"/>
                </a:solidFill>
              </a:rPr>
              <a:t>📋 转化为Spec 4796行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6000" y="2087999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AI辅助转化为技术方案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64000" y="1476000"/>
            <a:ext cx="324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000" y="1260000"/>
            <a:ext cx="2232000" cy="72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FB950"/>
                </a:solidFill>
              </a:rPr>
              <a:t>🔍 多轮审阅 v1→v1.9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0" y="2087999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人+AI多轮审阅，发现并修正问题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28000" y="1476000"/>
            <a:ext cx="324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24000" y="1260000"/>
            <a:ext cx="2232000" cy="72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FB950"/>
                </a:solidFill>
              </a:rPr>
              <a:t>🤖 Agent Team编码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4000" y="2087999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Agent Team根据Spec自动编码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42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规范先行 → 审阅到位 → 代码自动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Spec 的九轮迭代（v1.0 → v1.9）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</a:rPr>
              <a:t>v1.0-v1.2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8000" y="1080000"/>
            <a:ext cx="61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基础功能 + 消息持久化 + 能力声明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2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</a:rPr>
              <a:t>v1.3-v1.5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000" y="1620000"/>
            <a:ext cx="61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审阅修复 + 架构定位调整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16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5149"/>
                </a:solidFill>
              </a:rPr>
              <a:t>v1.6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8000" y="2160000"/>
            <a:ext cx="61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★ 重大定位调整 — AMG定位为数字员工门户消息层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70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</a:rPr>
              <a:t>v1.7-v1.8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8000" y="2700000"/>
            <a:ext cx="61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技术栈修正（Spring Boot版本、R2DBC API）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24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v1.9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8000" y="3240000"/>
            <a:ext cx="61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三轮审阅综合修复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0" y="1080000"/>
            <a:ext cx="3600000" cy="360000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000" y="1152000"/>
            <a:ext cx="3384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feat:add-design-v1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feat:add-design-v2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feat:add-design-v3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feat:add-design-v4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feat:add-design-v5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feat:add-design-v6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review: round-1-fix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review: round-2-fix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review: round-3-fix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feat:update-to-v1.9</a:t>
            </a:r>
          </a:p>
          <a:p>
            <a:pPr algn="l">
              <a:lnSpc>
                <a:spcPts val="1300"/>
              </a:lnSpc>
            </a:pPr>
            <a:r>
              <a:rPr sz="900" b="0">
                <a:solidFill>
                  <a:srgbClr val="7EE787"/>
                </a:solidFill>
                <a:latin typeface="Courier New"/>
              </a:rPr>
              <a:t>feat: 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三轮审阅，发现了什么？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8000" y="1080000"/>
          <a:ext cx="1080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320000"/>
                <a:gridCol w="4680000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审阅维度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发现的问题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修正方案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架构定位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AMG被设计成独立服务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重新定位为数字员工门户消息层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技术栈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误用 Spring Boot 3.x API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修正为 2.7.17，与现有网关一致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数据模型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三层关系表述不清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明确 de_catalog → digital_employee → ops_channel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360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F81F7"/>
                </a:solidFill>
              </a:rPr>
              <a:t>审阅不是走形式，每次审阅都在防止“AI 高效跑偏”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140000"/>
            <a:ext cx="1075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3B341"/>
                </a:solidFill>
              </a:rPr>
              <a:t>回扣 Part 2 — 这就是系统化地防止“AI PUA 你”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SDD 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324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59个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20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Java文件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8000" y="1080000"/>
            <a:ext cx="324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8000" y="1152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2天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8000" y="1620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8000" y="1080000"/>
            <a:ext cx="324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88000" y="1152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13,093行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00" y="1620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代码/71个文件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2340000"/>
            <a:ext cx="50400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8000" y="2340000"/>
            <a:ext cx="504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248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aip-server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2772000"/>
            <a:ext cx="482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靠“经验+设计到位”</a:t>
            </a:r>
          </a:p>
          <a:p>
            <a:pPr algn="l"/>
            <a:r>
              <a:rPr sz="1100" b="0">
                <a:solidFill>
                  <a:srgbClr val="8B949E"/>
                </a:solidFill>
              </a:rPr>
              <a:t>个人能力驱动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0000" y="2340000"/>
            <a:ext cx="5605200" cy="10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0000" y="2340000"/>
            <a:ext cx="56052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8000" y="248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aip-gateway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8000" y="2772000"/>
            <a:ext cx="538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靠“系统化SDD流程”</a:t>
            </a:r>
          </a:p>
          <a:p>
            <a:pPr algn="l"/>
            <a:r>
              <a:rPr sz="1100" b="0">
                <a:solidFill>
                  <a:srgbClr val="8B949E"/>
                </a:solidFill>
              </a:rPr>
              <a:t>方法论驱动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671999"/>
            <a:ext cx="1075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81F7"/>
                </a:solidFill>
              </a:rPr>
              <a:t>同样的结果，但SDD的方式可复制、可团队化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140000"/>
            <a:ext cx="1075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规范先行，代码自动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什么是 Harness Engineering？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81F7"/>
                </a:solidFill>
              </a:rPr>
              <a:t>Harness = 为 AI 搭建的“工作脚手架”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620000"/>
            <a:ext cx="5220000" cy="7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8000" y="1620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1764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📋 规范文件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2052000"/>
            <a:ext cx="50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CLAUDE.md、rules/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000" y="1620000"/>
            <a:ext cx="5220000" cy="7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000" y="1620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4000" y="1764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⚙️ 权限配置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2052000"/>
            <a:ext cx="50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settings.json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2520000"/>
            <a:ext cx="5220000" cy="7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8000" y="2520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2664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🔧 自定义技能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2952000"/>
            <a:ext cx="50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000" y="2520000"/>
            <a:ext cx="5220000" cy="7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6000" y="2520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4000" y="2664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</a:rPr>
              <a:t>🔄 工作流配置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4000" y="2952000"/>
            <a:ext cx="50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Plan、Worktree等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00" y="3600000"/>
            <a:ext cx="34200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8000" y="3600000"/>
            <a:ext cx="34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3744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81F7"/>
                </a:solidFill>
              </a:rPr>
              <a:t>🧠 上下文工程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000" y="403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给AI正确的信息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8000" y="3600000"/>
            <a:ext cx="34200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8000" y="3600000"/>
            <a:ext cx="34200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6000" y="3744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🏗 架构约束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6000" y="403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让AI在框架内工作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000" y="3600000"/>
            <a:ext cx="34200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000" y="3600000"/>
            <a:ext cx="3420000" cy="9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6000" y="3744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</a:rPr>
              <a:t>♻️ 熵管理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6000" y="4032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防止混乱累积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案例项目：aip-portal 智能体门户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864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企业级 Agent 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368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Spring Boot 2.7.18 + MyBatis Plus + PostgreSQL + Java 17 | Maven多模块 + Feign + 多数据源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872000"/>
            <a:ext cx="198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944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259次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44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8000" y="1872000"/>
            <a:ext cx="198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8000" y="1944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72天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000" y="244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活跃开发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8000" y="1872000"/>
            <a:ext cx="198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8000" y="1944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281个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8000" y="244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Java文件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8000" y="1872000"/>
            <a:ext cx="198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8000" y="1944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57个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8000" y="244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8000" y="1872000"/>
            <a:ext cx="1980000" cy="9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8000" y="1944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F81F7"/>
                </a:solidFill>
              </a:rPr>
              <a:t>4人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8000" y="2448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342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3B341"/>
                </a:solidFill>
              </a:rPr>
              <a:t>这个项目经历了 Harness 从无到有的完整演化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Rules 的演化：从混乱到精炼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2700000"/>
            <a:ext cx="1620000" cy="198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16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B341"/>
                </a:solidFill>
              </a:rPr>
              <a:t>5487行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7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2000" y="2520000"/>
            <a:ext cx="1620000" cy="21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2000" y="198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5149"/>
                </a:solidFill>
              </a:rPr>
              <a:t>~6000行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2000" y="47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Phase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4000" y="3600000"/>
            <a:ext cx="1620000" cy="108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4000" y="306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5149"/>
                </a:solidFill>
              </a:rPr>
              <a:t>发现根因
paths: **.java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4000" y="47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Phase 2.5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6000" y="3492000"/>
            <a:ext cx="1620000" cy="118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6000" y="295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3B341"/>
                </a:solidFill>
              </a:rPr>
              <a:t>~3300行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000" y="47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Phase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8000" y="4572000"/>
            <a:ext cx="1620000" cy="10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48000" y="403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FB950"/>
                </a:solidFill>
              </a:rPr>
              <a:t>272行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8000" y="47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Phase 1-2：混乱与膨胀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0400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5040000" cy="9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B341"/>
                </a:solidFill>
              </a:rPr>
              <a:t>Phase 1：5487行，20个文件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48240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• 把能想到的都塞进去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❌ Token消耗巨大，关键规则被淹没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1080000"/>
            <a:ext cx="56052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0000" y="1080000"/>
            <a:ext cx="56052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000" y="122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</a:rPr>
              <a:t>Phase 2：~6000+行，24个文件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512000"/>
            <a:ext cx="53892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• 踩坑就加规则，越加越多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❌ Token爆炸，AI经常忽略关键规则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" y="3420000"/>
            <a:ext cx="10897200" cy="720000"/>
          </a:xfrm>
          <a:prstGeom prst="rect">
            <a:avLst/>
          </a:prstGeom>
          <a:solidFill>
            <a:srgbClr val="2D1A0A"/>
          </a:solidFill>
          <a:ln w="9525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00" y="3491999"/>
            <a:ext cx="1053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5149"/>
                </a:solidFill>
              </a:rPr>
              <a:t>⚠️ 恶性循环 — 犯错 → 加规则 → 再犯错 → 再加规则……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Phase 3-4：清理与精炼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0400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5040000" cy="9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B341"/>
                </a:solidFill>
              </a:rPr>
              <a:t>Phase 3：删掉2714行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48240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• 意识到：规范不是越多越好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• rules/是token预算管理，不是wiki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• 详细文档移到docs/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1080000"/>
            <a:ext cx="5605200" cy="198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0000" y="1080000"/>
            <a:ext cx="56052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000" y="122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Phase 4：最终272行（压缩率95%）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512000"/>
            <a:ext cx="5389200" cy="14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• 只保留AI必须知道的约束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• 质量稳定，Token可控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78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2026-04-01: 精简rules → 04-09: 规范移至docs（仄9天完成重构）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Harness 最终形态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080000"/>
            <a:ext cx="5040000" cy="18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080000"/>
            <a:ext cx="504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2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</a:rPr>
              <a:t>❌ Before（Phase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12000"/>
            <a:ext cx="4824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5487行，20个文件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所有规范堆在一个目录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每次全部加载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0000" y="1080000"/>
            <a:ext cx="5605200" cy="180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0000" y="1080000"/>
            <a:ext cx="56052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000" y="122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✅ After（Phase 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512000"/>
            <a:ext cx="53892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EE787"/>
                </a:solidFill>
              </a:rPr>
              <a:t>.claude/rules/ 核心约束，自动加载</a:t>
            </a:r>
          </a:p>
          <a:p>
            <a:pPr algn="l"/>
            <a:r>
              <a:rPr sz="1000" b="0">
                <a:solidFill>
                  <a:srgbClr val="7EE787"/>
                </a:solidFill>
              </a:rPr>
              <a:t>  ARCHITECTURE.md (124行)</a:t>
            </a:r>
          </a:p>
          <a:p>
            <a:pPr algn="l"/>
            <a:r>
              <a:rPr sz="1000" b="0">
                <a:solidFill>
                  <a:srgbClr val="7EE787"/>
                </a:solidFill>
              </a:rPr>
              <a:t>  CODE-STYLE.md (14行)</a:t>
            </a:r>
          </a:p>
          <a:p>
            <a:pPr algn="l"/>
            <a:r>
              <a:rPr sz="1000" b="0">
                <a:solidFill>
                  <a:srgbClr val="7EE787"/>
                </a:solidFill>
              </a:rPr>
              <a:t>  testing.md (134行)</a:t>
            </a:r>
          </a:p>
          <a:p>
            <a:pPr algn="l"/>
            <a:r>
              <a:rPr sz="1000" b="0">
                <a:solidFill>
                  <a:srgbClr val="7EE787"/>
                </a:solidFill>
              </a:rPr>
              <a:t>docs/code-style/ 详细规范，按需引用</a:t>
            </a:r>
          </a:p>
          <a:p>
            <a:pPr algn="l"/>
            <a:r>
              <a:rPr sz="1000" b="0">
                <a:solidFill>
                  <a:srgbClr val="7EE787"/>
                </a:solidFill>
              </a:rPr>
              <a:t>  01-naming.md ... 兹8个文档，838行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600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81F7"/>
                </a:solidFill>
              </a:rPr>
              <a:t>核心约束 → 自动加载（每次会话）  |  详细规范 → 按需加载（AI自行查阅）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Rules 演化的关键经验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8000" y="1260000"/>
            <a:ext cx="101772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8000" y="1260000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00" y="1404000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  1. rules/ 是 token 预算管理，不是 wiki — 每一行都要有价值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000" y="2267999"/>
            <a:ext cx="101772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8000" y="2267999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6000" y="2411999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  2. 规范不是越多越好，而是越精炼越好 — 少即是多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000" y="3275998"/>
            <a:ext cx="101772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8000" y="3275998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6000" y="3419998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  3. 每次踩坑都是完善规范的机会 — 复盘驱动改进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500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04-01优化 → 04-01精简 → 04-02整理 → 04-09规范移docs（9天趋于稳定）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两种路径对比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8000" y="1080000"/>
          <a:ext cx="1080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500000"/>
                <a:gridCol w="4500000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维度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aip-gateway（SDD驱动）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aip-portal（Harness演化）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核心理念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规范先行，代码自动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从混乱中提炼秩序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规范建设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Day 1就建Spec（v1→v1.9）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踩坑后逐步建立（Phase 1→4）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混乱期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基本没有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经历了约2个月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rules/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集中在CLAUDE.md（237行）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分层 rules/ + docs/（272行+838行）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开发效率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AMG核心模块 2天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259次提交，72天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8000" y="432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81F7"/>
                </a:solidFill>
              </a:rPr>
              <a:t>有了方法论之后，新项目可以少走很多弯路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F81F7"/>
                </a:solidFill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252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工具链与实战技巧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600000"/>
            <a:ext cx="100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可以立即带走的东西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Claude Code — AI 编程的终端工具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5220000" cy="126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152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96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</a:rPr>
              <a:t>🖥️ 终端零距离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84000"/>
            <a:ext cx="50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直接在终端工作，与项目代码零距离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000" y="1152000"/>
            <a:ext cx="5220000" cy="126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56000" y="1152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000" y="1296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</a:rPr>
              <a:t>🔄 全流程闭环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000" y="1584000"/>
            <a:ext cx="50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支持读取、编辑、执行，全流程闭环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" y="2700000"/>
            <a:ext cx="5220000" cy="126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2700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2844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</a:rPr>
              <a:t>📋 自动加载上下文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" y="3132000"/>
            <a:ext cx="50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自动加载 CLAUDE.md 和 rules/，理解项目上下文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6000" y="2700000"/>
            <a:ext cx="5220000" cy="126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6000" y="2700000"/>
            <a:ext cx="52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4000" y="2844000"/>
            <a:ext cx="50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</a:rPr>
              <a:t>🚀 高级功能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4000" y="3132000"/>
            <a:ext cx="50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Plan模式 / Worktree并行 / Agent Team 协作等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cc-switch — Claude Code 配置切换工具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864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快速切换不同的 Claude Code 配置（模型选择、权限设置等）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68000" y="1620000"/>
            <a:ext cx="94572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68000" y="1620000"/>
            <a:ext cx="945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6000" y="1764000"/>
            <a:ext cx="924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📁 不同项目需要不同配置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68000" y="2627999"/>
            <a:ext cx="94572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68000" y="2627999"/>
            <a:ext cx="94572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6000" y="2771999"/>
            <a:ext cx="924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🧩 复杂任务用强模型，简单任务用快模型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68000" y="3635998"/>
            <a:ext cx="9457200" cy="792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68000" y="3635998"/>
            <a:ext cx="9457200" cy="9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6000" y="3779998"/>
            <a:ext cx="924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B341"/>
                </a:solidFill>
              </a:rPr>
              <a:t>👥 团队成员共享配置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技巧一：小步快跑，持续验证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0" y="1260000"/>
            <a:ext cx="2520000" cy="72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81F7"/>
                </a:solidFill>
              </a:rPr>
              <a:t>设计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374000" y="1476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0" y="1260000"/>
            <a:ext cx="2520000" cy="72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</a:rPr>
              <a:t>实现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34000" y="1476000"/>
            <a:ext cx="432000" cy="2160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20000" y="1260000"/>
            <a:ext cx="2520000" cy="720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B341"/>
                </a:solidFill>
              </a:rPr>
              <a:t>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8000" y="136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↩ 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520000"/>
            <a:ext cx="1017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• AI 生成快 → 错误积累也快 → 一次贪多反而更慢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3023999"/>
            <a:ext cx="1017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• 每完成一个模块就验证，而不是全部完成后再测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3527998"/>
            <a:ext cx="1017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</a:rPr>
              <a:t>• 遇到问题再“磨刀”，不提前过度设计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320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aip-portal 早期一次做大模块导致批量返工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技巧二：先建立认知，再让 AI 干活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F81F7"/>
                </a:solidFill>
              </a:rPr>
              <a:t>你的认知边界 = AI 效率上限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800000"/>
            <a:ext cx="5040000" cy="144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8000" y="1800000"/>
            <a:ext cx="5040000" cy="9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194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</a:rPr>
              <a:t>❌ 直接让AI干（不了解领域）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2232000"/>
            <a:ext cx="4824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A2A案例 / 16天 / 141,026行废弃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0000" y="1800000"/>
            <a:ext cx="5605200" cy="144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0000" y="1800000"/>
            <a:ext cx="56052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8000" y="1944000"/>
            <a:ext cx="538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✅ 先调研建立认知（2小时）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8000" y="2232000"/>
            <a:ext cx="5389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用SDK / 3天 / 仅1,786行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96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EDF3"/>
                </a:solidFill>
              </a:rPr>
              <a:t>新领域先让 AI 帮你调研、梳理认知框架，再进入编码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技巧三：协作模式选择矩阵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8000" y="1080000"/>
          <a:ext cx="1080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600000"/>
                <a:gridCol w="4680000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场景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推荐模式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Calibri"/>
                        </a:rPr>
                        <a:t>说明</a:t>
                      </a:r>
                    </a:p>
                  </a:txBody>
                  <a:tcPr>
                    <a:solidFill>
                      <a:srgbClr val="162436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明确的小任务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直接对话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给清楚需求，AI直接做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复杂功能开发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Plan 模式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先让AI规划，确认后执行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多任务并行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Worktree + Agent Team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隔离开发，互不干扰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新领域探索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调研先行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先让AI帮你建认知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代码评审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只读模式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AI读代码，人做决策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立即可用：新手入门三步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3420000" cy="126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152000"/>
            <a:ext cx="34200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81F7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84000"/>
            <a:ext cx="32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从一个小模块或小项目开始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8000" y="1152000"/>
            <a:ext cx="3420000" cy="126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48000" y="1152000"/>
            <a:ext cx="3420000" cy="9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3B341"/>
                </a:solidFill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6000" y="1584000"/>
            <a:ext cx="32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写好你的第一个 CLAUDE.md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000" y="1152000"/>
            <a:ext cx="3420000" cy="126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8000" y="1152000"/>
            <a:ext cx="34200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6000" y="1584000"/>
            <a:ext cx="32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养成“设计 → AI实现 → 验证”的习惯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288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CLAUDE.md 最小模板示例：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000" y="3240000"/>
            <a:ext cx="10897200" cy="90000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000" y="3312000"/>
            <a:ext cx="10681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7EE787"/>
                </a:solidFill>
                <a:latin typeface="Courier New"/>
              </a:rPr>
              <a:t>技术栈：Java 17 + Spring Boot 2.7 + PostgreSQL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7EE787"/>
                </a:solidFill>
                <a:latin typeface="Courier New"/>
              </a:rPr>
              <a:t>约定：统一分页 TypedSearchParam + PageResult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7EE787"/>
                </a:solidFill>
                <a:latin typeface="Courier New"/>
              </a:rPr>
              <a:t>API返回：Result&lt;T&gt; 包装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进阶：搭建项目级 Harness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8000" y="1080000"/>
            <a:ext cx="10177200" cy="1475997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8000" y="1080000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00" y="1224000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  1. 搭建 Harness 分层结构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512000"/>
            <a:ext cx="9961200" cy="97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CLAUDE.md（导航，20-30行）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rules/ARCHITECTURE.md（架构约束）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docs/（详细规范，按需引用）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000" y="2843997"/>
            <a:ext cx="10177200" cy="971999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8000" y="2843997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6000" y="2987997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  2. 尝试 Worktree 并行开发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3275997"/>
            <a:ext cx="9961200" cy="4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aip-portal 用了24个worktree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000" y="4103996"/>
            <a:ext cx="10177200" cy="971999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8000" y="4103996"/>
            <a:ext cx="10177200" cy="9000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000" y="4247996"/>
            <a:ext cx="9961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1F7"/>
                </a:solidFill>
              </a:rPr>
              <a:t>  3. 建立复盘习惯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4535996"/>
            <a:ext cx="9961200" cy="4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踩坑 → 补规范 → 定期精简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给观望者：从一个最小场景开始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152000"/>
            <a:ext cx="3420000" cy="16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1152000"/>
            <a:ext cx="34200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🧪 场景1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584000"/>
            <a:ext cx="3204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让 AI 写单元测试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最低风险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8000" y="1152000"/>
            <a:ext cx="3420000" cy="16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48000" y="1152000"/>
            <a:ext cx="34200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🔍 场景2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6000" y="1584000"/>
            <a:ext cx="3204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让 AI 做代码评审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只读，风险为零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000" y="1152000"/>
            <a:ext cx="3420000" cy="162000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8000" y="1152000"/>
            <a:ext cx="3420000" cy="9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6000" y="129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⚡ 场景3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6000" y="1584000"/>
            <a:ext cx="3204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让 AI 写 CRUD 接口</a:t>
            </a:r>
          </a:p>
          <a:p>
            <a:pPr algn="l"/>
            <a:r>
              <a:rPr sz="1200" b="0">
                <a:solidFill>
                  <a:srgbClr val="E6EDF3"/>
                </a:solidFill>
              </a:rPr>
              <a:t>快速体验效率提升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3600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</a:rPr>
              <a:t>感受到效率提升后，自然会扩大使用范围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88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F81F7"/>
                </a:solidFill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000" y="1260000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81F7"/>
                </a:solidFill>
              </a:rPr>
              <a:t>1. AI 效率确定，不确定的是人的引导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" y="2160000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81F7"/>
                </a:solidFill>
              </a:rPr>
              <a:t>2. 把最擅长的事交给 AI，释放时间做更有价值的事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0" y="3060000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81F7"/>
                </a:solidFill>
              </a:rPr>
              <a:t>3. 用 SDD + Harness 系统化地驾驭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3960000"/>
            <a:ext cx="1017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81F7"/>
                </a:solidFill>
              </a:rPr>
              <a:t>4. 从“写代码的人”变成“设计系统的人”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3200" y="64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P47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1003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感谢聊听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2880000"/>
            <a:ext cx="1003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F81F7"/>
                </a:solidFill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5958000"/>
            <a:ext cx="100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联系方式占位符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