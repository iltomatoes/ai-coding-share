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309" r:id="rId13"/>
    <p:sldId id="264" r:id="rId14"/>
    <p:sldId id="265" r:id="rId15"/>
    <p:sldId id="266" r:id="rId16"/>
    <p:sldId id="310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08" r:id="rId36"/>
    <p:sldId id="286" r:id="rId37"/>
    <p:sldId id="287" r:id="rId38"/>
    <p:sldId id="288" r:id="rId39"/>
    <p:sldId id="289" r:id="rId40"/>
    <p:sldId id="290" r:id="rId41"/>
    <p:sldId id="317" r:id="rId42"/>
    <p:sldId id="291" r:id="rId43"/>
    <p:sldId id="292" r:id="rId44"/>
    <p:sldId id="311" r:id="rId45"/>
    <p:sldId id="293" r:id="rId46"/>
    <p:sldId id="294" r:id="rId47"/>
    <p:sldId id="296" r:id="rId48"/>
    <p:sldId id="315" r:id="rId49"/>
    <p:sldId id="295" r:id="rId50"/>
    <p:sldId id="313" r:id="rId51"/>
    <p:sldId id="299" r:id="rId52"/>
    <p:sldId id="297" r:id="rId53"/>
    <p:sldId id="298" r:id="rId54"/>
    <p:sldId id="304" r:id="rId55"/>
    <p:sldId id="303" r:id="rId56"/>
    <p:sldId id="305" r:id="rId57"/>
    <p:sldId id="306" r:id="rId5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2.xml"/><Relationship Id="rId59" Type="http://schemas.openxmlformats.org/officeDocument/2006/relationships/presProps" Target="presProps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18" y="4767263"/>
            <a:ext cx="1600283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272" y="4767263"/>
            <a:ext cx="217181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5156" y="4767263"/>
            <a:ext cx="1600283" cy="273844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8" Type="http://schemas.openxmlformats.org/officeDocument/2006/relationships/notesSlide" Target="../notesSlides/notesSlide4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notesSlide" Target="../notesSlides/notesSlide4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开发中的 AI 协作编程实践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从真实项目说起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刘国栋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2026年4月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内部交流分享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7315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关于这次分享</a:t>
            </a:r>
            <a:endParaRPr lang="en-US" sz="36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274320" y="1325880"/>
            <a:ext cx="502920" cy="502920"/>
          </a:xfrm>
          <a:prstGeom prst="ellipse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05840" y="128016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三个真实 Java 项目的 AI 协作编程经历</a:t>
            </a:r>
            <a:endParaRPr lang="en-US" sz="1800" dirty="0"/>
          </a:p>
        </p:txBody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274320" y="2194560"/>
            <a:ext cx="502920" cy="502920"/>
          </a:xfrm>
          <a:prstGeom prst="ellipse">
            <a:avLst/>
          </a:prstGeom>
          <a:solidFill>
            <a:srgbClr val="161B22"/>
          </a:solidFill>
        </p:spPr>
      </p:sp>
      <p:sp>
        <p:nvSpPr>
          <p:cNvPr id="7" name="Text 5"/>
          <p:cNvSpPr/>
          <p:nvPr/>
        </p:nvSpPr>
        <p:spPr>
          <a:xfrm>
            <a:off x="27432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🎢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05840" y="214884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有成功的喜悦，也有翻车的教训</a:t>
            </a:r>
            <a:endParaRPr lang="en-US" sz="18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274320" y="3063240"/>
            <a:ext cx="502920" cy="502920"/>
          </a:xfrm>
          <a:prstGeom prst="ellipse">
            <a:avLst/>
          </a:prstGeom>
          <a:solidFill>
            <a:srgbClr val="161B22"/>
          </a:solidFill>
        </p:spPr>
      </p:sp>
      <p:sp>
        <p:nvSpPr>
          <p:cNvPr id="10" name="Text 8"/>
          <p:cNvSpPr/>
          <p:nvPr/>
        </p:nvSpPr>
        <p:spPr>
          <a:xfrm>
            <a:off x="274320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005840" y="301752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</a:t>
            </a:r>
            <a:r>
              <a:rPr lang="zh-CN" alt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希望</a:t>
            </a: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你能带走一些可以马上用的东西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73152" cy="320040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3" name="Text 1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4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从真实项目说起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两个案例，两种结局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案例一：aip-server 项目概览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383280" cy="292608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4" name="Text 2"/>
          <p:cNvSpPr/>
          <p:nvPr/>
        </p:nvSpPr>
        <p:spPr>
          <a:xfrm>
            <a:off x="411480" y="13716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aip-server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智能平台后端服务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企业级智能体管理、知识库、</a:t>
            </a:r>
            <a:r>
              <a:rPr lang="zh-CN" alt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4937760" cy="7772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7" name="Shape 5"/>
          <p:cNvSpPr/>
          <p:nvPr/>
        </p:nvSpPr>
        <p:spPr>
          <a:xfrm>
            <a:off x="3931920" y="1188720"/>
            <a:ext cx="54864" cy="77724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8" name="Text 6"/>
          <p:cNvSpPr/>
          <p:nvPr/>
        </p:nvSpPr>
        <p:spPr>
          <a:xfrm>
            <a:off x="4114800" y="118872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个 Controller</a:t>
            </a:r>
            <a:r>
              <a:rPr lang="en-US" sz="1400" dirty="0">
                <a:solidFill>
                  <a:srgbClr val="30363D"/>
                </a:solidFill>
              </a:rPr>
              <a:t>   |   </a:t>
            </a:r>
            <a:r>
              <a:rPr lang="en-US" sz="2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个业务模块</a:t>
            </a:r>
            <a:r>
              <a:rPr lang="en-US" sz="1400" dirty="0">
                <a:solidFill>
                  <a:srgbClr val="30363D"/>
                </a:solidFill>
              </a:rPr>
              <a:t>   |   </a:t>
            </a:r>
            <a:r>
              <a:rPr lang="en-US" sz="2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2394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次提交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31920" y="2148840"/>
            <a:ext cx="4937760" cy="7772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10" name="Shape 8"/>
          <p:cNvSpPr/>
          <p:nvPr/>
        </p:nvSpPr>
        <p:spPr>
          <a:xfrm>
            <a:off x="3931920" y="2148840"/>
            <a:ext cx="54864" cy="77724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1" name="Text 9"/>
          <p:cNvSpPr/>
          <p:nvPr/>
        </p:nvSpPr>
        <p:spPr>
          <a:xfrm>
            <a:off x="4114800" y="214884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技术栈：Spring Boot 2.7.18 + MyBatis Plus 3.4.2 + PostgreSQL + Java 17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31920" y="3108960"/>
            <a:ext cx="4937760" cy="7772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13" name="Shape 11"/>
          <p:cNvSpPr/>
          <p:nvPr/>
        </p:nvSpPr>
        <p:spPr>
          <a:xfrm>
            <a:off x="3931920" y="3108960"/>
            <a:ext cx="54864" cy="777240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4" name="Text 12"/>
          <p:cNvSpPr/>
          <p:nvPr/>
        </p:nvSpPr>
        <p:spPr>
          <a:xfrm>
            <a:off x="4114800" y="31089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多数据源：PostgreSQL + Neo4j + Dremio  |  Feign 微服务调用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聚焦技能工具模块（logic/tool）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个 Controller，约 80 个 API 端点，8 个核心实体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1627632" cy="25603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5" name="Shape 3"/>
          <p:cNvSpPr/>
          <p:nvPr/>
        </p:nvSpPr>
        <p:spPr>
          <a:xfrm>
            <a:off x="274320" y="1691640"/>
            <a:ext cx="1627632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6" name="Text 4"/>
          <p:cNvSpPr/>
          <p:nvPr/>
        </p:nvSpPr>
        <p:spPr>
          <a:xfrm>
            <a:off x="365760" y="192024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代码库管理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LtCodeRepoController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5256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05256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29968" y="1691640"/>
            <a:ext cx="1627632" cy="25603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11" name="Shape 9"/>
          <p:cNvSpPr/>
          <p:nvPr/>
        </p:nvSpPr>
        <p:spPr>
          <a:xfrm>
            <a:off x="2029968" y="1691640"/>
            <a:ext cx="1627632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2" name="Text 10"/>
          <p:cNvSpPr/>
          <p:nvPr/>
        </p:nvSpPr>
        <p:spPr>
          <a:xfrm>
            <a:off x="2121408" y="192024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MCP 服务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21408" y="2560320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LtMcpController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60904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2660904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85616" y="1691640"/>
            <a:ext cx="1627632" cy="25603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17" name="Shape 15"/>
          <p:cNvSpPr/>
          <p:nvPr/>
        </p:nvSpPr>
        <p:spPr>
          <a:xfrm>
            <a:off x="3785616" y="1691640"/>
            <a:ext cx="1627632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8" name="Text 16"/>
          <p:cNvSpPr/>
          <p:nvPr/>
        </p:nvSpPr>
        <p:spPr>
          <a:xfrm>
            <a:off x="3877056" y="192024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扩展插件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77056" y="2560320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LtExtensionPluginController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416552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41264" y="1691640"/>
            <a:ext cx="1627632" cy="25603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23" name="Shape 21"/>
          <p:cNvSpPr/>
          <p:nvPr/>
        </p:nvSpPr>
        <p:spPr>
          <a:xfrm>
            <a:off x="5541264" y="1691640"/>
            <a:ext cx="1627632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4" name="Text 22"/>
          <p:cNvSpPr/>
          <p:nvPr/>
        </p:nvSpPr>
        <p:spPr>
          <a:xfrm>
            <a:off x="5632704" y="192024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32704" y="2560320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LtOpenapiController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172200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96912" y="1691640"/>
            <a:ext cx="1627632" cy="25603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29" name="Shape 27"/>
          <p:cNvSpPr/>
          <p:nvPr/>
        </p:nvSpPr>
        <p:spPr>
          <a:xfrm>
            <a:off x="7296912" y="1691640"/>
            <a:ext cx="1627632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30" name="Text 28"/>
          <p:cNvSpPr/>
          <p:nvPr/>
        </p:nvSpPr>
        <p:spPr>
          <a:xfrm>
            <a:off x="7388352" y="1920240"/>
            <a:ext cx="1444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8352" y="2560320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LtTaskflowController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27848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7927848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协作模式 — 人与 AI 的分工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6916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🧑 人设计原型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1742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602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143000"/>
            <a:ext cx="16916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4300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🧑 人设计表结构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(AI参与)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626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486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1691640" cy="594360"/>
          </a:xfrm>
          <a:prstGeom prst="rect">
            <a:avLst/>
          </a:prstGeom>
          <a:solidFill>
            <a:srgbClr val="1A3A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🤖 AI编码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510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370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143000"/>
            <a:ext cx="16916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14300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🧑 人评审&amp;测试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24688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人负责定方向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把控架构与边界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24688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3774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⚡ AI负责跑量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批量编码与实现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377440"/>
            <a:ext cx="24688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3774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及时评审小步验证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26517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每步提交检查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核心要点：人在决策位，AI在执行位，评审是安全阀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097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~80个API端点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快速交付，从0到完整API层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8404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60120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2-4倍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效率提升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相比传统开发模式的速度飞跃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13次fix提交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2240280"/>
            <a:ext cx="82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(45%)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350008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AI有小错漏，但人评审捕获并修复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587752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评审机制是质量的保障线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560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 16个数据库迁移版本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数据结构演进完整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560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 8个核心实体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9359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领域模型清晰稳定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5603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918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 评审后更新CLAUDE.md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359359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知识持续沉淀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" y="481330"/>
            <a:ext cx="3275965" cy="15544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915" y="1171575"/>
            <a:ext cx="4615815" cy="24218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" y="2839720"/>
            <a:ext cx="3291205" cy="177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案例一：小结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777240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设计到位 + 边界清晰 = AI 效率拉满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365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366760" y="1600200"/>
            <a:ext cx="365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56032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23408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📐  表结构设计清晰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990088"/>
            <a:ext cx="234086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AI有明确边界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64408"/>
            <a:ext cx="234086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清晰的领域模型和表结构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为AI提供了明确的编码边界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256032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679192"/>
            <a:ext cx="23408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 及时评审小步验证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990088"/>
            <a:ext cx="234086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质量可控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3264408"/>
            <a:ext cx="234086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每次提交都进行评审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小步迭代确保方向正确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56032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679192"/>
            <a:ext cx="234086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 人把控方向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2990088"/>
            <a:ext cx="234086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AI堆砌工作量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3264408"/>
            <a:ext cx="2340864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人做决策，AI做执行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分工明确效率最大化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案例二：A2A 适配器 — 一场代价惨痛的返工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背景信息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0"/>
          </a:xfrm>
          <a:prstGeom prst="line">
            <a:avLst/>
          </a:prstGeom>
          <a:noFill/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 A2A协议适配器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实现Agent与Agent之间的通信协议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🔧  aip-gateway a2a-wrapper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网关服务中的A2A协议封装模块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 陌生领域未调研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3931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对A2A协议生态缺乏前期调研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3840480" cy="3474720"/>
          </a:xfrm>
          <a:prstGeom prst="rect">
            <a:avLst/>
          </a:prstGeom>
          <a:solidFill>
            <a:srgbClr val="1F0D0D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 错误决策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329184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691640"/>
            <a:ext cx="3383280" cy="914400"/>
          </a:xfrm>
          <a:prstGeom prst="rect">
            <a:avLst/>
          </a:prstGeom>
          <a:solidFill>
            <a:srgbClr val="2A121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7373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让AI根据协议文档直接编码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2103120"/>
            <a:ext cx="3200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在陌生领域直接让AI编码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没有先调研现有生态和工具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2788920"/>
            <a:ext cx="3383280" cy="914400"/>
          </a:xfrm>
          <a:prstGeom prst="rect">
            <a:avLst/>
          </a:prstGeom>
          <a:solidFill>
            <a:srgbClr val="2A121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834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 无法判断AI输出正确性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2004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领域知识不足导致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无法有效评审AI的产出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教训：陌生领域务必先调研，再决定是否让AI编码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33272"/>
            <a:ext cx="0" cy="256032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96012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86868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868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让AI编码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17043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拿到协议文档直接开始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2104" y="160020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50876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1-2周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1508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AI高效产出</a:t>
            </a:r>
            <a:r>
              <a:rPr lang="zh-CN" alt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了三个版本</a:t>
            </a:r>
            <a:r>
              <a:rPr lang="zh-CN" alt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zh-CN" altLang="en-US" sz="1400" b="1" dirty="0">
              <a:solidFill>
                <a:srgbClr val="F8514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65960" y="181051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看似高效实则偏离方向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" y="224028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1488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无法判断正确性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505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领域知识不足无法评审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" y="288036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7889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发现官方SDK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9067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A2A协议已有成熟SDK工具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" y="352044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2900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4290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用SDK搞定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65960" y="373075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基于官方SDK快速完成适配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868680"/>
            <a:ext cx="3200400" cy="2560320"/>
          </a:xfrm>
          <a:prstGeom prst="rect">
            <a:avLst/>
          </a:prstGeom>
          <a:solidFill>
            <a:srgbClr val="1F0D0D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05156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141,026行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1554480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0" y="187452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1,786行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035040" y="2560320"/>
            <a:ext cx="2651760" cy="640080"/>
          </a:xfrm>
          <a:prstGeom prst="rect">
            <a:avLst/>
          </a:prstGeom>
          <a:solidFill>
            <a:srgbClr val="2A121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5603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代码量缩减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288036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98.7%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605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核心教训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160520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在陌生领域，先调研再行动。盲目让AI编码 = 高效地做错事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141,026行无用代码的代价，验证了"方向比速度更重要"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翻车现场（一）— AI 造了个轮子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自研方案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从零编码，全程自信输出</a:t>
            </a:r>
            <a:endParaRPr lang="en-US" sz="1100" dirty="0"/>
          </a:p>
          <a:p>
            <a:pPr marL="0" indent="0">
              <a:buNone/>
            </a:pPr>
            <a:r>
              <a:rPr lang="zh-CN" alt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一周多，从零实现</a:t>
            </a:r>
            <a:r>
              <a:rPr lang="zh-CN" alt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了三四个版本</a:t>
            </a: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，141,026行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看似完整，实则弯路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官方 SDK 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a2aproject/a2a-java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3天完成，仅 1,786行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稳定性、兼容性保障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67912"/>
            <a:ext cx="75895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AI不会主动告诉你有更好方案，方向是你定的AI不负责纠偏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174625"/>
            <a:ext cx="2945765" cy="47955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865" y="173990"/>
            <a:ext cx="2759075" cy="47961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翻车现场（二）— 三个小案例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5" name="Text 3"/>
          <p:cNvSpPr/>
          <p:nvPr/>
        </p:nvSpPr>
        <p:spPr>
          <a:xfrm>
            <a:off x="749808" y="1207008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SQL版本号错误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224942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生成了V2.2.14而非V2.2.13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没有查现有版本文件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迁移执行失败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46888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97280"/>
            <a:ext cx="246888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9" name="Text 7"/>
          <p:cNvSpPr/>
          <p:nvPr/>
        </p:nvSpPr>
        <p:spPr>
          <a:xfrm>
            <a:off x="3493008" y="1207008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修改已冻结脚本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3008" y="1527048"/>
            <a:ext cx="224942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改了V2.2.13__init.sql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部署环境摘要不一致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复盘：已冻结脚本严禁修改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46888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246888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13" name="Text 11"/>
          <p:cNvSpPr/>
          <p:nvPr/>
        </p:nvSpPr>
        <p:spPr>
          <a:xfrm>
            <a:off x="6236208" y="1207008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权限过滤偏差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527048"/>
            <a:ext cx="224942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应交给前端的逻辑留在后端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多了不必要的权限检查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复盘：用户级权限交给前端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案例二：小结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方向错了，效率越高代价越大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17373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对领域不了解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2743200"/>
            <a:ext cx="17373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没有先建立认知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743200"/>
            <a:ext cx="17373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盲目信任AI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2743200"/>
            <a:ext cx="173736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74320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AI高效跑偏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两个案例，两种结局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aip-server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设计清晰 + 边界明确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人定方向，AI跑量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5天80接口，质量可靠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A2A适配器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方向不明 + 盲目信任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没调研就动手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16天返工，98.7%废弃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什么时候该信任AI？如何系统地让AI编程越来越高效？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48640"/>
            <a:ext cx="73152" cy="347472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3" name="Text 1"/>
          <p:cNvSpPr/>
          <p:nvPr/>
        </p:nvSpPr>
        <p:spPr>
          <a:xfrm>
            <a:off x="548640" y="731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从案例到洞察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从案例中看到了什么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aip-server 成功：人给了清晰设计和边界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A2A 失败：人没有给方向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的效率是确定的，不确定的是人的引导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 AI，同一个开发者，结果天壤之别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的潜力与边界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潜力 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编码效率提升 2-4 倍
</a:t>
            </a: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擅长重复性工作和模式化代码
</a:t>
            </a: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趋势明确，只会越来越强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 ⚠️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不了解领域背景时容易跑偏
</a:t>
            </a: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缺乏全局视角，局部最优全局灾难
</a:t>
            </a: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不会主动质疑你的设计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是最强执行者，但不是合格的架构师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核心洞察：把最擅长的事交给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常见想法：先把不擅长的交给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实际经验：先把最擅长的事交给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擅长 = 你能准确验收、质量保障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这些工作无成长价值，纯工作量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释放时间，投入创造性工作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aip-server 例证：表结构是我擅长的 → AI 编码我能准确评审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角色转变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 ✍️  →  编码 💻  →  测试 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1143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(全自己做)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 ✍️  →  </a:t>
            </a:r>
            <a:r>
              <a:rPr lang="en-US" sz="18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AI编码 🤖</a:t>
            </a: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→  评审测试 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从'码农'变成'系统架构师'——你画图纸，AI盖楼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⚠️ 陷阱：AI 会'PUA'你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永远自信满满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即使方向错误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9728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语气笃定逻辑自洽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容易被说服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不会犹豫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不会说我不确定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A2A：AI 全程自信造轮子，</a:t>
            </a:r>
            <a:r>
              <a:rPr lang="zh-CN" alt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产码</a:t>
            </a: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无犹豫
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权限过滤：AI 保留逻辑的理由听起来完全合理，但缺失业务上下文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关键问题：怎么让 AI 稳定输出高质量代码？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把擅长的事交给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 AI 会 PUA 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靠个人判断力够吗？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单靠经验，不可持续不可复制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E6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团队协作、项目复杂怎么办？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我们需要一套系统化的方法 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463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系统化提升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SDD 与 Harness 实践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SDD？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SDD = Spec-Driven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先写说明书，再让AI写代码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1A0505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84832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氛围编程
</a:t>
            </a:r>
            <a:r>
              <a:rPr lang="en-US" sz="1200" dirty="0">
                <a:solidFill>
                  <a:srgbClr val="C9D1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凭感觉 → AI猜着写 → 修几小时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84832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SDD
</a:t>
            </a:r>
            <a:r>
              <a:rPr lang="en-US" sz="1200" dirty="0">
                <a:solidFill>
                  <a:srgbClr val="C9D1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规范第一，代码第二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是建筑图纸    AI 是施工队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1188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目标与价值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61188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🔧 上下文约束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61188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⚙️ 功能逻辑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11880"/>
            <a:ext cx="1920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验证标准(TDD基因)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SDD 四阶段工作流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1737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Specify
</a:t>
            </a: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编写规范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795528"/>
            <a:ext cx="1737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🏗️ Plan
</a:t>
            </a: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795528"/>
            <a:ext cx="1737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✂️ Task
</a:t>
            </a: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拆分任务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795528"/>
            <a:ext cx="1737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🤖 Implement
</a:t>
            </a: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自动编码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28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82880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🔮 可预测性
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输出可控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2880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高质量(TDD)
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内置测试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60604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📖 易维护
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规范即文档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6060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60604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💰 ROI答疑
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给新同事讲&gt;5分钟就写Spec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82880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74520"/>
            <a:ext cx="42976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SDD 核心流程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Specify — 用自然语言描述需求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Plan — 让AI基于规范设计方案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Task — 将方案拆分为可执行任务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Implement — Agent 自动完成编码
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0D284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从'码农'变成'系统架构师'——你画图纸，AI盖楼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943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案例：智能体消息网关 aip-gateway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AMG 核心模块定位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Message Gateway — 智能体消息的统一入口与路由枢纽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连接多个 AI 智能体，处理消息分发、协议转换、插件扩展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7315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777240"/>
            <a:ext cx="29260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WebFlux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R2DBC (Reactive SQL)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 Reactive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2377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209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次提交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089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993392"/>
            <a:ext cx="2377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584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个Java文件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993392"/>
            <a:ext cx="2377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个插件模块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AMG 核心 </a:t>
            </a: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59个文件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|  </a:t>
            </a: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仅2天完成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|  </a:t>
            </a: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 → v1.9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SDD 实践：从PRD到代码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19202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qoder 编写PRD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749808"/>
            <a:ext cx="19202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转化为技术Spec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4796行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749808"/>
            <a:ext cx="192024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 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多轮审阅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v1→v1.9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731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E6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749808"/>
            <a:ext cx="1737360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Team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00584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100584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6596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规范先行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4796行技术Spec覆盖架构、数据模型、API、插件机制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96596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审阅到位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 Code 9轮迭代，三轮审阅纠正架构/技术栈/数据模型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6596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🤖 代码自动
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Team 按Spec拆分任务，自动完成编码实现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0D284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规范先行 → 审阅到位 → 代码自动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 的九轮迭代（v1.0 → v1.9）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05840"/>
            <a:ext cx="0" cy="256032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005840"/>
            <a:ext cx="219456" cy="219456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6" name="Text 4"/>
          <p:cNvSpPr/>
          <p:nvPr/>
        </p:nvSpPr>
        <p:spPr>
          <a:xfrm>
            <a:off x="1554480" y="86868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v1.0 - v1.2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基础框架搭建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61872" y="1600200"/>
            <a:ext cx="219456" cy="219456"/>
          </a:xfrm>
          <a:prstGeom prst="ellipse">
            <a:avLst/>
          </a:prstGeom>
          <a:solidFill>
            <a:srgbClr val="E3B341"/>
          </a:solidFill>
        </p:spPr>
      </p:sp>
      <p:sp>
        <p:nvSpPr>
          <p:cNvPr id="9" name="Text 7"/>
          <p:cNvSpPr/>
          <p:nvPr/>
        </p:nvSpPr>
        <p:spPr>
          <a:xfrm>
            <a:off x="1554480" y="146304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v1.3 - v1.5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审阅反馈修正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61872" y="2194560"/>
            <a:ext cx="219456" cy="219456"/>
          </a:xfrm>
          <a:prstGeom prst="ellipse">
            <a:avLst/>
          </a:prstGeom>
          <a:solidFill>
            <a:srgbClr val="F85149"/>
          </a:solidFill>
        </p:spPr>
      </p:sp>
      <p:sp>
        <p:nvSpPr>
          <p:cNvPr id="12" name="Text 10"/>
          <p:cNvSpPr/>
          <p:nvPr/>
        </p:nvSpPr>
        <p:spPr>
          <a:xfrm>
            <a:off x="1554480" y="205740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重大定位调整!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61872" y="2788920"/>
            <a:ext cx="219456" cy="219456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5" name="Text 13"/>
          <p:cNvSpPr/>
          <p:nvPr/>
        </p:nvSpPr>
        <p:spPr>
          <a:xfrm>
            <a:off x="1554480" y="265176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v1.7 - v1.8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88036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技术栈修正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61872" y="3383280"/>
            <a:ext cx="219456" cy="219456"/>
          </a:xfrm>
          <a:prstGeom prst="ellipse">
            <a:avLst/>
          </a:prstGeom>
          <a:solidFill>
            <a:srgbClr val="3FB950"/>
          </a:solidFill>
        </p:spPr>
      </p:sp>
      <p:sp>
        <p:nvSpPr>
          <p:cNvPr id="18" name="Text 16"/>
          <p:cNvSpPr/>
          <p:nvPr/>
        </p:nvSpPr>
        <p:spPr>
          <a:xfrm>
            <a:off x="1554480" y="3246120"/>
            <a:ext cx="2286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综合修复 &amp; 定稿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7315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77724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7772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23444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a1b2c3d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feat: 初始Spec v1.0框架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55448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e4f5g6h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refactor: v1.3 审阅修正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87452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i7j8k9l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fix: v1.5 数据模型修正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19456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m0n1o2p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refactor: v1.6 重大定位调整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51460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q3r4s5t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fix: v1.7 技术栈API修正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83464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u6v7w8x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fix: v1.8 R2DBC兼容修正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15468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y9z0a1b </a:t>
            </a:r>
            <a:r>
              <a:rPr lang="en-US" sz="10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feat: v1.9 综合修复定稿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三轮审阅，发现了什么？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162436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005840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76272" y="1005840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原始设计（跑偏）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76672" y="1005840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审阅修正（纠偏）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63040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76272" y="146304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AMG定位偏移被设计成独立服务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6672" y="1463040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重新定位为数字员工门户消息层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78638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3976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093976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误用Spring Boot 3.x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2093976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修正为2.7.17与现有网关一致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78638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24912"/>
            <a:ext cx="131673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76272" y="2724912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三层关系模型表述不清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6672" y="2724912"/>
            <a:ext cx="30540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明确de_catalog→digital_employee→ops_channel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78638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38728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审阅不是走形式，每次审阅都在防止'AI高效跑偏'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7863840" cy="411480"/>
          </a:xfrm>
          <a:prstGeom prst="rect">
            <a:avLst/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回扣Part2—这就是系统化地防止AI PUA你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SDD 成果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377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个Java文件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777240"/>
            <a:ext cx="2377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仅2天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完成核心代码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3504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777240"/>
            <a:ext cx="2377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13,093
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行代码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0505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840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aip-server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靠经验 — 个人能力驱动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不可复制，依赖个人水平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03120"/>
            <a:ext cx="3840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aip-gateway
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 SDD — 方法论驱动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可复制，流程保障质量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D2847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规范先行，代码自动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Harness Engineering？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= Model + Harness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模型是马 Harness是缰绳——光有马不行还需要驾驭系统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= 给AI烈马套上缰绳的马具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不是限制AI的能力，而是让AI的能力在正确方向上释放——约束即驾驭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79476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794760" cy="36576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9" name="Text 7"/>
          <p:cNvSpPr/>
          <p:nvPr/>
        </p:nvSpPr>
        <p:spPr>
          <a:xfrm>
            <a:off x="749808" y="244144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Guides 前馈控制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575304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行动前设好规则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 代码规范 架构决策 权限分级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高速公路护栏类比——提前规划路线边界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331720"/>
            <a:ext cx="379476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331720"/>
            <a:ext cx="379476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3" name="Text 11"/>
          <p:cNvSpPr/>
          <p:nvPr/>
        </p:nvSpPr>
        <p:spPr>
          <a:xfrm>
            <a:off x="4818888" y="244144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Sensors 反馈控制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761488"/>
            <a:ext cx="3575304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做完后检测对不对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 Sonar代码扫描 CI流水线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安检门类比——事后检测偏差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好的Harness = Guides + Sensors    防患于未然 + 亡羊补牢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69080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</a:t>
            </a: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项目级 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全局规则 项目骨架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406908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069080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</a:t>
            </a: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任务级 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当前任务的约束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406908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4069080"/>
            <a:ext cx="2414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</a:t>
            </a: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会话级 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本次对话的即时指令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9544" y="4160520"/>
            <a:ext cx="73152" cy="13716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2744" y="4160520"/>
            <a:ext cx="73152" cy="13716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约束先行 — 规则靠自动化强制执行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是怎么"长"出来的？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①让AI做任务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72768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②观察输出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99816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4136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③发现问题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④分析根因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53912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⑤添加最小约束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914400"/>
            <a:ext cx="11430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914400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⑥验证效果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08008" y="9601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回到①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1600200"/>
            <a:ext cx="256032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600200"/>
            <a:ext cx="2560320" cy="36576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3" name="Text 21"/>
          <p:cNvSpPr/>
          <p:nvPr/>
        </p:nvSpPr>
        <p:spPr>
          <a:xfrm>
            <a:off x="749808" y="170992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种子期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2029968"/>
            <a:ext cx="234086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刚创建 / 单模块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 3-10行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项目启动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1600200"/>
            <a:ext cx="256032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1600200"/>
            <a:ext cx="2560320" cy="36576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7" name="Text 25"/>
          <p:cNvSpPr/>
          <p:nvPr/>
        </p:nvSpPr>
        <p:spPr>
          <a:xfrm>
            <a:off x="3493008" y="170992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生长期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2029968"/>
            <a:ext cx="234086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多模块 / 多人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分层文档 + 架构约束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AI犯结构性错误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600200"/>
            <a:ext cx="256032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600200"/>
            <a:ext cx="256032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31" name="Text 29"/>
          <p:cNvSpPr/>
          <p:nvPr/>
        </p:nvSpPr>
        <p:spPr>
          <a:xfrm>
            <a:off x="6236208" y="170992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成熟期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2029968"/>
            <a:ext cx="234086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复杂系统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自动化检查 + 反馈循环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单次对话无法完成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2926080"/>
            <a:ext cx="7863840" cy="502920"/>
          </a:xfrm>
          <a:prstGeom prst="rect">
            <a:avLst/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999232"/>
            <a:ext cx="75895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不要一步到位——每条规则应有具体"事故"作为来源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接下来的aip-portal案例就是这套方法论的真实演绎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案例：aip-portal 智能体门户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5" name="Text 3"/>
          <p:cNvSpPr/>
          <p:nvPr/>
        </p:nvSpPr>
        <p:spPr>
          <a:xfrm>
            <a:off x="749808" y="1024128"/>
            <a:ext cx="76443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企业级 Agent 管理平台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344168"/>
            <a:ext cx="7644384" cy="73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统一管理数字员工、Agent注册、技能编排、消息通道、运营监控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E7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2.7.18 + MyBatis Plus + PostgreSQL + Java 17  |  Maven多模块 + Feign + 多数据源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4630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次提交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194560"/>
            <a:ext cx="14630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3317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天开发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14630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317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个Java文件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2194560"/>
            <a:ext cx="14630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3317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40680" y="2834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个文档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194560"/>
            <a:ext cx="14630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33172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人协作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这个项目经历了 Harness 从无到有的完整演化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 的演化：从混乱到精炼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5487 → 6000 → 3300 → 272  压缩率 95%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590507"/>
            <a:ext cx="1280160" cy="2341413"/>
          </a:xfrm>
          <a:prstGeom prst="rect">
            <a:avLst/>
          </a:prstGeom>
          <a:solidFill>
            <a:srgbClr val="E3B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16187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5487行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40050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280160" cy="256032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0972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~6000行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40050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3017520"/>
            <a:ext cx="12801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0175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21868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paths: **.java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0050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2.5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523744"/>
            <a:ext cx="1280160" cy="1408176"/>
          </a:xfrm>
          <a:prstGeom prst="rect">
            <a:avLst/>
          </a:prstGeom>
          <a:solidFill>
            <a:srgbClr val="E3B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494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~3300行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40050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3749040"/>
            <a:ext cx="1280160" cy="182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34747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272行 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40050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315200" cy="18288"/>
          </a:xfrm>
          <a:prstGeom prst="rect">
            <a:avLst/>
          </a:prstGeom>
          <a:solidFill>
            <a:srgbClr val="30363D"/>
          </a:solidFill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1-2：混乱与膨胀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794760" cy="2148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68680"/>
            <a:ext cx="3794760" cy="36576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5" name="Text 3"/>
          <p:cNvSpPr/>
          <p:nvPr/>
        </p:nvSpPr>
        <p:spPr>
          <a:xfrm>
            <a:off x="749808" y="97840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1 — 什么都往里放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575304" cy="162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5487行 20文件 </a:t>
            </a:r>
            <a:r>
              <a:rPr lang="en-US" sz="1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sz="1000">
                <a:solidFill>
                  <a:schemeClr val="bg2"/>
                </a:solidFill>
                <a:sym typeface="+mn-ea"/>
              </a:rPr>
              <a:t>命名、架构、异常处理、日志……全部堆在一起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Token消耗大 关键规则被淹没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3575304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V2.2.14→V2.2.13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→约束: </a:t>
            </a:r>
            <a:r>
              <a:rPr lang="en-US" sz="9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涉及版本号先查已有文件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2057400"/>
            <a:ext cx="3575304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修改已冻结脚本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→约束: </a:t>
            </a:r>
            <a:r>
              <a:rPr lang="en-US" sz="9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已冻结脚本严禁修改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2468880"/>
            <a:ext cx="3575304" cy="36576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权限过滤偏差</a:t>
            </a:r>
            <a:r>
              <a:rPr lang="en-US" sz="9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→约束: </a:t>
            </a:r>
            <a:r>
              <a:rPr lang="en-US" sz="9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用户级权限判断交给前端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3794760" cy="2148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68680"/>
            <a:ext cx="379476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15" name="Text 13"/>
          <p:cNvSpPr/>
          <p:nvPr/>
        </p:nvSpPr>
        <p:spPr>
          <a:xfrm>
            <a:off x="4818888" y="97840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2 — 踩坑就加越加越多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298448"/>
            <a:ext cx="3575304" cy="162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~6000+行 24文件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❌ Token爆炸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每犯一个错就加一条规则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规则之间相互矛盾</a:t>
            </a:r>
            <a:endParaRPr lang="zh-CN" alt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44875"/>
            <a:ext cx="7863840" cy="502920"/>
          </a:xfrm>
          <a:prstGeom prst="rect">
            <a:avLst/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18027"/>
            <a:ext cx="75895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恶性循环   犯错 → 加规则 → 再犯错 → 再加规则 ……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3-4：清理与精炼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79476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68680"/>
            <a:ext cx="3794760" cy="36576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5" name="Text 3"/>
          <p:cNvSpPr/>
          <p:nvPr/>
        </p:nvSpPr>
        <p:spPr>
          <a:xfrm>
            <a:off x="749808" y="97840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3 — 删掉2714行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575304" cy="11247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意识到规范不是越多越好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rules是token预算管理不是wiki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文档移 docs/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只保留AI每次必须看到的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379476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868680"/>
            <a:ext cx="379476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9" name="Text 7"/>
          <p:cNvSpPr/>
          <p:nvPr/>
        </p:nvSpPr>
        <p:spPr>
          <a:xfrm>
            <a:off x="4818888" y="97840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Phase 4 — 最终272行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298448"/>
            <a:ext cx="3575304" cy="11247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压缩率 95%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只保留AI必须知道的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质量稳定 Token可控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从5487→272 精炼到极致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04-01 </a:t>
            </a: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15184" y="274320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27432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04-01 </a:t>
            </a: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62856" y="274320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7432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04-02 </a:t>
            </a: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274320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0256" y="27432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04-09 </a:t>
            </a: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规范移docs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完成重构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/>
        </p:nvSpPr>
        <p:spPr>
          <a:xfrm>
            <a:off x="238" y="0"/>
            <a:ext cx="9143771" cy="85725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3"/>
          <p:cNvSpPr/>
          <p:nvPr/>
        </p:nvSpPr>
        <p:spPr>
          <a:xfrm>
            <a:off x="610473" y="342583"/>
            <a:ext cx="8023860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/retrospect 复盘三问法</a:t>
            </a:r>
            <a:endParaRPr lang="en-US" sz="2400" b="1" dirty="0">
              <a:solidFill>
                <a:srgbClr val="2F81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5" name="Rectangle 4"/>
          <p:cNvSpPr/>
          <p:nvPr/>
        </p:nvSpPr>
        <p:spPr>
          <a:xfrm>
            <a:off x="8572738" y="137160"/>
            <a:ext cx="274320" cy="27432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5"/>
          <p:cNvSpPr/>
          <p:nvPr/>
        </p:nvSpPr>
        <p:spPr>
          <a:xfrm>
            <a:off x="8847058" y="342900"/>
            <a:ext cx="137160" cy="13716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6"/>
          <p:cNvSpPr txBox="1"/>
          <p:nvPr/>
        </p:nvSpPr>
        <p:spPr>
          <a:xfrm>
            <a:off x="548878" y="1097280"/>
            <a:ext cx="8023860" cy="287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 panose="020B0503020204020204" pitchFamily="34" charset="-122"/>
              </a:defRPr>
            </a:pPr>
            <a:r>
              <a:rPr sz="1425"/>
              <a:t>  ◆  三问法</a:t>
            </a:r>
            <a:endParaRPr sz="1425"/>
          </a:p>
          <a:p>
            <a:pPr algn="l">
              <a:spcAft>
                <a:spcPts val="600"/>
              </a:spcAft>
              <a:defRPr sz="1700" b="0">
                <a:solidFill>
                  <a:srgbClr val="51CF66"/>
                </a:solidFill>
                <a:latin typeface="微软雅黑" panose="020B0503020204020204" pitchFamily="34" charset="-122"/>
              </a:defRPr>
            </a:pPr>
            <a:r>
              <a:rPr sz="1275"/>
              <a:t>• 1. 做对了什么？→ 强化正确的做法</a:t>
            </a:r>
            <a:endParaRPr sz="1275"/>
          </a:p>
          <a:p>
            <a:pPr algn="l">
              <a:spcAft>
                <a:spcPts val="600"/>
              </a:spcAft>
              <a:defRPr sz="1700" b="0">
                <a:solidFill>
                  <a:srgbClr val="FF6B6B"/>
                </a:solidFill>
                <a:latin typeface="微软雅黑" panose="020B0503020204020204" pitchFamily="34" charset="-122"/>
              </a:defRPr>
            </a:pPr>
            <a:r>
              <a:rPr sz="1275"/>
              <a:t>• 2. 做错了什么？→ 识别错误和根因</a:t>
            </a:r>
            <a:endParaRPr sz="1275"/>
          </a:p>
          <a:p>
            <a:pPr algn="l">
              <a:spcAft>
                <a:spcPts val="600"/>
              </a:spcAft>
              <a:defRPr sz="1700" b="0">
                <a:solidFill>
                  <a:srgbClr val="00D2FF"/>
                </a:solidFill>
                <a:latin typeface="微软雅黑" panose="020B0503020204020204" pitchFamily="34" charset="-122"/>
              </a:defRPr>
            </a:pPr>
            <a:r>
              <a:rPr sz="1275"/>
              <a:t>• 3. 如果重来会怎么做？→ 提炼可复用规则</a:t>
            </a:r>
            <a:endParaRPr sz="1275"/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endParaRPr sz="750"/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 panose="020B0503020204020204" pitchFamily="34" charset="-122"/>
              </a:defRPr>
            </a:pPr>
            <a:r>
              <a:rPr sz="1425"/>
              <a:t>  ◆  经验固化流程</a:t>
            </a:r>
            <a:endParaRPr sz="1425"/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sz="1275"/>
              <a:t>• 完成任务 → 触发复盘 → 三问反思 → 提炼经验</a:t>
            </a:r>
            <a:endParaRPr sz="1275"/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 panose="020B0503020204020204" pitchFamily="34" charset="-122"/>
              </a:defRPr>
            </a:pPr>
            <a:r>
              <a:rPr sz="1125"/>
              <a:t>    ◦                                     → 保存到 memory/</a:t>
            </a:r>
            <a:endParaRPr sz="1125"/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 panose="020B0503020204020204" pitchFamily="34" charset="-122"/>
              </a:defRPr>
            </a:pPr>
            <a:r>
              <a:rPr sz="1125"/>
              <a:t>    ◦                                     → 更新 rules/</a:t>
            </a:r>
            <a:endParaRPr sz="1125"/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 panose="020B0503020204020204" pitchFamily="34" charset="-122"/>
              </a:defRPr>
            </a:pPr>
            <a:r>
              <a:rPr sz="1125"/>
              <a:t>    ◦                                     → 更新 CLAUDE.md</a:t>
            </a:r>
            <a:endParaRPr sz="1125"/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endParaRPr sz="1125"/>
          </a:p>
        </p:txBody>
      </p:sp>
      <p:sp>
        <p:nvSpPr>
          <p:cNvPr id="28" name="Rectangle 7"/>
          <p:cNvSpPr/>
          <p:nvPr/>
        </p:nvSpPr>
        <p:spPr>
          <a:xfrm>
            <a:off x="548878" y="4800600"/>
            <a:ext cx="8023860" cy="685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8"/>
          <p:cNvSpPr txBox="1"/>
          <p:nvPr/>
        </p:nvSpPr>
        <p:spPr>
          <a:xfrm>
            <a:off x="4413488" y="4834890"/>
            <a:ext cx="294640" cy="20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 panose="020B0503020204020204" pitchFamily="34" charset="-122"/>
              </a:defRPr>
            </a:pPr>
            <a:r>
              <a:rPr sz="750"/>
              <a:t>26</a:t>
            </a:r>
            <a:endParaRPr sz="7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最终形态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79476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379476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5" name="Text 3"/>
          <p:cNvSpPr/>
          <p:nvPr/>
        </p:nvSpPr>
        <p:spPr>
          <a:xfrm>
            <a:off x="749808" y="102412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Before — 混乱状态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344168"/>
            <a:ext cx="3575304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5487行 20文件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所有规范堆在一个目录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每次全部加载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79476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914400"/>
            <a:ext cx="379476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9" name="Text 7"/>
          <p:cNvSpPr/>
          <p:nvPr/>
        </p:nvSpPr>
        <p:spPr>
          <a:xfrm>
            <a:off x="4818888" y="1024128"/>
            <a:ext cx="3575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After — 三层架构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344168"/>
            <a:ext cx="3575304" cy="85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 (23行) 项目导航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.claude/rules/ ARCHITECTURE.md(124行)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+ CODE-STYLE.md(14行) + testing.md(134行)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2011680"/>
            <a:ext cx="3575304" cy="228600"/>
          </a:xfrm>
          <a:prstGeom prst="rect">
            <a:avLst/>
          </a:prstGeom>
          <a:solidFill>
            <a:srgbClr val="161B22"/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011680"/>
            <a:ext cx="35753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E7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docs/code-style/ 8文档 838行 按需引用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核心约束 → 自动加载（每次会话）</a:t>
            </a:r>
            <a:r>
              <a:rPr lang="en-US" sz="14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|    </a:t>
            </a: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详细规范 → 按需加载（AI自行查阅）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24688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2468880" cy="4572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7" name="Text 15"/>
          <p:cNvSpPr/>
          <p:nvPr/>
        </p:nvSpPr>
        <p:spPr>
          <a:xfrm>
            <a:off x="749808" y="3355848"/>
            <a:ext cx="224942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23行 项目导航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29184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3246120"/>
            <a:ext cx="24688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46120"/>
            <a:ext cx="2468880" cy="45720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1" name="Text 19"/>
          <p:cNvSpPr/>
          <p:nvPr/>
        </p:nvSpPr>
        <p:spPr>
          <a:xfrm>
            <a:off x="3401568" y="3355848"/>
            <a:ext cx="224942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rules/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272行 必须知道的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246120"/>
            <a:ext cx="24688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246120"/>
            <a:ext cx="2468880" cy="4572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25" name="Text 23"/>
          <p:cNvSpPr/>
          <p:nvPr/>
        </p:nvSpPr>
        <p:spPr>
          <a:xfrm>
            <a:off x="6053328" y="3355848"/>
            <a:ext cx="2249424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docs/
</a:t>
            </a: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838行 按需引用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329184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 演化的关键经验</a:t>
            </a:r>
            <a:endParaRPr lang="en-US" sz="24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40080" y="914400"/>
            <a:ext cx="38404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749808" y="914400"/>
            <a:ext cx="3621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rules/是token预算管理不是wiki — 每一行要有价值</a:t>
            </a:r>
            <a:endParaRPr lang="en-US" sz="1800" dirty="0"/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640080" y="1508760"/>
            <a:ext cx="38404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49808" y="1508760"/>
            <a:ext cx="3621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规范不是越多越好越精炼越好 — 少即是多</a:t>
            </a:r>
            <a:endParaRPr lang="en-US" sz="18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640080" y="2103120"/>
            <a:ext cx="384048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749808" y="2103120"/>
            <a:ext cx="3621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</a:t>
            </a:r>
            <a:r>
              <a:rPr lang="en-US" sz="11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每次踩坑是完善规范的机会 — 复盘驱动改进</a:t>
            </a:r>
            <a:endParaRPr lang="en-US" sz="18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4754880" y="914400"/>
            <a:ext cx="374904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4754880" y="914400"/>
            <a:ext cx="3749040" cy="36576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4864608" y="102412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Bad Constraints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864608" y="1344168"/>
            <a:ext cx="3529584" cy="11247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"写高质量代码" — AI看到和没看到一样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"注意异常处理" — 模糊不可操作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"保持代码整洁" — 无法指导行为</a:t>
            </a:r>
            <a:endParaRPr lang="en-US" sz="1000" dirty="0"/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4754880" y="2651760"/>
            <a:ext cx="374904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4754880" y="2651760"/>
            <a:ext cx="374904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864608" y="2761488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Good Constraints</a:t>
            </a:r>
            <a:endParaRPr lang="en-US" sz="1200" dirty="0"/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4864608" y="3081528"/>
            <a:ext cx="3529584" cy="11247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"@RequiredArgsConstructor不用@Autowired" — 具体可验证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"HTTP错误格式{code,message,timestamp}" — 有模板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"已冻结脚本严禁修改所有变更只走新建补丁" — 有明确来源</a:t>
            </a:r>
            <a:endParaRPr lang="en-US" sz="1000" dirty="0"/>
          </a:p>
        </p:txBody>
      </p:sp>
      <p:sp>
        <p:nvSpPr>
          <p:cNvPr id="17" name="Shape 15"/>
          <p:cNvSpPr/>
          <p:nvPr>
            <p:custDataLst>
              <p:tags r:id="rId15"/>
            </p:custDataLst>
          </p:nvPr>
        </p:nvSpPr>
        <p:spPr>
          <a:xfrm>
            <a:off x="640080" y="3749040"/>
            <a:ext cx="78638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777240" y="3749040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错误现象 → 根因分析 → 期望行为 → 最小约束文本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254000"/>
            <a:ext cx="2758440" cy="46355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685" y="109220"/>
            <a:ext cx="2181860" cy="104521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685" y="1363980"/>
            <a:ext cx="2181860" cy="17221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050" y="3222625"/>
            <a:ext cx="2206625" cy="18014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演化的下一步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Guides层初步完成  </a:t>
            </a:r>
            <a:r>
              <a:rPr lang="en-US" sz="1600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Sensors层正在演进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8595360" cy="502920"/>
          </a:xfrm>
          <a:prstGeom prst="rect">
            <a:avLst/>
          </a:prstGeom>
          <a:solidFill>
            <a:srgbClr val="1A3A2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5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已尝试 Karate 接口场景测试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68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🧪 </a:t>
            </a: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单元+集成测试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通过才合并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68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</a:t>
            </a: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Sonar代码扫描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926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规范·重复·Bug·安全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🔄 </a:t>
            </a: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CI流水线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926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测试+Sonar+构建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95360" cy="685800"/>
          </a:xfrm>
          <a:prstGeom prst="rect">
            <a:avLst/>
          </a:prstGeom>
          <a:solidFill>
            <a:srgbClr val="0D2240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Guides</a:t>
            </a:r>
            <a:r>
              <a:rPr lang="en-US" sz="15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让人读规则  </a:t>
            </a:r>
            <a:r>
              <a:rPr lang="en-US" sz="15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Sensors</a:t>
            </a:r>
            <a:r>
              <a:rPr lang="en-US" sz="15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让机器自动执行规则</a:t>
            </a:r>
            <a:r>
              <a:rPr lang="en-US" sz="1500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——两者结合才是完整闭环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成熟期全景——完整闭环长什么样？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931920" cy="1188720"/>
          </a:xfrm>
          <a:prstGeom prst="rect">
            <a:avLst/>
          </a:prstGeom>
          <a:solidFill>
            <a:srgbClr val="0D2240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Guides层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 + rules/  |  分层文档 + 架构约束  |  权限分级 + 编码规范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731520"/>
            <a:ext cx="3931920" cy="1188720"/>
          </a:xfrm>
          <a:prstGeom prst="rect">
            <a:avLst/>
          </a:prstGeom>
          <a:solidFill>
            <a:srgbClr val="1A3A2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80467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Sensors层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1430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 JUnit/Karate  |  Sonar扫描  |  ArchUnit架构检查  |  CI流水线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3657600" cy="274320"/>
          </a:xfrm>
          <a:prstGeom prst="rect">
            <a:avLst/>
          </a:prstGeom>
          <a:solidFill>
            <a:srgbClr val="3A2A0A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965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犯错 → 根因 → 添加约束/检查 → 永远不再犯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🏗️ </a:t>
            </a: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ArchUnit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架构守护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331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</a:t>
            </a: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Sonar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代码扫描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31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🧪 </a:t>
            </a: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Karate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接口测试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3317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🔄 </a:t>
            </a:r>
            <a:r>
              <a:rPr lang="en-US" sz="13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CI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自动流水线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63240"/>
            <a:ext cx="2011680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1" name="Text 19"/>
          <p:cNvSpPr/>
          <p:nvPr/>
        </p:nvSpPr>
        <p:spPr>
          <a:xfrm>
            <a:off x="365760" y="31729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41071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88个AGENTS.md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百万行零人工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063240"/>
            <a:ext cx="2011680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5" name="Text 23"/>
          <p:cNvSpPr/>
          <p:nvPr/>
        </p:nvSpPr>
        <p:spPr>
          <a:xfrm>
            <a:off x="2560320" y="31729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41071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52.8%→66.5%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63240"/>
            <a:ext cx="2011680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29" name="Text 27"/>
          <p:cNvSpPr/>
          <p:nvPr/>
        </p:nvSpPr>
        <p:spPr>
          <a:xfrm>
            <a:off x="4754880" y="31729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1071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生成评估分离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3063240"/>
            <a:ext cx="2011680" cy="54864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33" name="Text 31"/>
          <p:cNvSpPr/>
          <p:nvPr/>
        </p:nvSpPr>
        <p:spPr>
          <a:xfrm>
            <a:off x="6949440" y="31729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341071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约束优于提示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反馈循环·分层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自动化一切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solidFill>
            <a:srgbClr val="0D2240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从"人读规则"到"机器自动执行规则"——这才是完整的Harness闭环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73152" cy="320040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3" name="Text 1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4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工具链与实战技巧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可以立即带走的东西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200" dirty="0"/>
          </a:p>
        </p:txBody>
      </p:sp>
      <p:sp>
        <p:nvSpPr>
          <p:cNvPr id="3" name="TextBox 1"/>
          <p:cNvSpPr txBox="1"/>
          <p:nvPr/>
        </p:nvSpPr>
        <p:spPr>
          <a:xfrm>
            <a:off x="485975" y="270120"/>
            <a:ext cx="8172474" cy="39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1950"/>
              <a:t>Claude Code — AI 编程的终端工具</a:t>
            </a:r>
            <a:endParaRPr sz="1950"/>
          </a:p>
        </p:txBody>
      </p:sp>
      <p:sp>
        <p:nvSpPr>
          <p:cNvPr id="16" name="Rounded Rectangle 3"/>
          <p:cNvSpPr/>
          <p:nvPr/>
        </p:nvSpPr>
        <p:spPr>
          <a:xfrm>
            <a:off x="485975" y="864089"/>
            <a:ext cx="3779803" cy="1619916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4"/>
          <p:cNvSpPr txBox="1"/>
          <p:nvPr/>
        </p:nvSpPr>
        <p:spPr>
          <a:xfrm>
            <a:off x="566970" y="918086"/>
            <a:ext cx="3617812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 panose="020B0503020204020204" pitchFamily="34" charset="-122"/>
              </a:defRPr>
            </a:pPr>
            <a:r>
              <a:rPr sz="1050"/>
              <a:t>🖥️ 终端原生体验</a:t>
            </a:r>
            <a:endParaRPr sz="1050"/>
          </a:p>
        </p:txBody>
      </p:sp>
      <p:sp>
        <p:nvSpPr>
          <p:cNvPr id="22" name="TextBox 5"/>
          <p:cNvSpPr txBox="1"/>
          <p:nvPr/>
        </p:nvSpPr>
        <p:spPr>
          <a:xfrm>
            <a:off x="566970" y="1134075"/>
            <a:ext cx="361781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直接在终端工作，与项目代码零距离</a:t>
            </a:r>
            <a:endParaRPr sz="900"/>
          </a:p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无需切换窗口，所见即所得</a:t>
            </a:r>
            <a:endParaRPr sz="900"/>
          </a:p>
        </p:txBody>
      </p:sp>
      <p:sp>
        <p:nvSpPr>
          <p:cNvPr id="23" name="Rounded Rectangle 6"/>
          <p:cNvSpPr/>
          <p:nvPr/>
        </p:nvSpPr>
        <p:spPr>
          <a:xfrm>
            <a:off x="4878646" y="864089"/>
            <a:ext cx="3779803" cy="1619916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7"/>
          <p:cNvSpPr txBox="1"/>
          <p:nvPr/>
        </p:nvSpPr>
        <p:spPr>
          <a:xfrm>
            <a:off x="4959642" y="918086"/>
            <a:ext cx="3617812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 panose="020B0503020204020204" pitchFamily="34" charset="-122"/>
              </a:defRPr>
            </a:pPr>
            <a:r>
              <a:rPr sz="1050"/>
              <a:t>🔄 全流程闭环</a:t>
            </a:r>
            <a:endParaRPr sz="1050"/>
          </a:p>
        </p:txBody>
      </p:sp>
      <p:sp>
        <p:nvSpPr>
          <p:cNvPr id="25" name="TextBox 8"/>
          <p:cNvSpPr txBox="1"/>
          <p:nvPr/>
        </p:nvSpPr>
        <p:spPr>
          <a:xfrm>
            <a:off x="4959642" y="1134075"/>
            <a:ext cx="361781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支持读取、编辑、执行，一站式完成</a:t>
            </a:r>
            <a:endParaRPr sz="900"/>
          </a:p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从需求理解到代码落地全链路覆盖</a:t>
            </a:r>
            <a:endParaRPr sz="900"/>
          </a:p>
        </p:txBody>
      </p:sp>
      <p:sp>
        <p:nvSpPr>
          <p:cNvPr id="26" name="Rounded Rectangle 9"/>
          <p:cNvSpPr/>
          <p:nvPr/>
        </p:nvSpPr>
        <p:spPr>
          <a:xfrm>
            <a:off x="485975" y="2807987"/>
            <a:ext cx="3779803" cy="1619916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10"/>
          <p:cNvSpPr txBox="1"/>
          <p:nvPr/>
        </p:nvSpPr>
        <p:spPr>
          <a:xfrm>
            <a:off x="566970" y="2861984"/>
            <a:ext cx="3617812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 panose="020B0503020204020204" pitchFamily="34" charset="-122"/>
              </a:defRPr>
            </a:pPr>
            <a:r>
              <a:rPr sz="1050"/>
              <a:t>📋 项目上下文理解</a:t>
            </a:r>
            <a:endParaRPr sz="1050"/>
          </a:p>
        </p:txBody>
      </p:sp>
      <p:sp>
        <p:nvSpPr>
          <p:cNvPr id="28" name="TextBox 11"/>
          <p:cNvSpPr txBox="1"/>
          <p:nvPr/>
        </p:nvSpPr>
        <p:spPr>
          <a:xfrm>
            <a:off x="566970" y="3077973"/>
            <a:ext cx="361781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自动加载 CLAUDE.md 和 rules/</a:t>
            </a:r>
            <a:endParaRPr sz="900"/>
          </a:p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理解项目架构与编码约定</a:t>
            </a:r>
            <a:endParaRPr sz="900"/>
          </a:p>
        </p:txBody>
      </p:sp>
      <p:sp>
        <p:nvSpPr>
          <p:cNvPr id="29" name="Rounded Rectangle 12"/>
          <p:cNvSpPr/>
          <p:nvPr/>
        </p:nvSpPr>
        <p:spPr>
          <a:xfrm>
            <a:off x="4878646" y="2807987"/>
            <a:ext cx="3779803" cy="1619916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13"/>
          <p:cNvSpPr txBox="1"/>
          <p:nvPr/>
        </p:nvSpPr>
        <p:spPr>
          <a:xfrm>
            <a:off x="4959642" y="2861984"/>
            <a:ext cx="3617812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81F7"/>
                </a:solidFill>
                <a:latin typeface="微软雅黑" panose="020B0503020204020204" pitchFamily="34" charset="-122"/>
              </a:defRPr>
            </a:pPr>
            <a:r>
              <a:rPr sz="1050"/>
              <a:t>🚀 高级协作功能</a:t>
            </a:r>
            <a:endParaRPr sz="1050"/>
          </a:p>
        </p:txBody>
      </p:sp>
      <p:sp>
        <p:nvSpPr>
          <p:cNvPr id="31" name="TextBox 14"/>
          <p:cNvSpPr txBox="1"/>
          <p:nvPr/>
        </p:nvSpPr>
        <p:spPr>
          <a:xfrm>
            <a:off x="4959642" y="3077973"/>
            <a:ext cx="361781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Plan模式 / Worktree并行开发</a:t>
            </a:r>
            <a:endParaRPr sz="900"/>
          </a:p>
          <a:p>
            <a:pPr algn="l">
              <a:spcAft>
                <a:spcPts val="240"/>
              </a:spcAft>
              <a:defRPr sz="1200" b="0">
                <a:solidFill>
                  <a:srgbClr val="E6EDF3"/>
                </a:solidFill>
                <a:latin typeface="微软雅黑" panose="020B0503020204020204" pitchFamily="34" charset="-122"/>
              </a:defRPr>
            </a:pPr>
            <a:r>
              <a:rPr sz="900"/>
              <a:t>Agent Team 多智能体协作</a:t>
            </a:r>
            <a:endParaRPr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200" dirty="0"/>
          </a:p>
        </p:txBody>
      </p:sp>
      <p:graphicFrame>
        <p:nvGraphicFramePr>
          <p:cNvPr id="19" name="Table 6"/>
          <p:cNvGraphicFramePr>
            <a:graphicFrameLocks noGrp="1"/>
          </p:cNvGraphicFramePr>
          <p:nvPr/>
        </p:nvGraphicFramePr>
        <p:xfrm>
          <a:off x="411718" y="1097280"/>
          <a:ext cx="8298180" cy="166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</a:tblGrid>
              <a:tr h="37719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125"/>
                        <a:t>场景</a:t>
                      </a:r>
                      <a:endParaRPr sz="1125"/>
                    </a:p>
                  </a:txBody>
                  <a:tcPr marL="102870" marR="68580" marT="54864" marB="54864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125"/>
                        <a:t>工具组合</a:t>
                      </a:r>
                      <a:endParaRPr sz="1125"/>
                    </a:p>
                  </a:txBody>
                  <a:tcPr marL="102870" marR="68580" marT="54864" marB="54864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125"/>
                        <a:t>说明</a:t>
                      </a:r>
                      <a:endParaRPr sz="1125"/>
                    </a:p>
                  </a:txBody>
                  <a:tcPr marL="102870" marR="68580" marT="54864" marB="54864">
                    <a:solidFill>
                      <a:srgbClr val="006B8A"/>
                    </a:solidFill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日常开发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Claude Code + cc-switch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主力编码、模型切换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系统调研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Claude Code + Playwright MCP</a:t>
                      </a:r>
                      <a:endParaRPr sz="1050"/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+ Web Reader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浏览器自动化、自动截图</a:t>
                      </a:r>
                      <a:endParaRPr sz="1050"/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网页内容抓取、生成报告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0162C"/>
                    </a:solidFill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学习研究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Claude Code + Web Search</a:t>
                      </a:r>
                      <a:endParaRPr sz="1050"/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+ guided-learning-tutor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苏格拉底式引导学习</a:t>
                      </a:r>
                      <a:endParaRPr sz="1050"/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050"/>
                        <a:t>搜索资料、深度阅读</a:t>
                      </a:r>
                      <a:endParaRPr sz="1050"/>
                    </a:p>
                  </a:txBody>
                  <a:tcPr marL="102870" marR="68580" marT="54864" marB="54864">
                    <a:solidFill>
                      <a:srgbClr val="141C34"/>
                    </a:solidFill>
                  </a:tcPr>
                </a:tc>
              </a:tr>
            </a:tbl>
          </a:graphicData>
        </a:graphic>
      </p:graphicFrame>
      <p:sp>
        <p:nvSpPr>
          <p:cNvPr id="20" name="TextBox 3"/>
          <p:cNvSpPr txBox="1"/>
          <p:nvPr/>
        </p:nvSpPr>
        <p:spPr>
          <a:xfrm>
            <a:off x="411718" y="331470"/>
            <a:ext cx="8023860" cy="39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sz="1950"/>
              <a:t>工具组合矩阵</a:t>
            </a:r>
            <a:endParaRPr sz="19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cc-switch — Claude Code 配置切换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cc-switch</a:t>
            </a:r>
            <a:r>
              <a:rPr lang="en-US" sz="15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= 一键切换 Claude Code 的 </a:t>
            </a:r>
            <a:r>
              <a:rPr lang="en-US" sz="15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 / 权限 / 配置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0080" y="1783080"/>
            <a:ext cx="256032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40080" y="1783080"/>
            <a:ext cx="2560320" cy="36576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49808" y="189280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不同项目需要不同配置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49808" y="2212848"/>
            <a:ext cx="234086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Java项目需要编码规范约束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前端项目侧重组件约定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一键切换无需手动改配置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3337560" y="1783080"/>
            <a:ext cx="256032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337560" y="1783080"/>
            <a:ext cx="2560320" cy="36576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3447288" y="189280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复杂任务用强模型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简单任务用快模型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447288" y="2212848"/>
            <a:ext cx="234086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架构设计用最强模型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日常修改用快模型省钱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灵活匹配任务复杂度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6035040" y="1783080"/>
            <a:ext cx="256032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035040" y="1783080"/>
            <a:ext cx="2560320" cy="36576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144768" y="189280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团队成员共享配置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144768" y="2212848"/>
            <a:ext cx="2340864" cy="1764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统一模型和权限策略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新人无需自行配置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团队规范一键生效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协作模式选择矩阵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/>
        </p:nvGraphicFramePr>
        <p:xfrm>
          <a:off x="640080" y="960120"/>
          <a:ext cx="786384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场景类型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推荐模式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明确小任务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直接对话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给清楚需求，AI直接做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复杂功能开发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Plan模式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先让AI规划，确认后执行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多任务并行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Worktree+Agent Team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隔离开发，互不干扰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新领域探索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调研先行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先让AI帮你建认知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代码评审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只读模式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AI读代码，人做决策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1527048"/>
            <a:ext cx="164592" cy="164592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5" name="Shape 2"/>
          <p:cNvSpPr/>
          <p:nvPr/>
        </p:nvSpPr>
        <p:spPr>
          <a:xfrm>
            <a:off x="502920" y="2029968"/>
            <a:ext cx="164592" cy="164592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6" name="Shape 3"/>
          <p:cNvSpPr/>
          <p:nvPr/>
        </p:nvSpPr>
        <p:spPr>
          <a:xfrm>
            <a:off x="502920" y="2532888"/>
            <a:ext cx="164592" cy="164592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7" name="Shape 4"/>
          <p:cNvSpPr/>
          <p:nvPr/>
        </p:nvSpPr>
        <p:spPr>
          <a:xfrm>
            <a:off x="502920" y="3035808"/>
            <a:ext cx="164592" cy="164592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8" name="Shape 5"/>
          <p:cNvSpPr/>
          <p:nvPr/>
        </p:nvSpPr>
        <p:spPr>
          <a:xfrm>
            <a:off x="502920" y="3538728"/>
            <a:ext cx="164592" cy="164592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小步快跑，持续验证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65960" y="100584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5960" y="10058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143000"/>
            <a:ext cx="45720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100584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0058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143000"/>
            <a:ext cx="45720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100584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058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82512" y="1554480"/>
            <a:ext cx="228600" cy="320040"/>
          </a:xfrm>
          <a:prstGeom prst="down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874520"/>
            <a:ext cx="4059936" cy="36576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3" name="Shape 11"/>
          <p:cNvSpPr/>
          <p:nvPr/>
        </p:nvSpPr>
        <p:spPr>
          <a:xfrm>
            <a:off x="2542032" y="1600200"/>
            <a:ext cx="228600" cy="320040"/>
          </a:xfrm>
          <a:prstGeom prst="up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12848"/>
            <a:ext cx="109728" cy="109728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15" name="Text 13"/>
          <p:cNvSpPr/>
          <p:nvPr/>
        </p:nvSpPr>
        <p:spPr>
          <a:xfrm>
            <a:off x="960120" y="21031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AI生成快，错误也快，贪多更慢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624328"/>
            <a:ext cx="109728" cy="109728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7" name="Text 15"/>
          <p:cNvSpPr/>
          <p:nvPr/>
        </p:nvSpPr>
        <p:spPr>
          <a:xfrm>
            <a:off x="960120" y="251460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每完成模块就验证，不让错误堆积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035808"/>
            <a:ext cx="109728" cy="109728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9" name="Text 17"/>
          <p:cNvSpPr/>
          <p:nvPr/>
        </p:nvSpPr>
        <p:spPr>
          <a:xfrm>
            <a:off x="960120" y="29260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遇到问题再磨刀，不提前过度设计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04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教训：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aip-portal早期一次做大模块导致批量返工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先建立认知，再让AI干活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你的认知边界 = AI效率上限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749040" cy="2103120"/>
          </a:xfrm>
          <a:prstGeom prst="rect">
            <a:avLst/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3749040" cy="45720"/>
          </a:xfrm>
          <a:prstGeom prst="rect">
            <a:avLst/>
          </a:prstGeom>
          <a:solidFill>
            <a:srgbClr val="F85149"/>
          </a:solidFill>
        </p:spPr>
      </p:sp>
      <p:sp>
        <p:nvSpPr>
          <p:cNvPr id="7" name="Text 5"/>
          <p:cNvSpPr/>
          <p:nvPr/>
        </p:nvSpPr>
        <p:spPr>
          <a:xfrm>
            <a:off x="822960" y="20574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✘ </a:t>
            </a: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不了解领域直接干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A2A 项目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天 → </a:t>
            </a:r>
            <a:r>
              <a:rPr lang="en-US" sz="1500" b="1" dirty="0">
                <a:solidFill>
                  <a:srgbClr val="F851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141,026 行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全部废弃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3749040" cy="2103120"/>
          </a:xfrm>
          <a:prstGeom prst="rect">
            <a:avLst/>
          </a:prstGeom>
          <a:solidFill>
            <a:srgbClr val="0A2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3749040" cy="4572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1" name="Text 9"/>
          <p:cNvSpPr/>
          <p:nvPr/>
        </p:nvSpPr>
        <p:spPr>
          <a:xfrm>
            <a:off x="4800600" y="20574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</a:t>
            </a: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先调研2小时再编码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260604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SDK 项目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天 → </a:t>
            </a:r>
            <a:r>
              <a:rPr lang="en-US" sz="15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1,786 行</a:t>
            </a:r>
            <a:r>
              <a:rPr lang="en-US" sz="13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全部可用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新领域先让AI帮你调研梳理认知，再编码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从一个最小场景开始</a:t>
            </a:r>
            <a:r>
              <a:rPr lang="zh-CN" alt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</a:t>
            </a:r>
            <a:endParaRPr lang="zh-CN" altLang="en-US" sz="2400" b="1" dirty="0">
              <a:solidFill>
                <a:srgbClr val="2F81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560320" cy="2560320"/>
          </a:xfrm>
          <a:prstGeom prst="rect">
            <a:avLst/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2560320" cy="4572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5" name="Text 3"/>
          <p:cNvSpPr/>
          <p:nvPr/>
        </p:nvSpPr>
        <p:spPr>
          <a:xfrm>
            <a:off x="749808" y="118872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anose="020B0502040204020203" pitchFamily="34" charset="0"/>
                <a:ea typeface="Segoe UI Emoji" panose="020B0502040204020203" pitchFamily="34" charset="-122"/>
                <a:cs typeface="Segoe UI Emoji" panose="020B0502040204020203" pitchFamily="34" charset="-120"/>
              </a:rPr>
              <a:t>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169164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让AI写单元测试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234086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最低风险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AI只生成测试代码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不影响业务逻辑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560320" cy="2560320"/>
          </a:xfrm>
          <a:prstGeom prst="rect">
            <a:avLst/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05840"/>
            <a:ext cx="2560320" cy="4572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0" name="Text 8"/>
          <p:cNvSpPr/>
          <p:nvPr/>
        </p:nvSpPr>
        <p:spPr>
          <a:xfrm>
            <a:off x="3493008" y="118872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anose="020B0502040204020203" pitchFamily="34" charset="0"/>
                <a:ea typeface="Segoe UI Emoji" panose="020B0502040204020203" pitchFamily="34" charset="-122"/>
                <a:cs typeface="Segoe UI Emoji" panose="020B0502040204020203" pitchFamily="34" charset="-120"/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93008" y="169164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让AI做代码评审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240280"/>
            <a:ext cx="234086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只读模式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风险为零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还能学到新视角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2560320"/>
          </a:xfrm>
          <a:prstGeom prst="rect">
            <a:avLst/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5" name="Text 13"/>
          <p:cNvSpPr/>
          <p:nvPr/>
        </p:nvSpPr>
        <p:spPr>
          <a:xfrm>
            <a:off x="6236208" y="118872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anose="020B0502040204020203" pitchFamily="34" charset="0"/>
                <a:ea typeface="Segoe UI Emoji" panose="020B0502040204020203" pitchFamily="34" charset="-122"/>
                <a:cs typeface="Segoe UI Emoji" panose="020B0502040204020203" pitchFamily="34" charset="-120"/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让AI写CRUD接口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2240280"/>
            <a:ext cx="234086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快速体验效率提升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最常见的需求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模板化程度高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感受到效率提升后，自然扩大使用范围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进阶：搭建项目级 Harness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114300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5" name="Shape 3"/>
          <p:cNvSpPr/>
          <p:nvPr/>
        </p:nvSpPr>
        <p:spPr>
          <a:xfrm>
            <a:off x="868680" y="1417320"/>
            <a:ext cx="320040" cy="32004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6" name="Text 4"/>
          <p:cNvSpPr/>
          <p:nvPr/>
        </p:nvSpPr>
        <p:spPr>
          <a:xfrm>
            <a:off x="868680" y="1417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搭建 Harness 分层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CLAUDE.md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20-30行核心导航</a:t>
            </a:r>
            <a:r>
              <a:rPr lang="en-US" sz="1200" dirty="0">
                <a:solidFill>
                  <a:srgbClr val="3036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|  </a:t>
            </a: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rules/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架构约束</a:t>
            </a:r>
            <a:r>
              <a:rPr lang="en-US" sz="1200" dirty="0">
                <a:solidFill>
                  <a:srgbClr val="3036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|  </a:t>
            </a:r>
            <a:r>
              <a:rPr lang="en-US" sz="13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docs/</a:t>
            </a: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详细规范按需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114300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1" name="Shape 9"/>
          <p:cNvSpPr/>
          <p:nvPr/>
        </p:nvSpPr>
        <p:spPr>
          <a:xfrm>
            <a:off x="868680" y="2743200"/>
            <a:ext cx="320040" cy="320040"/>
          </a:xfrm>
          <a:prstGeom prst="rect">
            <a:avLst/>
          </a:prstGeom>
          <a:solidFill>
            <a:srgbClr val="3FB950"/>
          </a:solidFill>
        </p:spPr>
      </p:sp>
      <p:sp>
        <p:nvSpPr>
          <p:cNvPr id="12" name="Text 10"/>
          <p:cNvSpPr/>
          <p:nvPr/>
        </p:nvSpPr>
        <p:spPr>
          <a:xfrm>
            <a:off x="868680" y="27432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 Worktree 并行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2-4 个 worktree 同时推进不同功能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在各自分支独立工作，互不干扰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57600"/>
            <a:ext cx="54864" cy="1143000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7" name="Shape 15"/>
          <p:cNvSpPr/>
          <p:nvPr/>
        </p:nvSpPr>
        <p:spPr>
          <a:xfrm>
            <a:off x="868680" y="4069080"/>
            <a:ext cx="320040" cy="320040"/>
          </a:xfrm>
          <a:prstGeom prst="rect">
            <a:avLst/>
          </a:prstGeom>
          <a:solidFill>
            <a:srgbClr val="E3B341"/>
          </a:solidFill>
        </p:spPr>
      </p:sp>
      <p:sp>
        <p:nvSpPr>
          <p:cNvPr id="18" name="Text 16"/>
          <p:cNvSpPr/>
          <p:nvPr/>
        </p:nvSpPr>
        <p:spPr>
          <a:xfrm>
            <a:off x="868680" y="40690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建立复盘习惯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踩坑 → 补规范 → 定期精简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每次出问题后补一条 rule，每月清理冗余规则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8229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5" name="Shape 3"/>
          <p:cNvSpPr/>
          <p:nvPr/>
        </p:nvSpPr>
        <p:spPr>
          <a:xfrm>
            <a:off x="868680" y="1234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6" name="Text 4"/>
          <p:cNvSpPr/>
          <p:nvPr/>
        </p:nvSpPr>
        <p:spPr>
          <a:xfrm>
            <a:off x="86868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005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效率确定性不确定的是人的引导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8229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0" name="Shape 8"/>
          <p:cNvSpPr/>
          <p:nvPr/>
        </p:nvSpPr>
        <p:spPr>
          <a:xfrm>
            <a:off x="868680" y="219456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1" name="Text 9"/>
          <p:cNvSpPr/>
          <p:nvPr/>
        </p:nvSpPr>
        <p:spPr>
          <a:xfrm>
            <a:off x="868680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把最擅长的事交给AI，释放时间做更有价值的事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54864" cy="8229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5" name="Shape 13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16" name="Text 14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2608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SDD + Harness 系统化驾驭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86200"/>
            <a:ext cx="54864" cy="8229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0" name="Shape 18"/>
          <p:cNvSpPr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1" name="Text 19"/>
          <p:cNvSpPr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88620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1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从码农变成系统架构师——你画图纸，AI盖楼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solidFill>
            <a:srgbClr val="2F81F7"/>
          </a:solidFill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1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2F81F7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2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3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4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5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6.xml><?xml version="1.0" encoding="utf-8"?>
<p:tagLst xmlns:p="http://schemas.openxmlformats.org/presentationml/2006/main">
  <p:tag name="KSO_WM_DIAGRAM_VIRTUALLY_FRAME" val="{&quot;height&quot;:183.6,&quot;left&quot;:21.6,&quot;top&quot;:100.8,&quot;width&quot;:662.4}"/>
</p:tagLst>
</file>

<file path=ppt/tags/tag7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8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9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0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1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2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3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4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5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6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7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8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19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20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21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22.xml><?xml version="1.0" encoding="utf-8"?>
<p:tagLst xmlns:p="http://schemas.openxmlformats.org/presentationml/2006/main">
  <p:tag name="KSO_WM_DIAGRAM_VIRTUALLY_FRAME" val="{&quot;height&quot;:266.4,&quot;left&quot;:50.4,&quot;top&quot;:72,&quot;width&quot;:619.2}"/>
</p:tagLst>
</file>

<file path=ppt/tags/tag23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4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5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6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7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8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29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30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31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32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33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ags/tag34.xml><?xml version="1.0" encoding="utf-8"?>
<p:tagLst xmlns:p="http://schemas.openxmlformats.org/presentationml/2006/main">
  <p:tag name="KSO_WM_DIAGRAM_VIRTUALLY_FRAME" val="{&quot;height&quot;:180,&quot;left&quot;:50.4,&quot;top&quot;:140.4,&quot;width&quot;:62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8120</Words>
  <Application>WPS 演示</Application>
  <PresentationFormat>On-screen Show (16:9)</PresentationFormat>
  <Paragraphs>1197</Paragraphs>
  <Slides>54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等线</vt:lpstr>
      <vt:lpstr>Consolas</vt:lpstr>
      <vt:lpstr>Consolas</vt:lpstr>
      <vt:lpstr>Consolas</vt:lpstr>
      <vt:lpstr>Segoe UI Emoji</vt:lpstr>
      <vt:lpstr>Segoe UI Emoji</vt:lpstr>
      <vt:lpstr>Segoe UI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开发中的 AI 协作编程实践</dc:title>
  <dc:creator>eric</dc:creator>
  <dc:subject>PptxGenJS Presentation</dc:subject>
  <cp:lastModifiedBy>刘国栋</cp:lastModifiedBy>
  <cp:revision>32</cp:revision>
  <dcterms:created xsi:type="dcterms:W3CDTF">2026-04-15T08:44:00Z</dcterms:created>
  <dcterms:modified xsi:type="dcterms:W3CDTF">2026-04-15T10:55:27Z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B333E3322456434891B2A4400685D872_12</vt:lpwstr>
  </property>
</Properties>
</file>